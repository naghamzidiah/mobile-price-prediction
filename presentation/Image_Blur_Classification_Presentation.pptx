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6256000" cy="9144000"/>
  <p:notesSz cx="9144000" cy="16256000"/>
  <p:embeddedFontLst>
    <p:embeddedFont>
      <p:font typeface="MiSans" panose="020B0604020202020204" charset="-122"/>
      <p:regular r:id="rId15"/>
    </p:embeddedFont>
    <p:embeddedFont>
      <p:font typeface="Calibri" panose="020F0502020204030204" pitchFamily="34" charset="0"/>
      <p:regular r:id="rId16"/>
      <p:bold r:id="rId17"/>
    </p:embeddedFont>
    <p:embeddedFont>
      <p:font typeface="Liter" panose="020B0604020202020204" charset="0"/>
      <p:regular r:id="rId18"/>
    </p:embeddedFont>
    <p:embeddedFont>
      <p:font typeface="Microsoft YaHei" panose="020B0503020204020204" pitchFamily="34" charset="-122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49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12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6/17/2026</a:t>
            </a:fld>
            <a:endParaRPr lang="en-US"/>
          </a:p>
        </p:txBody>
      </p:sp>
      <p:sp>
        <p:nvSpPr>
          <p:cNvPr id="104912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912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2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13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0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0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0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900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90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1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91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6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3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Image 0" descr="https://kimi-web-img.moonshot.cn/img/images.presentationgo.com/e571232c06dfc03d533c300c9599ac5a728f4219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1048809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6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ar-SA" dirty="0"/>
          </a:p>
        </p:txBody>
      </p:sp>
      <p:sp>
        <p:nvSpPr>
          <p:cNvPr id="1048812" name="Text 3"/>
          <p:cNvSpPr/>
          <p:nvPr/>
        </p:nvSpPr>
        <p:spPr>
          <a:xfrm>
            <a:off x="508000" y="2309668"/>
            <a:ext cx="15621000" cy="285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Image Blur vs. Sharp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Classification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Using Traditional Neural Networks</a:t>
            </a:r>
            <a:endParaRPr lang="en-US" sz="1600" dirty="0"/>
          </a:p>
        </p:txBody>
      </p:sp>
      <p:sp>
        <p:nvSpPr>
          <p:cNvPr id="1048813" name="Text 4"/>
          <p:cNvSpPr/>
          <p:nvPr/>
        </p:nvSpPr>
        <p:spPr>
          <a:xfrm>
            <a:off x="508000" y="5471968"/>
            <a:ext cx="866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 Multi-Layer Perceptron Approach with Handcrafted Feature Extraction</a:t>
            </a:r>
            <a:endParaRPr lang="en-US" sz="1600" dirty="0"/>
          </a:p>
        </p:txBody>
      </p:sp>
      <p:sp>
        <p:nvSpPr>
          <p:cNvPr id="1048814" name="Shape 5"/>
          <p:cNvSpPr/>
          <p:nvPr/>
        </p:nvSpPr>
        <p:spPr>
          <a:xfrm>
            <a:off x="508000" y="6802582"/>
            <a:ext cx="15240000" cy="9236"/>
          </a:xfrm>
          <a:custGeom>
            <a:avLst/>
            <a:gdLst/>
            <a:ahLst/>
            <a:cxnLst/>
            <a:rect l="l" t="t" r="r" b="b"/>
            <a:pathLst>
              <a:path w="15240000" h="9236">
                <a:moveTo>
                  <a:pt x="0" y="0"/>
                </a:moveTo>
                <a:lnTo>
                  <a:pt x="15240000" y="0"/>
                </a:lnTo>
                <a:lnTo>
                  <a:pt x="15240000" y="9236"/>
                </a:lnTo>
                <a:lnTo>
                  <a:pt x="0" y="9236"/>
                </a:lnTo>
                <a:lnTo>
                  <a:pt x="0" y="0"/>
                </a:lnTo>
                <a:close/>
              </a:path>
            </a:pathLst>
          </a:custGeom>
          <a:solidFill>
            <a:srgbClr val="5E7C88">
              <a:alpha val="30196"/>
            </a:srgbClr>
          </a:solidFill>
        </p:spPr>
      </p:sp>
      <p:sp>
        <p:nvSpPr>
          <p:cNvPr id="1048815" name="Text 6"/>
          <p:cNvSpPr/>
          <p:nvPr/>
        </p:nvSpPr>
        <p:spPr>
          <a:xfrm>
            <a:off x="508000" y="7112000"/>
            <a:ext cx="4902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048816" name="Text 7"/>
          <p:cNvSpPr/>
          <p:nvPr/>
        </p:nvSpPr>
        <p:spPr>
          <a:xfrm>
            <a:off x="508000" y="7416800"/>
            <a:ext cx="4914900" cy="2770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Nagham Zidiah</a:t>
            </a:r>
            <a:endParaRPr lang="en-US" sz="1600" dirty="0"/>
          </a:p>
        </p:txBody>
      </p:sp>
      <p:sp>
        <p:nvSpPr>
          <p:cNvPr id="1048817" name="Text 8"/>
          <p:cNvSpPr/>
          <p:nvPr/>
        </p:nvSpPr>
        <p:spPr>
          <a:xfrm>
            <a:off x="508000" y="7721600"/>
            <a:ext cx="4902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220221787</a:t>
            </a:r>
            <a:endParaRPr lang="en-US" sz="1600" dirty="0"/>
          </a:p>
        </p:txBody>
      </p:sp>
      <p:sp>
        <p:nvSpPr>
          <p:cNvPr id="1048820" name="Text 11"/>
          <p:cNvSpPr/>
          <p:nvPr/>
        </p:nvSpPr>
        <p:spPr>
          <a:xfrm>
            <a:off x="5723443" y="7112000"/>
            <a:ext cx="4902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048821" name="Text 12"/>
          <p:cNvSpPr/>
          <p:nvPr/>
        </p:nvSpPr>
        <p:spPr>
          <a:xfrm>
            <a:off x="5723443" y="7416800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Dr. Mohamed Alsheakhali</a:t>
            </a:r>
            <a:endParaRPr lang="en-US" sz="1600" dirty="0"/>
          </a:p>
        </p:txBody>
      </p:sp>
      <p:sp>
        <p:nvSpPr>
          <p:cNvPr id="1048822" name="Text 13"/>
          <p:cNvSpPr/>
          <p:nvPr/>
        </p:nvSpPr>
        <p:spPr>
          <a:xfrm>
            <a:off x="10938886" y="7112000"/>
            <a:ext cx="4902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048823" name="Text 14"/>
          <p:cNvSpPr/>
          <p:nvPr/>
        </p:nvSpPr>
        <p:spPr>
          <a:xfrm>
            <a:off x="10989721" y="7721600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University College of</a:t>
            </a:r>
          </a:p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Applied Sciences</a:t>
            </a:r>
            <a:endParaRPr lang="en-US" sz="1600" dirty="0"/>
          </a:p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048824" name="Text 15"/>
          <p:cNvSpPr/>
          <p:nvPr/>
        </p:nvSpPr>
        <p:spPr>
          <a:xfrm>
            <a:off x="10938886" y="7721600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48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4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48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048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1048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79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250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91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913" tmFilter="0, 0; 0.125,0.2665; 0.25,0.4; 0.375,0.465; 0.5,0.5;  0.625,0.535; 0.75,0.6; 0.875,0.7335; 1,1">
                                          <p:stCondLst>
                                            <p:cond delay="913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56" tmFilter="0, 0; 0.125,0.2665; 0.25,0.4; 0.375,0.465; 0.5,0.5;  0.625,0.535; 0.75,0.6; 0.875,0.7335; 1,1">
                                          <p:stCondLst>
                                            <p:cond delay="1821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26" tmFilter="0, 0; 0.125,0.2665; 0.25,0.4; 0.375,0.465; 0.5,0.5;  0.625,0.535; 0.75,0.6; 0.875,0.7335; 1,1">
                                          <p:stCondLst>
                                            <p:cond delay="2277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36">
                                          <p:stCondLst>
                                            <p:cond delay="894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228" decel="50000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36">
                                          <p:stCondLst>
                                            <p:cond delay="1804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228" decel="50000">
                                          <p:stCondLst>
                                            <p:cond delay="184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36">
                                          <p:stCondLst>
                                            <p:cond delay="2258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22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36">
                                          <p:stCondLst>
                                            <p:cond delay="2486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228" decel="50000">
                                          <p:stCondLst>
                                            <p:cond delay="2522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79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250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91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913" tmFilter="0, 0; 0.125,0.2665; 0.25,0.4; 0.375,0.465; 0.5,0.5;  0.625,0.535; 0.75,0.6; 0.875,0.7335; 1,1">
                                          <p:stCondLst>
                                            <p:cond delay="913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456" tmFilter="0, 0; 0.125,0.2665; 0.25,0.4; 0.375,0.465; 0.5,0.5;  0.625,0.535; 0.75,0.6; 0.875,0.7335; 1,1">
                                          <p:stCondLst>
                                            <p:cond delay="1821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26" tmFilter="0, 0; 0.125,0.2665; 0.25,0.4; 0.375,0.465; 0.5,0.5;  0.625,0.535; 0.75,0.6; 0.875,0.7335; 1,1">
                                          <p:stCondLst>
                                            <p:cond delay="2277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36">
                                          <p:stCondLst>
                                            <p:cond delay="894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7" dur="228" decel="50000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36">
                                          <p:stCondLst>
                                            <p:cond delay="1804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9" dur="228" decel="50000">
                                          <p:stCondLst>
                                            <p:cond delay="1840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36">
                                          <p:stCondLst>
                                            <p:cond delay="2258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1" dur="22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36">
                                          <p:stCondLst>
                                            <p:cond delay="2486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3" dur="228" decel="50000">
                                          <p:stCondLst>
                                            <p:cond delay="2522"/>
                                          </p:stCondLst>
                                        </p:cTn>
                                        <p:tgtEl>
                                          <p:spTgt spid="10488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2" grpId="0"/>
      <p:bldP spid="1048813" grpId="0"/>
      <p:bldP spid="10488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Shape 0"/>
          <p:cNvSpPr/>
          <p:nvPr/>
        </p:nvSpPr>
        <p:spPr>
          <a:xfrm>
            <a:off x="508000" y="6096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29" name="Text 1"/>
          <p:cNvSpPr/>
          <p:nvPr/>
        </p:nvSpPr>
        <p:spPr>
          <a:xfrm>
            <a:off x="762000" y="508000"/>
            <a:ext cx="6883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1048830" name="Text 2"/>
          <p:cNvSpPr/>
          <p:nvPr/>
        </p:nvSpPr>
        <p:spPr>
          <a:xfrm>
            <a:off x="762000" y="1168400"/>
            <a:ext cx="6692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 comprehensive journey through our blur detection methodology</a:t>
            </a:r>
            <a:endParaRPr lang="en-US" sz="1600" dirty="0"/>
          </a:p>
        </p:txBody>
      </p:sp>
      <p:sp>
        <p:nvSpPr>
          <p:cNvPr id="1048831" name="Shape 3"/>
          <p:cNvSpPr/>
          <p:nvPr/>
        </p:nvSpPr>
        <p:spPr>
          <a:xfrm>
            <a:off x="512618" y="1935018"/>
            <a:ext cx="7464136" cy="1380836"/>
          </a:xfrm>
          <a:custGeom>
            <a:avLst/>
            <a:gdLst/>
            <a:ahLst/>
            <a:cxnLst/>
            <a:rect l="l" t="t" r="r" b="b"/>
            <a:pathLst>
              <a:path w="7464136" h="1380836">
                <a:moveTo>
                  <a:pt x="152403" y="0"/>
                </a:moveTo>
                <a:lnTo>
                  <a:pt x="7311733" y="0"/>
                </a:lnTo>
                <a:cubicBezTo>
                  <a:pt x="7395903" y="0"/>
                  <a:pt x="7464136" y="68233"/>
                  <a:pt x="7464136" y="152403"/>
                </a:cubicBezTo>
                <a:lnTo>
                  <a:pt x="7464136" y="1228433"/>
                </a:lnTo>
                <a:cubicBezTo>
                  <a:pt x="7464136" y="1312603"/>
                  <a:pt x="7395903" y="1380836"/>
                  <a:pt x="7311733" y="1380836"/>
                </a:cubicBezTo>
                <a:lnTo>
                  <a:pt x="152403" y="1380836"/>
                </a:lnTo>
                <a:cubicBezTo>
                  <a:pt x="68233" y="1380836"/>
                  <a:pt x="0" y="1312603"/>
                  <a:pt x="0" y="12284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048832" name="Shape 4"/>
          <p:cNvSpPr/>
          <p:nvPr/>
        </p:nvSpPr>
        <p:spPr>
          <a:xfrm>
            <a:off x="822036" y="224443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33" name="Text 5"/>
          <p:cNvSpPr/>
          <p:nvPr/>
        </p:nvSpPr>
        <p:spPr>
          <a:xfrm>
            <a:off x="758536" y="2244437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048834" name="Text 6"/>
          <p:cNvSpPr/>
          <p:nvPr/>
        </p:nvSpPr>
        <p:spPr>
          <a:xfrm>
            <a:off x="1634836" y="2244437"/>
            <a:ext cx="5308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048835" name="Text 7"/>
          <p:cNvSpPr/>
          <p:nvPr/>
        </p:nvSpPr>
        <p:spPr>
          <a:xfrm>
            <a:off x="1634836" y="2701637"/>
            <a:ext cx="528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Problem statement and project objectives in blur detection</a:t>
            </a:r>
            <a:endParaRPr lang="en-US" sz="1600" dirty="0"/>
          </a:p>
        </p:txBody>
      </p:sp>
      <p:sp>
        <p:nvSpPr>
          <p:cNvPr id="1048836" name="Shape 8"/>
          <p:cNvSpPr/>
          <p:nvPr/>
        </p:nvSpPr>
        <p:spPr>
          <a:xfrm>
            <a:off x="8285018" y="1935018"/>
            <a:ext cx="7464136" cy="1380836"/>
          </a:xfrm>
          <a:custGeom>
            <a:avLst/>
            <a:gdLst/>
            <a:ahLst/>
            <a:cxnLst/>
            <a:rect l="l" t="t" r="r" b="b"/>
            <a:pathLst>
              <a:path w="7464136" h="1380836">
                <a:moveTo>
                  <a:pt x="152403" y="0"/>
                </a:moveTo>
                <a:lnTo>
                  <a:pt x="7311733" y="0"/>
                </a:lnTo>
                <a:cubicBezTo>
                  <a:pt x="7395903" y="0"/>
                  <a:pt x="7464136" y="68233"/>
                  <a:pt x="7464136" y="152403"/>
                </a:cubicBezTo>
                <a:lnTo>
                  <a:pt x="7464136" y="1228433"/>
                </a:lnTo>
                <a:cubicBezTo>
                  <a:pt x="7464136" y="1312603"/>
                  <a:pt x="7395903" y="1380836"/>
                  <a:pt x="7311733" y="1380836"/>
                </a:cubicBezTo>
                <a:lnTo>
                  <a:pt x="152403" y="1380836"/>
                </a:lnTo>
                <a:cubicBezTo>
                  <a:pt x="68233" y="1380836"/>
                  <a:pt x="0" y="1312603"/>
                  <a:pt x="0" y="12284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048837" name="Shape 9"/>
          <p:cNvSpPr/>
          <p:nvPr/>
        </p:nvSpPr>
        <p:spPr>
          <a:xfrm>
            <a:off x="8594437" y="224443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38" name="Text 10"/>
          <p:cNvSpPr/>
          <p:nvPr/>
        </p:nvSpPr>
        <p:spPr>
          <a:xfrm>
            <a:off x="8530937" y="2244437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048839" name="Text 11"/>
          <p:cNvSpPr/>
          <p:nvPr/>
        </p:nvSpPr>
        <p:spPr>
          <a:xfrm>
            <a:off x="9407237" y="2244437"/>
            <a:ext cx="5613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Theoretical Background</a:t>
            </a:r>
            <a:endParaRPr lang="en-US" sz="1600" dirty="0"/>
          </a:p>
        </p:txBody>
      </p:sp>
      <p:sp>
        <p:nvSpPr>
          <p:cNvPr id="1048840" name="Text 12"/>
          <p:cNvSpPr/>
          <p:nvPr/>
        </p:nvSpPr>
        <p:spPr>
          <a:xfrm>
            <a:off x="9407237" y="2701637"/>
            <a:ext cx="558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Neural networks, MLP architecture, and optimization methods</a:t>
            </a:r>
            <a:endParaRPr lang="en-US" sz="1600" dirty="0"/>
          </a:p>
        </p:txBody>
      </p:sp>
      <p:sp>
        <p:nvSpPr>
          <p:cNvPr id="1048841" name="Shape 13"/>
          <p:cNvSpPr/>
          <p:nvPr/>
        </p:nvSpPr>
        <p:spPr>
          <a:xfrm>
            <a:off x="512618" y="3629891"/>
            <a:ext cx="7464136" cy="1380836"/>
          </a:xfrm>
          <a:custGeom>
            <a:avLst/>
            <a:gdLst/>
            <a:ahLst/>
            <a:cxnLst/>
            <a:rect l="l" t="t" r="r" b="b"/>
            <a:pathLst>
              <a:path w="7464136" h="1380836">
                <a:moveTo>
                  <a:pt x="152403" y="0"/>
                </a:moveTo>
                <a:lnTo>
                  <a:pt x="7311733" y="0"/>
                </a:lnTo>
                <a:cubicBezTo>
                  <a:pt x="7395903" y="0"/>
                  <a:pt x="7464136" y="68233"/>
                  <a:pt x="7464136" y="152403"/>
                </a:cubicBezTo>
                <a:lnTo>
                  <a:pt x="7464136" y="1228433"/>
                </a:lnTo>
                <a:cubicBezTo>
                  <a:pt x="7464136" y="1312603"/>
                  <a:pt x="7395903" y="1380836"/>
                  <a:pt x="7311733" y="1380836"/>
                </a:cubicBezTo>
                <a:lnTo>
                  <a:pt x="152403" y="1380836"/>
                </a:lnTo>
                <a:cubicBezTo>
                  <a:pt x="68233" y="1380836"/>
                  <a:pt x="0" y="1312603"/>
                  <a:pt x="0" y="12284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048842" name="Shape 14"/>
          <p:cNvSpPr/>
          <p:nvPr/>
        </p:nvSpPr>
        <p:spPr>
          <a:xfrm>
            <a:off x="822036" y="393931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43" name="Text 15"/>
          <p:cNvSpPr/>
          <p:nvPr/>
        </p:nvSpPr>
        <p:spPr>
          <a:xfrm>
            <a:off x="758536" y="3939310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048844" name="Text 16"/>
          <p:cNvSpPr/>
          <p:nvPr/>
        </p:nvSpPr>
        <p:spPr>
          <a:xfrm>
            <a:off x="1634836" y="3939310"/>
            <a:ext cx="6019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048845" name="Text 17"/>
          <p:cNvSpPr/>
          <p:nvPr/>
        </p:nvSpPr>
        <p:spPr>
          <a:xfrm>
            <a:off x="1634836" y="4396510"/>
            <a:ext cx="599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Dataset, preprocessing, feature extraction, and model architecture</a:t>
            </a:r>
            <a:endParaRPr lang="en-US" sz="1600" dirty="0"/>
          </a:p>
        </p:txBody>
      </p:sp>
      <p:sp>
        <p:nvSpPr>
          <p:cNvPr id="1048846" name="Shape 18"/>
          <p:cNvSpPr/>
          <p:nvPr/>
        </p:nvSpPr>
        <p:spPr>
          <a:xfrm>
            <a:off x="8285018" y="3629891"/>
            <a:ext cx="7464136" cy="1380836"/>
          </a:xfrm>
          <a:custGeom>
            <a:avLst/>
            <a:gdLst/>
            <a:ahLst/>
            <a:cxnLst/>
            <a:rect l="l" t="t" r="r" b="b"/>
            <a:pathLst>
              <a:path w="7464136" h="1380836">
                <a:moveTo>
                  <a:pt x="152403" y="0"/>
                </a:moveTo>
                <a:lnTo>
                  <a:pt x="7311733" y="0"/>
                </a:lnTo>
                <a:cubicBezTo>
                  <a:pt x="7395903" y="0"/>
                  <a:pt x="7464136" y="68233"/>
                  <a:pt x="7464136" y="152403"/>
                </a:cubicBezTo>
                <a:lnTo>
                  <a:pt x="7464136" y="1228433"/>
                </a:lnTo>
                <a:cubicBezTo>
                  <a:pt x="7464136" y="1312603"/>
                  <a:pt x="7395903" y="1380836"/>
                  <a:pt x="7311733" y="1380836"/>
                </a:cubicBezTo>
                <a:lnTo>
                  <a:pt x="152403" y="1380836"/>
                </a:lnTo>
                <a:cubicBezTo>
                  <a:pt x="68233" y="1380836"/>
                  <a:pt x="0" y="1312603"/>
                  <a:pt x="0" y="12284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048847" name="Shape 19"/>
          <p:cNvSpPr/>
          <p:nvPr/>
        </p:nvSpPr>
        <p:spPr>
          <a:xfrm>
            <a:off x="8594437" y="393931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48" name="Text 20"/>
          <p:cNvSpPr/>
          <p:nvPr/>
        </p:nvSpPr>
        <p:spPr>
          <a:xfrm>
            <a:off x="8530937" y="3939310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1048849" name="Text 21"/>
          <p:cNvSpPr/>
          <p:nvPr/>
        </p:nvSpPr>
        <p:spPr>
          <a:xfrm>
            <a:off x="9407237" y="3939310"/>
            <a:ext cx="5118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Experiments &amp; Results</a:t>
            </a:r>
            <a:endParaRPr lang="en-US" sz="1600" dirty="0"/>
          </a:p>
        </p:txBody>
      </p:sp>
      <p:sp>
        <p:nvSpPr>
          <p:cNvPr id="1048850" name="Text 22"/>
          <p:cNvSpPr/>
          <p:nvPr/>
        </p:nvSpPr>
        <p:spPr>
          <a:xfrm>
            <a:off x="9407237" y="4396510"/>
            <a:ext cx="5092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metrics and optimizer comparison analysis</a:t>
            </a:r>
            <a:endParaRPr lang="en-US" sz="1600" dirty="0"/>
          </a:p>
        </p:txBody>
      </p:sp>
      <p:sp>
        <p:nvSpPr>
          <p:cNvPr id="1048851" name="Shape 23"/>
          <p:cNvSpPr/>
          <p:nvPr/>
        </p:nvSpPr>
        <p:spPr>
          <a:xfrm>
            <a:off x="512618" y="5324765"/>
            <a:ext cx="7464136" cy="1380836"/>
          </a:xfrm>
          <a:custGeom>
            <a:avLst/>
            <a:gdLst/>
            <a:ahLst/>
            <a:cxnLst/>
            <a:rect l="l" t="t" r="r" b="b"/>
            <a:pathLst>
              <a:path w="7464136" h="1380836">
                <a:moveTo>
                  <a:pt x="152403" y="0"/>
                </a:moveTo>
                <a:lnTo>
                  <a:pt x="7311733" y="0"/>
                </a:lnTo>
                <a:cubicBezTo>
                  <a:pt x="7395903" y="0"/>
                  <a:pt x="7464136" y="68233"/>
                  <a:pt x="7464136" y="152403"/>
                </a:cubicBezTo>
                <a:lnTo>
                  <a:pt x="7464136" y="1228433"/>
                </a:lnTo>
                <a:cubicBezTo>
                  <a:pt x="7464136" y="1312603"/>
                  <a:pt x="7395903" y="1380836"/>
                  <a:pt x="7311733" y="1380836"/>
                </a:cubicBezTo>
                <a:lnTo>
                  <a:pt x="152403" y="1380836"/>
                </a:lnTo>
                <a:cubicBezTo>
                  <a:pt x="68233" y="1380836"/>
                  <a:pt x="0" y="1312603"/>
                  <a:pt x="0" y="12284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048852" name="Shape 24"/>
          <p:cNvSpPr/>
          <p:nvPr/>
        </p:nvSpPr>
        <p:spPr>
          <a:xfrm>
            <a:off x="822036" y="563418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53" name="Text 25"/>
          <p:cNvSpPr/>
          <p:nvPr/>
        </p:nvSpPr>
        <p:spPr>
          <a:xfrm>
            <a:off x="758536" y="5634182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1048854" name="Text 26"/>
          <p:cNvSpPr/>
          <p:nvPr/>
        </p:nvSpPr>
        <p:spPr>
          <a:xfrm>
            <a:off x="1634836" y="5634182"/>
            <a:ext cx="485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1048855" name="Text 27"/>
          <p:cNvSpPr/>
          <p:nvPr/>
        </p:nvSpPr>
        <p:spPr>
          <a:xfrm>
            <a:off x="1634836" y="6091382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of results, error sources, and model behavior</a:t>
            </a:r>
            <a:endParaRPr lang="en-US" sz="1600" dirty="0"/>
          </a:p>
        </p:txBody>
      </p:sp>
      <p:sp>
        <p:nvSpPr>
          <p:cNvPr id="1048856" name="Shape 28"/>
          <p:cNvSpPr/>
          <p:nvPr/>
        </p:nvSpPr>
        <p:spPr>
          <a:xfrm>
            <a:off x="8285018" y="5324765"/>
            <a:ext cx="7464136" cy="1380836"/>
          </a:xfrm>
          <a:custGeom>
            <a:avLst/>
            <a:gdLst/>
            <a:ahLst/>
            <a:cxnLst/>
            <a:rect l="l" t="t" r="r" b="b"/>
            <a:pathLst>
              <a:path w="7464136" h="1380836">
                <a:moveTo>
                  <a:pt x="152403" y="0"/>
                </a:moveTo>
                <a:lnTo>
                  <a:pt x="7311733" y="0"/>
                </a:lnTo>
                <a:cubicBezTo>
                  <a:pt x="7395903" y="0"/>
                  <a:pt x="7464136" y="68233"/>
                  <a:pt x="7464136" y="152403"/>
                </a:cubicBezTo>
                <a:lnTo>
                  <a:pt x="7464136" y="1228433"/>
                </a:lnTo>
                <a:cubicBezTo>
                  <a:pt x="7464136" y="1312603"/>
                  <a:pt x="7395903" y="1380836"/>
                  <a:pt x="7311733" y="1380836"/>
                </a:cubicBezTo>
                <a:lnTo>
                  <a:pt x="152403" y="1380836"/>
                </a:lnTo>
                <a:cubicBezTo>
                  <a:pt x="68233" y="1380836"/>
                  <a:pt x="0" y="1312603"/>
                  <a:pt x="0" y="12284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048857" name="Shape 29"/>
          <p:cNvSpPr/>
          <p:nvPr/>
        </p:nvSpPr>
        <p:spPr>
          <a:xfrm>
            <a:off x="8594437" y="563418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58" name="Text 30"/>
          <p:cNvSpPr/>
          <p:nvPr/>
        </p:nvSpPr>
        <p:spPr>
          <a:xfrm>
            <a:off x="8530937" y="5634182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600" dirty="0"/>
          </a:p>
        </p:txBody>
      </p:sp>
      <p:sp>
        <p:nvSpPr>
          <p:cNvPr id="1048859" name="Text 31"/>
          <p:cNvSpPr/>
          <p:nvPr/>
        </p:nvSpPr>
        <p:spPr>
          <a:xfrm>
            <a:off x="9407237" y="5634182"/>
            <a:ext cx="3708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48860" name="Text 32"/>
          <p:cNvSpPr/>
          <p:nvPr/>
        </p:nvSpPr>
        <p:spPr>
          <a:xfrm>
            <a:off x="9407237" y="6091382"/>
            <a:ext cx="3683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Summary of findings and key takeaways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4" name="Shape 0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65" name="Text 1"/>
          <p:cNvSpPr/>
          <p:nvPr/>
        </p:nvSpPr>
        <p:spPr>
          <a:xfrm>
            <a:off x="762000" y="508000"/>
            <a:ext cx="5930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 / Introduction</a:t>
            </a:r>
            <a:endParaRPr lang="en-US" sz="1600" dirty="0"/>
          </a:p>
        </p:txBody>
      </p:sp>
      <p:sp>
        <p:nvSpPr>
          <p:cNvPr id="1048866" name="Text 2"/>
          <p:cNvSpPr/>
          <p:nvPr/>
        </p:nvSpPr>
        <p:spPr>
          <a:xfrm>
            <a:off x="762000" y="812800"/>
            <a:ext cx="6070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Blur Detection Challenge</a:t>
            </a:r>
            <a:endParaRPr lang="en-US" sz="1600" dirty="0"/>
          </a:p>
        </p:txBody>
      </p:sp>
      <p:sp>
        <p:nvSpPr>
          <p:cNvPr id="1048867" name="Shape 3"/>
          <p:cNvSpPr/>
          <p:nvPr/>
        </p:nvSpPr>
        <p:spPr>
          <a:xfrm>
            <a:off x="533400" y="1625600"/>
            <a:ext cx="8991600" cy="2006600"/>
          </a:xfrm>
          <a:custGeom>
            <a:avLst/>
            <a:gdLst/>
            <a:ahLst/>
            <a:cxnLst/>
            <a:rect l="l" t="t" r="r" b="b"/>
            <a:pathLst>
              <a:path w="8991600" h="2006600">
                <a:moveTo>
                  <a:pt x="0" y="0"/>
                </a:moveTo>
                <a:lnTo>
                  <a:pt x="8890006" y="0"/>
                </a:lnTo>
                <a:cubicBezTo>
                  <a:pt x="8946115" y="0"/>
                  <a:pt x="8991600" y="45485"/>
                  <a:pt x="8991600" y="101594"/>
                </a:cubicBezTo>
                <a:lnTo>
                  <a:pt x="8991600" y="1905006"/>
                </a:lnTo>
                <a:cubicBezTo>
                  <a:pt x="8991600" y="1961115"/>
                  <a:pt x="8946115" y="2006600"/>
                  <a:pt x="8890006" y="2006600"/>
                </a:cubicBez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</p:spPr>
      </p:sp>
      <p:sp>
        <p:nvSpPr>
          <p:cNvPr id="1048868" name="Shape 4"/>
          <p:cNvSpPr/>
          <p:nvPr/>
        </p:nvSpPr>
        <p:spPr>
          <a:xfrm>
            <a:off x="533400" y="1625600"/>
            <a:ext cx="50800" cy="2006600"/>
          </a:xfrm>
          <a:custGeom>
            <a:avLst/>
            <a:gdLst/>
            <a:ahLst/>
            <a:cxnLst/>
            <a:rect l="l" t="t" r="r" b="b"/>
            <a:pathLst>
              <a:path w="50800" h="2006600">
                <a:moveTo>
                  <a:pt x="0" y="0"/>
                </a:moveTo>
                <a:lnTo>
                  <a:pt x="50800" y="0"/>
                </a:lnTo>
                <a:lnTo>
                  <a:pt x="50800" y="2006600"/>
                </a:ln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69" name="Shape 5"/>
          <p:cNvSpPr/>
          <p:nvPr/>
        </p:nvSpPr>
        <p:spPr>
          <a:xfrm>
            <a:off x="844550" y="1930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70" name="Text 6"/>
          <p:cNvSpPr/>
          <p:nvPr/>
        </p:nvSpPr>
        <p:spPr>
          <a:xfrm>
            <a:off x="1130300" y="1879600"/>
            <a:ext cx="8267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48871" name="Text 7"/>
          <p:cNvSpPr/>
          <p:nvPr/>
        </p:nvSpPr>
        <p:spPr>
          <a:xfrm>
            <a:off x="812800" y="2387600"/>
            <a:ext cx="85598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Detecting blur in images is a critical problem in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computer vision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especially for systems that assess and enhance image quality. Images may become blurred due to </a:t>
            </a:r>
            <a:r>
              <a:rPr lang="en-US" sz="1600" b="1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motion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or </a:t>
            </a:r>
            <a:r>
              <a:rPr lang="en-US" sz="1600" b="1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focus issues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which reduces edge clarity and fine details.</a:t>
            </a:r>
            <a:endParaRPr lang="en-US" sz="1600" dirty="0"/>
          </a:p>
        </p:txBody>
      </p:sp>
      <p:sp>
        <p:nvSpPr>
          <p:cNvPr id="1048872" name="Shape 8"/>
          <p:cNvSpPr/>
          <p:nvPr/>
        </p:nvSpPr>
        <p:spPr>
          <a:xfrm>
            <a:off x="533400" y="3835400"/>
            <a:ext cx="8991600" cy="2006600"/>
          </a:xfrm>
          <a:custGeom>
            <a:avLst/>
            <a:gdLst/>
            <a:ahLst/>
            <a:cxnLst/>
            <a:rect l="l" t="t" r="r" b="b"/>
            <a:pathLst>
              <a:path w="8991600" h="2006600">
                <a:moveTo>
                  <a:pt x="0" y="0"/>
                </a:moveTo>
                <a:lnTo>
                  <a:pt x="8890006" y="0"/>
                </a:lnTo>
                <a:cubicBezTo>
                  <a:pt x="8946115" y="0"/>
                  <a:pt x="8991600" y="45485"/>
                  <a:pt x="8991600" y="101594"/>
                </a:cubicBezTo>
                <a:lnTo>
                  <a:pt x="8991600" y="1905006"/>
                </a:lnTo>
                <a:cubicBezTo>
                  <a:pt x="8991600" y="1961115"/>
                  <a:pt x="8946115" y="2006600"/>
                  <a:pt x="8890006" y="2006600"/>
                </a:cubicBez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</p:spPr>
      </p:sp>
      <p:sp>
        <p:nvSpPr>
          <p:cNvPr id="1048873" name="Shape 9"/>
          <p:cNvSpPr/>
          <p:nvPr/>
        </p:nvSpPr>
        <p:spPr>
          <a:xfrm>
            <a:off x="533400" y="3835400"/>
            <a:ext cx="50800" cy="2006600"/>
          </a:xfrm>
          <a:custGeom>
            <a:avLst/>
            <a:gdLst/>
            <a:ahLst/>
            <a:cxnLst/>
            <a:rect l="l" t="t" r="r" b="b"/>
            <a:pathLst>
              <a:path w="50800" h="2006600">
                <a:moveTo>
                  <a:pt x="0" y="0"/>
                </a:moveTo>
                <a:lnTo>
                  <a:pt x="50800" y="0"/>
                </a:lnTo>
                <a:lnTo>
                  <a:pt x="50800" y="2006600"/>
                </a:ln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874" name="Shape 10"/>
          <p:cNvSpPr/>
          <p:nvPr/>
        </p:nvSpPr>
        <p:spPr>
          <a:xfrm>
            <a:off x="844550" y="4140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875" name="Text 11"/>
          <p:cNvSpPr/>
          <p:nvPr/>
        </p:nvSpPr>
        <p:spPr>
          <a:xfrm>
            <a:off x="1130300" y="4089400"/>
            <a:ext cx="8267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1048876" name="Text 12"/>
          <p:cNvSpPr/>
          <p:nvPr/>
        </p:nvSpPr>
        <p:spPr>
          <a:xfrm>
            <a:off x="812800" y="4597400"/>
            <a:ext cx="85598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Design a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neural network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to classify images into </a:t>
            </a:r>
            <a:r>
              <a:rPr lang="en-US" sz="1600" b="1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and </a:t>
            </a:r>
            <a:r>
              <a:rPr lang="en-US" sz="1600" b="1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blurred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categories. Instead of using raw pixel values, we extract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meaningful handcrafted features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such as edge strength, gradient magnitude, contrast, and high-frequency energy.</a:t>
            </a:r>
            <a:endParaRPr lang="en-US" sz="1600" dirty="0"/>
          </a:p>
        </p:txBody>
      </p:sp>
      <p:sp>
        <p:nvSpPr>
          <p:cNvPr id="1048877" name="Shape 13"/>
          <p:cNvSpPr/>
          <p:nvPr/>
        </p:nvSpPr>
        <p:spPr>
          <a:xfrm>
            <a:off x="533400" y="6045200"/>
            <a:ext cx="8991600" cy="2006600"/>
          </a:xfrm>
          <a:custGeom>
            <a:avLst/>
            <a:gdLst/>
            <a:ahLst/>
            <a:cxnLst/>
            <a:rect l="l" t="t" r="r" b="b"/>
            <a:pathLst>
              <a:path w="8991600" h="2006600">
                <a:moveTo>
                  <a:pt x="0" y="0"/>
                </a:moveTo>
                <a:lnTo>
                  <a:pt x="8890006" y="0"/>
                </a:lnTo>
                <a:cubicBezTo>
                  <a:pt x="8946115" y="0"/>
                  <a:pt x="8991600" y="45485"/>
                  <a:pt x="8991600" y="101594"/>
                </a:cubicBezTo>
                <a:lnTo>
                  <a:pt x="8991600" y="1905006"/>
                </a:lnTo>
                <a:cubicBezTo>
                  <a:pt x="8991600" y="1961115"/>
                  <a:pt x="8946115" y="2006600"/>
                  <a:pt x="8890006" y="2006600"/>
                </a:cubicBez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</p:spPr>
      </p:sp>
      <p:sp>
        <p:nvSpPr>
          <p:cNvPr id="1048878" name="Shape 14"/>
          <p:cNvSpPr/>
          <p:nvPr/>
        </p:nvSpPr>
        <p:spPr>
          <a:xfrm>
            <a:off x="533400" y="6045200"/>
            <a:ext cx="50800" cy="2006600"/>
          </a:xfrm>
          <a:custGeom>
            <a:avLst/>
            <a:gdLst/>
            <a:ahLst/>
            <a:cxnLst/>
            <a:rect l="l" t="t" r="r" b="b"/>
            <a:pathLst>
              <a:path w="50800" h="2006600">
                <a:moveTo>
                  <a:pt x="0" y="0"/>
                </a:moveTo>
                <a:lnTo>
                  <a:pt x="50800" y="0"/>
                </a:lnTo>
                <a:lnTo>
                  <a:pt x="50800" y="2006600"/>
                </a:ln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879" name="Shape 15"/>
          <p:cNvSpPr/>
          <p:nvPr/>
        </p:nvSpPr>
        <p:spPr>
          <a:xfrm>
            <a:off x="844550" y="635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880" name="Text 16"/>
          <p:cNvSpPr/>
          <p:nvPr/>
        </p:nvSpPr>
        <p:spPr>
          <a:xfrm>
            <a:off x="1130300" y="6299200"/>
            <a:ext cx="8267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Goal</a:t>
            </a:r>
            <a:endParaRPr lang="en-US" sz="1600" dirty="0"/>
          </a:p>
        </p:txBody>
      </p:sp>
      <p:sp>
        <p:nvSpPr>
          <p:cNvPr id="1048881" name="Text 17"/>
          <p:cNvSpPr/>
          <p:nvPr/>
        </p:nvSpPr>
        <p:spPr>
          <a:xfrm>
            <a:off x="812800" y="6807200"/>
            <a:ext cx="85598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Evaluate how effectively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neural networks combined with handcrafted features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can classify blurred images, providing insights into the synergy between traditional image processing and machine learning.</a:t>
            </a:r>
            <a:endParaRPr lang="en-US" sz="1600" dirty="0"/>
          </a:p>
        </p:txBody>
      </p:sp>
      <p:sp>
        <p:nvSpPr>
          <p:cNvPr id="1048882" name="Shape 18"/>
          <p:cNvSpPr/>
          <p:nvPr/>
        </p:nvSpPr>
        <p:spPr>
          <a:xfrm>
            <a:off x="9839470" y="1630218"/>
            <a:ext cx="5902036" cy="6422736"/>
          </a:xfrm>
          <a:custGeom>
            <a:avLst/>
            <a:gdLst/>
            <a:ahLst/>
            <a:cxnLst/>
            <a:rect l="l" t="t" r="r" b="b"/>
            <a:pathLst>
              <a:path w="5902036" h="6422736">
                <a:moveTo>
                  <a:pt x="152391" y="0"/>
                </a:moveTo>
                <a:lnTo>
                  <a:pt x="5749646" y="0"/>
                </a:lnTo>
                <a:cubicBezTo>
                  <a:pt x="5833809" y="0"/>
                  <a:pt x="5902036" y="68228"/>
                  <a:pt x="5902036" y="152391"/>
                </a:cubicBezTo>
                <a:lnTo>
                  <a:pt x="5902036" y="6270346"/>
                </a:lnTo>
                <a:cubicBezTo>
                  <a:pt x="5902036" y="6354509"/>
                  <a:pt x="5833809" y="6422736"/>
                  <a:pt x="5749646" y="6422736"/>
                </a:cubicBezTo>
                <a:lnTo>
                  <a:pt x="152391" y="6422736"/>
                </a:lnTo>
                <a:cubicBezTo>
                  <a:pt x="68228" y="6422736"/>
                  <a:pt x="0" y="6354509"/>
                  <a:pt x="0" y="6270346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883" name="Text 19"/>
          <p:cNvSpPr/>
          <p:nvPr/>
        </p:nvSpPr>
        <p:spPr>
          <a:xfrm>
            <a:off x="10034588" y="1888837"/>
            <a:ext cx="5511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Types of Image Blur</a:t>
            </a:r>
            <a:endParaRPr lang="en-US" sz="1600" dirty="0"/>
          </a:p>
        </p:txBody>
      </p:sp>
      <p:sp>
        <p:nvSpPr>
          <p:cNvPr id="1048884" name="Shape 20"/>
          <p:cNvSpPr/>
          <p:nvPr/>
        </p:nvSpPr>
        <p:spPr>
          <a:xfrm>
            <a:off x="10102706" y="2452255"/>
            <a:ext cx="5381336" cy="1533236"/>
          </a:xfrm>
          <a:custGeom>
            <a:avLst/>
            <a:gdLst/>
            <a:ahLst/>
            <a:cxnLst/>
            <a:rect l="l" t="t" r="r" b="b"/>
            <a:pathLst>
              <a:path w="5381336" h="1533236">
                <a:moveTo>
                  <a:pt x="101608" y="0"/>
                </a:moveTo>
                <a:lnTo>
                  <a:pt x="5279729" y="0"/>
                </a:lnTo>
                <a:cubicBezTo>
                  <a:pt x="5335845" y="0"/>
                  <a:pt x="5381336" y="45491"/>
                  <a:pt x="5381336" y="101608"/>
                </a:cubicBezTo>
                <a:lnTo>
                  <a:pt x="5381336" y="1431629"/>
                </a:lnTo>
                <a:cubicBezTo>
                  <a:pt x="5381336" y="1487745"/>
                  <a:pt x="5335845" y="1533236"/>
                  <a:pt x="5279729" y="1533236"/>
                </a:cubicBezTo>
                <a:lnTo>
                  <a:pt x="101608" y="1533236"/>
                </a:lnTo>
                <a:cubicBezTo>
                  <a:pt x="45491" y="1533236"/>
                  <a:pt x="0" y="1487745"/>
                  <a:pt x="0" y="1431629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885" name="Shape 21"/>
          <p:cNvSpPr/>
          <p:nvPr/>
        </p:nvSpPr>
        <p:spPr>
          <a:xfrm>
            <a:off x="10310524" y="266007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886" name="Shape 22"/>
          <p:cNvSpPr/>
          <p:nvPr/>
        </p:nvSpPr>
        <p:spPr>
          <a:xfrm>
            <a:off x="10467687" y="279977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523" y="-14287"/>
                </a:moveTo>
                <a:cubicBezTo>
                  <a:pt x="128323" y="-14287"/>
                  <a:pt x="139526" y="-3084"/>
                  <a:pt x="139526" y="10716"/>
                </a:cubicBezTo>
                <a:cubicBezTo>
                  <a:pt x="139526" y="24515"/>
                  <a:pt x="128323" y="35719"/>
                  <a:pt x="114523" y="35719"/>
                </a:cubicBezTo>
                <a:cubicBezTo>
                  <a:pt x="100724" y="35719"/>
                  <a:pt x="89520" y="24515"/>
                  <a:pt x="89520" y="10716"/>
                </a:cubicBezTo>
                <a:cubicBezTo>
                  <a:pt x="89520" y="-3084"/>
                  <a:pt x="100724" y="-14287"/>
                  <a:pt x="114523" y="-14287"/>
                </a:cubicBezTo>
                <a:close/>
                <a:moveTo>
                  <a:pt x="55185" y="78581"/>
                </a:moveTo>
                <a:cubicBezTo>
                  <a:pt x="53712" y="78581"/>
                  <a:pt x="52417" y="79474"/>
                  <a:pt x="51881" y="80814"/>
                </a:cubicBezTo>
                <a:lnTo>
                  <a:pt x="42059" y="105326"/>
                </a:lnTo>
                <a:cubicBezTo>
                  <a:pt x="39112" y="112648"/>
                  <a:pt x="30807" y="116220"/>
                  <a:pt x="23485" y="113273"/>
                </a:cubicBezTo>
                <a:cubicBezTo>
                  <a:pt x="16163" y="110326"/>
                  <a:pt x="12591" y="102022"/>
                  <a:pt x="15538" y="94699"/>
                </a:cubicBezTo>
                <a:lnTo>
                  <a:pt x="25316" y="70187"/>
                </a:lnTo>
                <a:cubicBezTo>
                  <a:pt x="30227" y="57998"/>
                  <a:pt x="42014" y="50006"/>
                  <a:pt x="55185" y="50006"/>
                </a:cubicBezTo>
                <a:lnTo>
                  <a:pt x="98628" y="50006"/>
                </a:lnTo>
                <a:cubicBezTo>
                  <a:pt x="111353" y="50006"/>
                  <a:pt x="123096" y="56748"/>
                  <a:pt x="129480" y="67732"/>
                </a:cubicBezTo>
                <a:lnTo>
                  <a:pt x="144125" y="92869"/>
                </a:lnTo>
                <a:lnTo>
                  <a:pt x="171629" y="92869"/>
                </a:lnTo>
                <a:cubicBezTo>
                  <a:pt x="179531" y="92869"/>
                  <a:pt x="185916" y="99253"/>
                  <a:pt x="185916" y="107156"/>
                </a:cubicBezTo>
                <a:cubicBezTo>
                  <a:pt x="185916" y="115059"/>
                  <a:pt x="179531" y="121444"/>
                  <a:pt x="171629" y="121444"/>
                </a:cubicBezTo>
                <a:lnTo>
                  <a:pt x="144125" y="121444"/>
                </a:lnTo>
                <a:cubicBezTo>
                  <a:pt x="133945" y="121444"/>
                  <a:pt x="124569" y="116041"/>
                  <a:pt x="119435" y="107246"/>
                </a:cubicBezTo>
                <a:lnTo>
                  <a:pt x="114970" y="99611"/>
                </a:lnTo>
                <a:lnTo>
                  <a:pt x="105728" y="131043"/>
                </a:lnTo>
                <a:lnTo>
                  <a:pt x="139392" y="141134"/>
                </a:lnTo>
                <a:cubicBezTo>
                  <a:pt x="151760" y="144840"/>
                  <a:pt x="158055" y="158547"/>
                  <a:pt x="152832" y="170378"/>
                </a:cubicBezTo>
                <a:lnTo>
                  <a:pt x="127561" y="227261"/>
                </a:lnTo>
                <a:cubicBezTo>
                  <a:pt x="124346" y="234494"/>
                  <a:pt x="115907" y="237708"/>
                  <a:pt x="108719" y="234494"/>
                </a:cubicBezTo>
                <a:cubicBezTo>
                  <a:pt x="101531" y="231279"/>
                  <a:pt x="98271" y="222840"/>
                  <a:pt x="101486" y="215652"/>
                </a:cubicBezTo>
                <a:lnTo>
                  <a:pt x="123453" y="166181"/>
                </a:lnTo>
                <a:lnTo>
                  <a:pt x="80635" y="153323"/>
                </a:lnTo>
                <a:cubicBezTo>
                  <a:pt x="66035" y="148947"/>
                  <a:pt x="57418" y="133811"/>
                  <a:pt x="61124" y="119033"/>
                </a:cubicBezTo>
                <a:lnTo>
                  <a:pt x="71259" y="78581"/>
                </a:lnTo>
                <a:lnTo>
                  <a:pt x="55230" y="78581"/>
                </a:lnTo>
                <a:close/>
                <a:moveTo>
                  <a:pt x="51614" y="159395"/>
                </a:moveTo>
                <a:cubicBezTo>
                  <a:pt x="57552" y="166048"/>
                  <a:pt x="65321" y="171137"/>
                  <a:pt x="74474" y="173861"/>
                </a:cubicBezTo>
                <a:lnTo>
                  <a:pt x="76572" y="174486"/>
                </a:lnTo>
                <a:lnTo>
                  <a:pt x="73491" y="183103"/>
                </a:lnTo>
                <a:cubicBezTo>
                  <a:pt x="70902" y="190381"/>
                  <a:pt x="66348" y="196855"/>
                  <a:pt x="60409" y="201766"/>
                </a:cubicBezTo>
                <a:lnTo>
                  <a:pt x="23619" y="232083"/>
                </a:lnTo>
                <a:cubicBezTo>
                  <a:pt x="17547" y="237083"/>
                  <a:pt x="8528" y="236235"/>
                  <a:pt x="3527" y="230163"/>
                </a:cubicBezTo>
                <a:cubicBezTo>
                  <a:pt x="-1473" y="224091"/>
                  <a:pt x="-625" y="215072"/>
                  <a:pt x="5447" y="210071"/>
                </a:cubicBezTo>
                <a:lnTo>
                  <a:pt x="42237" y="179755"/>
                </a:lnTo>
                <a:cubicBezTo>
                  <a:pt x="44247" y="178103"/>
                  <a:pt x="45720" y="175959"/>
                  <a:pt x="46613" y="173548"/>
                </a:cubicBezTo>
                <a:lnTo>
                  <a:pt x="51614" y="159395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87" name="Text 23"/>
          <p:cNvSpPr/>
          <p:nvPr/>
        </p:nvSpPr>
        <p:spPr>
          <a:xfrm>
            <a:off x="10970924" y="2736273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Motion Blur</a:t>
            </a:r>
            <a:endParaRPr lang="en-US" sz="1600" dirty="0"/>
          </a:p>
        </p:txBody>
      </p:sp>
      <p:sp>
        <p:nvSpPr>
          <p:cNvPr id="1048888" name="Text 24"/>
          <p:cNvSpPr/>
          <p:nvPr/>
        </p:nvSpPr>
        <p:spPr>
          <a:xfrm>
            <a:off x="10310524" y="3269673"/>
            <a:ext cx="5054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Caused by camera or object movement during exposure, creating streaking effects along the motion direction.</a:t>
            </a:r>
            <a:endParaRPr lang="en-US" sz="1600" dirty="0"/>
          </a:p>
        </p:txBody>
      </p:sp>
      <p:sp>
        <p:nvSpPr>
          <p:cNvPr id="1048889" name="Shape 25"/>
          <p:cNvSpPr/>
          <p:nvPr/>
        </p:nvSpPr>
        <p:spPr>
          <a:xfrm>
            <a:off x="10102706" y="4197928"/>
            <a:ext cx="5381336" cy="1533236"/>
          </a:xfrm>
          <a:custGeom>
            <a:avLst/>
            <a:gdLst/>
            <a:ahLst/>
            <a:cxnLst/>
            <a:rect l="l" t="t" r="r" b="b"/>
            <a:pathLst>
              <a:path w="5381336" h="1533236">
                <a:moveTo>
                  <a:pt x="101608" y="0"/>
                </a:moveTo>
                <a:lnTo>
                  <a:pt x="5279729" y="0"/>
                </a:lnTo>
                <a:cubicBezTo>
                  <a:pt x="5335845" y="0"/>
                  <a:pt x="5381336" y="45491"/>
                  <a:pt x="5381336" y="101608"/>
                </a:cubicBezTo>
                <a:lnTo>
                  <a:pt x="5381336" y="1431629"/>
                </a:lnTo>
                <a:cubicBezTo>
                  <a:pt x="5381336" y="1487745"/>
                  <a:pt x="5335845" y="1533236"/>
                  <a:pt x="5279729" y="1533236"/>
                </a:cubicBezTo>
                <a:lnTo>
                  <a:pt x="101608" y="1533236"/>
                </a:lnTo>
                <a:cubicBezTo>
                  <a:pt x="45491" y="1533236"/>
                  <a:pt x="0" y="1487745"/>
                  <a:pt x="0" y="1431629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890" name="Shape 26"/>
          <p:cNvSpPr/>
          <p:nvPr/>
        </p:nvSpPr>
        <p:spPr>
          <a:xfrm>
            <a:off x="10310524" y="440574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891" name="Shape 27"/>
          <p:cNvSpPr/>
          <p:nvPr/>
        </p:nvSpPr>
        <p:spPr>
          <a:xfrm>
            <a:off x="10439112" y="454544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892" name="Text 28"/>
          <p:cNvSpPr/>
          <p:nvPr/>
        </p:nvSpPr>
        <p:spPr>
          <a:xfrm>
            <a:off x="10970924" y="4481947"/>
            <a:ext cx="1409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Defocus Blur</a:t>
            </a:r>
            <a:endParaRPr lang="en-US" sz="1600" dirty="0"/>
          </a:p>
        </p:txBody>
      </p:sp>
      <p:sp>
        <p:nvSpPr>
          <p:cNvPr id="1048893" name="Text 29"/>
          <p:cNvSpPr/>
          <p:nvPr/>
        </p:nvSpPr>
        <p:spPr>
          <a:xfrm>
            <a:off x="10310524" y="5015347"/>
            <a:ext cx="5054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Results from incorrect focus, causing uniform blurring across the entire image with loss of fine details.</a:t>
            </a:r>
            <a:endParaRPr lang="en-US" sz="1600" dirty="0"/>
          </a:p>
        </p:txBody>
      </p:sp>
      <p:sp>
        <p:nvSpPr>
          <p:cNvPr id="1048894" name="Shape 30"/>
          <p:cNvSpPr/>
          <p:nvPr/>
        </p:nvSpPr>
        <p:spPr>
          <a:xfrm>
            <a:off x="10102706" y="5943601"/>
            <a:ext cx="5381336" cy="1533236"/>
          </a:xfrm>
          <a:custGeom>
            <a:avLst/>
            <a:gdLst/>
            <a:ahLst/>
            <a:cxnLst/>
            <a:rect l="l" t="t" r="r" b="b"/>
            <a:pathLst>
              <a:path w="5381336" h="1533236">
                <a:moveTo>
                  <a:pt x="101608" y="0"/>
                </a:moveTo>
                <a:lnTo>
                  <a:pt x="5279729" y="0"/>
                </a:lnTo>
                <a:cubicBezTo>
                  <a:pt x="5335845" y="0"/>
                  <a:pt x="5381336" y="45491"/>
                  <a:pt x="5381336" y="101608"/>
                </a:cubicBezTo>
                <a:lnTo>
                  <a:pt x="5381336" y="1431629"/>
                </a:lnTo>
                <a:cubicBezTo>
                  <a:pt x="5381336" y="1487745"/>
                  <a:pt x="5335845" y="1533236"/>
                  <a:pt x="5279729" y="1533236"/>
                </a:cubicBezTo>
                <a:lnTo>
                  <a:pt x="101608" y="1533236"/>
                </a:lnTo>
                <a:cubicBezTo>
                  <a:pt x="45491" y="1533236"/>
                  <a:pt x="0" y="1487745"/>
                  <a:pt x="0" y="1431629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8895" name="Shape 31"/>
          <p:cNvSpPr/>
          <p:nvPr/>
        </p:nvSpPr>
        <p:spPr>
          <a:xfrm>
            <a:off x="10310524" y="615141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896" name="Shape 32"/>
          <p:cNvSpPr/>
          <p:nvPr/>
        </p:nvSpPr>
        <p:spPr>
          <a:xfrm>
            <a:off x="10453399" y="62911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97" name="Text 33"/>
          <p:cNvSpPr/>
          <p:nvPr/>
        </p:nvSpPr>
        <p:spPr>
          <a:xfrm>
            <a:off x="10970924" y="6227618"/>
            <a:ext cx="1384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 Image</a:t>
            </a:r>
            <a:endParaRPr lang="en-US" sz="1600" dirty="0"/>
          </a:p>
        </p:txBody>
      </p:sp>
      <p:sp>
        <p:nvSpPr>
          <p:cNvPr id="1048898" name="Text 34"/>
          <p:cNvSpPr/>
          <p:nvPr/>
        </p:nvSpPr>
        <p:spPr>
          <a:xfrm>
            <a:off x="10310524" y="6761020"/>
            <a:ext cx="5054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Clear, well-focused image with distinct edges and preserved fine details throughout.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Shape 0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903" name="Text 1"/>
          <p:cNvSpPr/>
          <p:nvPr/>
        </p:nvSpPr>
        <p:spPr>
          <a:xfrm>
            <a:off x="762000" y="508000"/>
            <a:ext cx="5829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/ Theoretical Background</a:t>
            </a:r>
            <a:endParaRPr lang="en-US" sz="1600" dirty="0"/>
          </a:p>
        </p:txBody>
      </p:sp>
      <p:sp>
        <p:nvSpPr>
          <p:cNvPr id="1048904" name="Text 2"/>
          <p:cNvSpPr/>
          <p:nvPr/>
        </p:nvSpPr>
        <p:spPr>
          <a:xfrm>
            <a:off x="762000" y="812800"/>
            <a:ext cx="5969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Neural Network Foundations</a:t>
            </a:r>
            <a:endParaRPr lang="en-US" sz="1600" dirty="0"/>
          </a:p>
        </p:txBody>
      </p:sp>
      <p:sp>
        <p:nvSpPr>
          <p:cNvPr id="1048905" name="Shape 3"/>
          <p:cNvSpPr/>
          <p:nvPr/>
        </p:nvSpPr>
        <p:spPr>
          <a:xfrm>
            <a:off x="512618" y="1630218"/>
            <a:ext cx="7489536" cy="3247736"/>
          </a:xfrm>
          <a:custGeom>
            <a:avLst/>
            <a:gdLst/>
            <a:ahLst/>
            <a:cxnLst/>
            <a:rect l="l" t="t" r="r" b="b"/>
            <a:pathLst>
              <a:path w="7489536" h="3247736">
                <a:moveTo>
                  <a:pt x="152384" y="0"/>
                </a:moveTo>
                <a:lnTo>
                  <a:pt x="7337153" y="0"/>
                </a:lnTo>
                <a:cubicBezTo>
                  <a:pt x="7421312" y="0"/>
                  <a:pt x="7489536" y="68225"/>
                  <a:pt x="7489536" y="152384"/>
                </a:cubicBezTo>
                <a:lnTo>
                  <a:pt x="7489536" y="3095353"/>
                </a:lnTo>
                <a:cubicBezTo>
                  <a:pt x="7489536" y="3179512"/>
                  <a:pt x="7421312" y="3247736"/>
                  <a:pt x="7337153" y="3247736"/>
                </a:cubicBezTo>
                <a:lnTo>
                  <a:pt x="152384" y="3247736"/>
                </a:lnTo>
                <a:cubicBezTo>
                  <a:pt x="68225" y="3247736"/>
                  <a:pt x="0" y="3179512"/>
                  <a:pt x="0" y="3095353"/>
                </a:cubicBezTo>
                <a:lnTo>
                  <a:pt x="0" y="152384"/>
                </a:lnTo>
                <a:cubicBezTo>
                  <a:pt x="0" y="68225"/>
                  <a:pt x="68225" y="0"/>
                  <a:pt x="152384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906" name="Shape 4"/>
          <p:cNvSpPr/>
          <p:nvPr/>
        </p:nvSpPr>
        <p:spPr>
          <a:xfrm>
            <a:off x="771236" y="188883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907" name="Shape 5"/>
          <p:cNvSpPr/>
          <p:nvPr/>
        </p:nvSpPr>
        <p:spPr>
          <a:xfrm>
            <a:off x="923636" y="204123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908" name="Text 6"/>
          <p:cNvSpPr/>
          <p:nvPr/>
        </p:nvSpPr>
        <p:spPr>
          <a:xfrm>
            <a:off x="1533236" y="2015837"/>
            <a:ext cx="298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Artificial Neural Networks</a:t>
            </a:r>
            <a:endParaRPr lang="en-US" sz="1600" dirty="0"/>
          </a:p>
        </p:txBody>
      </p:sp>
      <p:sp>
        <p:nvSpPr>
          <p:cNvPr id="1048909" name="Text 7"/>
          <p:cNvSpPr/>
          <p:nvPr/>
        </p:nvSpPr>
        <p:spPr>
          <a:xfrm>
            <a:off x="771236" y="2650837"/>
            <a:ext cx="70739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ANNs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are computational models inspired by the human brain's information processing. They consist of </a:t>
            </a:r>
            <a:r>
              <a:rPr lang="en-US" sz="1600" b="1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layers of connected neurons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where each neuron receives inputs, applies weights, and produces an output.</a:t>
            </a:r>
            <a:endParaRPr lang="en-US" sz="1600" dirty="0"/>
          </a:p>
        </p:txBody>
      </p:sp>
      <p:sp>
        <p:nvSpPr>
          <p:cNvPr id="1048910" name="Shape 8"/>
          <p:cNvSpPr/>
          <p:nvPr/>
        </p:nvSpPr>
        <p:spPr>
          <a:xfrm>
            <a:off x="775855" y="3798455"/>
            <a:ext cx="6956136" cy="822036"/>
          </a:xfrm>
          <a:custGeom>
            <a:avLst/>
            <a:gdLst/>
            <a:ahLst/>
            <a:cxnLst/>
            <a:rect l="l" t="t" r="r" b="b"/>
            <a:pathLst>
              <a:path w="6956136" h="822036">
                <a:moveTo>
                  <a:pt x="101604" y="0"/>
                </a:moveTo>
                <a:lnTo>
                  <a:pt x="6854533" y="0"/>
                </a:lnTo>
                <a:cubicBezTo>
                  <a:pt x="6910647" y="0"/>
                  <a:pt x="6956136" y="45490"/>
                  <a:pt x="6956136" y="101604"/>
                </a:cubicBezTo>
                <a:lnTo>
                  <a:pt x="6956136" y="720433"/>
                </a:lnTo>
                <a:cubicBezTo>
                  <a:pt x="6956136" y="776547"/>
                  <a:pt x="6910647" y="822036"/>
                  <a:pt x="6854533" y="822036"/>
                </a:cubicBezTo>
                <a:lnTo>
                  <a:pt x="101604" y="822036"/>
                </a:lnTo>
                <a:cubicBezTo>
                  <a:pt x="45527" y="822036"/>
                  <a:pt x="0" y="776509"/>
                  <a:pt x="0" y="720433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911" name="Shape 9"/>
          <p:cNvSpPr/>
          <p:nvPr/>
        </p:nvSpPr>
        <p:spPr>
          <a:xfrm>
            <a:off x="980498" y="399242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01714" y="133350"/>
                </a:moveTo>
                <a:cubicBezTo>
                  <a:pt x="104249" y="125606"/>
                  <a:pt x="109319" y="118591"/>
                  <a:pt x="115049" y="112549"/>
                </a:cubicBezTo>
                <a:cubicBezTo>
                  <a:pt x="126405" y="100603"/>
                  <a:pt x="133350" y="84455"/>
                  <a:pt x="133350" y="66675"/>
                </a:cubicBezTo>
                <a:cubicBezTo>
                  <a:pt x="133350" y="29865"/>
                  <a:pt x="103485" y="0"/>
                  <a:pt x="66675" y="0"/>
                </a:cubicBezTo>
                <a:cubicBezTo>
                  <a:pt x="29865" y="0"/>
                  <a:pt x="0" y="29865"/>
                  <a:pt x="0" y="66675"/>
                </a:cubicBezTo>
                <a:cubicBezTo>
                  <a:pt x="0" y="84455"/>
                  <a:pt x="6945" y="100603"/>
                  <a:pt x="18301" y="112549"/>
                </a:cubicBezTo>
                <a:cubicBezTo>
                  <a:pt x="24031" y="118591"/>
                  <a:pt x="29136" y="125606"/>
                  <a:pt x="31636" y="133350"/>
                </a:cubicBezTo>
                <a:lnTo>
                  <a:pt x="101679" y="133350"/>
                </a:lnTo>
                <a:close/>
                <a:moveTo>
                  <a:pt x="100013" y="150019"/>
                </a:moveTo>
                <a:lnTo>
                  <a:pt x="33337" y="150019"/>
                </a:lnTo>
                <a:lnTo>
                  <a:pt x="33337" y="155575"/>
                </a:lnTo>
                <a:cubicBezTo>
                  <a:pt x="33337" y="170924"/>
                  <a:pt x="45770" y="183356"/>
                  <a:pt x="61119" y="183356"/>
                </a:cubicBezTo>
                <a:lnTo>
                  <a:pt x="72231" y="183356"/>
                </a:lnTo>
                <a:cubicBezTo>
                  <a:pt x="87580" y="183356"/>
                  <a:pt x="100013" y="170924"/>
                  <a:pt x="100013" y="155575"/>
                </a:cubicBezTo>
                <a:lnTo>
                  <a:pt x="100013" y="150019"/>
                </a:lnTo>
                <a:close/>
                <a:moveTo>
                  <a:pt x="63897" y="38894"/>
                </a:moveTo>
                <a:cubicBezTo>
                  <a:pt x="50076" y="38894"/>
                  <a:pt x="38894" y="50076"/>
                  <a:pt x="38894" y="63897"/>
                </a:cubicBezTo>
                <a:cubicBezTo>
                  <a:pt x="38894" y="68516"/>
                  <a:pt x="35178" y="72231"/>
                  <a:pt x="30559" y="72231"/>
                </a:cubicBezTo>
                <a:cubicBezTo>
                  <a:pt x="25941" y="72231"/>
                  <a:pt x="22225" y="68516"/>
                  <a:pt x="22225" y="63897"/>
                </a:cubicBezTo>
                <a:cubicBezTo>
                  <a:pt x="22225" y="40873"/>
                  <a:pt x="40873" y="22225"/>
                  <a:pt x="63897" y="22225"/>
                </a:cubicBezTo>
                <a:cubicBezTo>
                  <a:pt x="68516" y="22225"/>
                  <a:pt x="72231" y="25941"/>
                  <a:pt x="72231" y="30559"/>
                </a:cubicBezTo>
                <a:cubicBezTo>
                  <a:pt x="72231" y="35178"/>
                  <a:pt x="68516" y="38894"/>
                  <a:pt x="63897" y="38894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912" name="Text 10"/>
          <p:cNvSpPr/>
          <p:nvPr/>
        </p:nvSpPr>
        <p:spPr>
          <a:xfrm>
            <a:off x="1263073" y="3955473"/>
            <a:ext cx="6400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Neural networks learn patterns from data through training, making them ideal for classification tasks.</a:t>
            </a:r>
            <a:endParaRPr lang="en-US" sz="1600" dirty="0"/>
          </a:p>
        </p:txBody>
      </p:sp>
      <p:sp>
        <p:nvSpPr>
          <p:cNvPr id="1048913" name="Shape 11"/>
          <p:cNvSpPr/>
          <p:nvPr/>
        </p:nvSpPr>
        <p:spPr>
          <a:xfrm>
            <a:off x="512618" y="5096165"/>
            <a:ext cx="7489536" cy="3196936"/>
          </a:xfrm>
          <a:custGeom>
            <a:avLst/>
            <a:gdLst/>
            <a:ahLst/>
            <a:cxnLst/>
            <a:rect l="l" t="t" r="r" b="b"/>
            <a:pathLst>
              <a:path w="7489536" h="3196936">
                <a:moveTo>
                  <a:pt x="152398" y="0"/>
                </a:moveTo>
                <a:lnTo>
                  <a:pt x="7337138" y="0"/>
                </a:lnTo>
                <a:cubicBezTo>
                  <a:pt x="7421305" y="0"/>
                  <a:pt x="7489536" y="68231"/>
                  <a:pt x="7489536" y="152398"/>
                </a:cubicBezTo>
                <a:lnTo>
                  <a:pt x="7489536" y="3044538"/>
                </a:lnTo>
                <a:cubicBezTo>
                  <a:pt x="7489536" y="3128705"/>
                  <a:pt x="7421305" y="3196936"/>
                  <a:pt x="7337138" y="3196936"/>
                </a:cubicBezTo>
                <a:lnTo>
                  <a:pt x="152398" y="3196936"/>
                </a:lnTo>
                <a:cubicBezTo>
                  <a:pt x="68231" y="3196936"/>
                  <a:pt x="0" y="3128705"/>
                  <a:pt x="0" y="3044538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914" name="Shape 12"/>
          <p:cNvSpPr/>
          <p:nvPr/>
        </p:nvSpPr>
        <p:spPr>
          <a:xfrm>
            <a:off x="771236" y="535478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915" name="Shape 13"/>
          <p:cNvSpPr/>
          <p:nvPr/>
        </p:nvSpPr>
        <p:spPr>
          <a:xfrm>
            <a:off x="923636" y="55071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916" name="Text 14"/>
          <p:cNvSpPr/>
          <p:nvPr/>
        </p:nvSpPr>
        <p:spPr>
          <a:xfrm>
            <a:off x="1533236" y="5481783"/>
            <a:ext cx="3492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Multi-Layer Perceptron (MLP)</a:t>
            </a:r>
            <a:endParaRPr lang="en-US" sz="1600" dirty="0"/>
          </a:p>
        </p:txBody>
      </p:sp>
      <p:sp>
        <p:nvSpPr>
          <p:cNvPr id="1048917" name="Text 15"/>
          <p:cNvSpPr/>
          <p:nvPr/>
        </p:nvSpPr>
        <p:spPr>
          <a:xfrm>
            <a:off x="771236" y="6116783"/>
            <a:ext cx="70739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MLP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is a feedforward neural network with an </a:t>
            </a:r>
            <a:r>
              <a:rPr lang="en-US" sz="1600" b="1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 layer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one or more </a:t>
            </a:r>
            <a:r>
              <a:rPr lang="en-US" sz="1600" b="1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hidden layers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and an </a:t>
            </a:r>
            <a:r>
              <a:rPr lang="en-US" sz="1600" b="1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output layer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Each neuron applies a weighted sum followed by an activation function.</a:t>
            </a:r>
            <a:endParaRPr lang="en-US" sz="1600" dirty="0"/>
          </a:p>
        </p:txBody>
      </p:sp>
      <p:sp>
        <p:nvSpPr>
          <p:cNvPr id="1048918" name="Shape 16"/>
          <p:cNvSpPr/>
          <p:nvPr/>
        </p:nvSpPr>
        <p:spPr>
          <a:xfrm>
            <a:off x="775855" y="7264401"/>
            <a:ext cx="2244436" cy="771236"/>
          </a:xfrm>
          <a:custGeom>
            <a:avLst/>
            <a:gdLst/>
            <a:ahLst/>
            <a:cxnLst/>
            <a:rect l="l" t="t" r="r" b="b"/>
            <a:pathLst>
              <a:path w="2244436" h="771236">
                <a:moveTo>
                  <a:pt x="50801" y="0"/>
                </a:moveTo>
                <a:lnTo>
                  <a:pt x="2193635" y="0"/>
                </a:lnTo>
                <a:cubicBezTo>
                  <a:pt x="2221692" y="0"/>
                  <a:pt x="2244436" y="22745"/>
                  <a:pt x="2244436" y="50801"/>
                </a:cubicBezTo>
                <a:lnTo>
                  <a:pt x="2244436" y="720435"/>
                </a:lnTo>
                <a:cubicBezTo>
                  <a:pt x="2244436" y="748492"/>
                  <a:pt x="2221692" y="771236"/>
                  <a:pt x="2193635" y="771236"/>
                </a:cubicBezTo>
                <a:lnTo>
                  <a:pt x="50801" y="771236"/>
                </a:lnTo>
                <a:cubicBezTo>
                  <a:pt x="22745" y="771236"/>
                  <a:pt x="0" y="748492"/>
                  <a:pt x="0" y="720435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919" name="Text 17"/>
          <p:cNvSpPr/>
          <p:nvPr/>
        </p:nvSpPr>
        <p:spPr>
          <a:xfrm>
            <a:off x="824923" y="7370620"/>
            <a:ext cx="214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</a:t>
            </a:r>
            <a:endParaRPr lang="en-US" sz="1600" dirty="0"/>
          </a:p>
        </p:txBody>
      </p:sp>
      <p:sp>
        <p:nvSpPr>
          <p:cNvPr id="1048920" name="Text 18"/>
          <p:cNvSpPr/>
          <p:nvPr/>
        </p:nvSpPr>
        <p:spPr>
          <a:xfrm>
            <a:off x="843973" y="7726220"/>
            <a:ext cx="2108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048921" name="Shape 19"/>
          <p:cNvSpPr/>
          <p:nvPr/>
        </p:nvSpPr>
        <p:spPr>
          <a:xfrm>
            <a:off x="3131849" y="7264401"/>
            <a:ext cx="2244436" cy="771236"/>
          </a:xfrm>
          <a:custGeom>
            <a:avLst/>
            <a:gdLst/>
            <a:ahLst/>
            <a:cxnLst/>
            <a:rect l="l" t="t" r="r" b="b"/>
            <a:pathLst>
              <a:path w="2244436" h="771236">
                <a:moveTo>
                  <a:pt x="50801" y="0"/>
                </a:moveTo>
                <a:lnTo>
                  <a:pt x="2193635" y="0"/>
                </a:lnTo>
                <a:cubicBezTo>
                  <a:pt x="2221692" y="0"/>
                  <a:pt x="2244436" y="22745"/>
                  <a:pt x="2244436" y="50801"/>
                </a:cubicBezTo>
                <a:lnTo>
                  <a:pt x="2244436" y="720435"/>
                </a:lnTo>
                <a:cubicBezTo>
                  <a:pt x="2244436" y="748492"/>
                  <a:pt x="2221692" y="771236"/>
                  <a:pt x="2193635" y="771236"/>
                </a:cubicBezTo>
                <a:lnTo>
                  <a:pt x="50801" y="771236"/>
                </a:lnTo>
                <a:cubicBezTo>
                  <a:pt x="22745" y="771236"/>
                  <a:pt x="0" y="748492"/>
                  <a:pt x="0" y="720435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922" name="Text 20"/>
          <p:cNvSpPr/>
          <p:nvPr/>
        </p:nvSpPr>
        <p:spPr>
          <a:xfrm>
            <a:off x="3180917" y="7370620"/>
            <a:ext cx="214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Hidden</a:t>
            </a:r>
            <a:endParaRPr lang="en-US" sz="1600" dirty="0"/>
          </a:p>
        </p:txBody>
      </p:sp>
      <p:sp>
        <p:nvSpPr>
          <p:cNvPr id="1048923" name="Text 21"/>
          <p:cNvSpPr/>
          <p:nvPr/>
        </p:nvSpPr>
        <p:spPr>
          <a:xfrm>
            <a:off x="3199967" y="7726220"/>
            <a:ext cx="2108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048924" name="Shape 22"/>
          <p:cNvSpPr/>
          <p:nvPr/>
        </p:nvSpPr>
        <p:spPr>
          <a:xfrm>
            <a:off x="5487916" y="7264401"/>
            <a:ext cx="2244436" cy="771236"/>
          </a:xfrm>
          <a:custGeom>
            <a:avLst/>
            <a:gdLst/>
            <a:ahLst/>
            <a:cxnLst/>
            <a:rect l="l" t="t" r="r" b="b"/>
            <a:pathLst>
              <a:path w="2244436" h="771236">
                <a:moveTo>
                  <a:pt x="50801" y="0"/>
                </a:moveTo>
                <a:lnTo>
                  <a:pt x="2193635" y="0"/>
                </a:lnTo>
                <a:cubicBezTo>
                  <a:pt x="2221692" y="0"/>
                  <a:pt x="2244436" y="22745"/>
                  <a:pt x="2244436" y="50801"/>
                </a:cubicBezTo>
                <a:lnTo>
                  <a:pt x="2244436" y="720435"/>
                </a:lnTo>
                <a:cubicBezTo>
                  <a:pt x="2244436" y="748492"/>
                  <a:pt x="2221692" y="771236"/>
                  <a:pt x="2193635" y="771236"/>
                </a:cubicBezTo>
                <a:lnTo>
                  <a:pt x="50801" y="771236"/>
                </a:lnTo>
                <a:cubicBezTo>
                  <a:pt x="22745" y="771236"/>
                  <a:pt x="0" y="748492"/>
                  <a:pt x="0" y="720435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925" name="Text 23"/>
          <p:cNvSpPr/>
          <p:nvPr/>
        </p:nvSpPr>
        <p:spPr>
          <a:xfrm>
            <a:off x="5536984" y="7370620"/>
            <a:ext cx="214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Output</a:t>
            </a:r>
            <a:endParaRPr lang="en-US" sz="1600" dirty="0"/>
          </a:p>
        </p:txBody>
      </p:sp>
      <p:sp>
        <p:nvSpPr>
          <p:cNvPr id="1048926" name="Text 24"/>
          <p:cNvSpPr/>
          <p:nvPr/>
        </p:nvSpPr>
        <p:spPr>
          <a:xfrm>
            <a:off x="5556034" y="7726220"/>
            <a:ext cx="2108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Classes</a:t>
            </a:r>
            <a:endParaRPr lang="en-US" sz="1600" dirty="0"/>
          </a:p>
        </p:txBody>
      </p:sp>
      <p:sp>
        <p:nvSpPr>
          <p:cNvPr id="1048927" name="Shape 25"/>
          <p:cNvSpPr/>
          <p:nvPr/>
        </p:nvSpPr>
        <p:spPr>
          <a:xfrm>
            <a:off x="8259618" y="1630218"/>
            <a:ext cx="7489536" cy="3019136"/>
          </a:xfrm>
          <a:custGeom>
            <a:avLst/>
            <a:gdLst/>
            <a:ahLst/>
            <a:cxnLst/>
            <a:rect l="l" t="t" r="r" b="b"/>
            <a:pathLst>
              <a:path w="7489536" h="3019136">
                <a:moveTo>
                  <a:pt x="152406" y="0"/>
                </a:moveTo>
                <a:lnTo>
                  <a:pt x="7337130" y="0"/>
                </a:lnTo>
                <a:cubicBezTo>
                  <a:pt x="7421302" y="0"/>
                  <a:pt x="7489536" y="68234"/>
                  <a:pt x="7489536" y="152406"/>
                </a:cubicBezTo>
                <a:lnTo>
                  <a:pt x="7489536" y="2866730"/>
                </a:lnTo>
                <a:cubicBezTo>
                  <a:pt x="7489536" y="2950902"/>
                  <a:pt x="7421302" y="3019136"/>
                  <a:pt x="7337130" y="3019136"/>
                </a:cubicBezTo>
                <a:lnTo>
                  <a:pt x="152406" y="3019136"/>
                </a:lnTo>
                <a:cubicBezTo>
                  <a:pt x="68234" y="3019136"/>
                  <a:pt x="0" y="2950902"/>
                  <a:pt x="0" y="2866730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928" name="Shape 26"/>
          <p:cNvSpPr/>
          <p:nvPr/>
        </p:nvSpPr>
        <p:spPr>
          <a:xfrm>
            <a:off x="8518237" y="188883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E7C88">
              <a:alpha val="30196"/>
            </a:srgbClr>
          </a:solidFill>
        </p:spPr>
      </p:sp>
      <p:sp>
        <p:nvSpPr>
          <p:cNvPr id="1048929" name="Shape 27"/>
          <p:cNvSpPr/>
          <p:nvPr/>
        </p:nvSpPr>
        <p:spPr>
          <a:xfrm>
            <a:off x="8689687" y="2041237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930" name="Text 28"/>
          <p:cNvSpPr/>
          <p:nvPr/>
        </p:nvSpPr>
        <p:spPr>
          <a:xfrm>
            <a:off x="9280237" y="2015837"/>
            <a:ext cx="2425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Activation Functions</a:t>
            </a:r>
            <a:endParaRPr lang="en-US" sz="1600" dirty="0"/>
          </a:p>
        </p:txBody>
      </p:sp>
      <p:sp>
        <p:nvSpPr>
          <p:cNvPr id="1048931" name="Text 29"/>
          <p:cNvSpPr/>
          <p:nvPr/>
        </p:nvSpPr>
        <p:spPr>
          <a:xfrm>
            <a:off x="8518237" y="2650837"/>
            <a:ext cx="70739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Activation functions introduce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non-linearity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into the network, enabling it to learn complex decision boundaries.</a:t>
            </a:r>
            <a:endParaRPr lang="en-US" sz="1600" dirty="0"/>
          </a:p>
        </p:txBody>
      </p:sp>
      <p:sp>
        <p:nvSpPr>
          <p:cNvPr id="1048932" name="Shape 30"/>
          <p:cNvSpPr/>
          <p:nvPr/>
        </p:nvSpPr>
        <p:spPr>
          <a:xfrm>
            <a:off x="8522855" y="3468255"/>
            <a:ext cx="6956136" cy="923636"/>
          </a:xfrm>
          <a:custGeom>
            <a:avLst/>
            <a:gdLst/>
            <a:ahLst/>
            <a:cxnLst/>
            <a:rect l="l" t="t" r="r" b="b"/>
            <a:pathLst>
              <a:path w="6956136" h="923636">
                <a:moveTo>
                  <a:pt x="101600" y="0"/>
                </a:moveTo>
                <a:lnTo>
                  <a:pt x="6854536" y="0"/>
                </a:lnTo>
                <a:cubicBezTo>
                  <a:pt x="6910648" y="0"/>
                  <a:pt x="6956136" y="45488"/>
                  <a:pt x="6956136" y="101600"/>
                </a:cubicBezTo>
                <a:lnTo>
                  <a:pt x="6956136" y="822036"/>
                </a:lnTo>
                <a:cubicBezTo>
                  <a:pt x="6956136" y="878148"/>
                  <a:pt x="6910648" y="923636"/>
                  <a:pt x="6854536" y="923636"/>
                </a:cubicBezTo>
                <a:lnTo>
                  <a:pt x="101600" y="923636"/>
                </a:lnTo>
                <a:cubicBezTo>
                  <a:pt x="45488" y="923636"/>
                  <a:pt x="0" y="878148"/>
                  <a:pt x="0" y="822036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8933" name="Text 31"/>
          <p:cNvSpPr/>
          <p:nvPr/>
        </p:nvSpPr>
        <p:spPr>
          <a:xfrm>
            <a:off x="8679873" y="3625273"/>
            <a:ext cx="6743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ReLU (Rectified Linear Unit)</a:t>
            </a:r>
            <a:endParaRPr lang="en-US" sz="1600" dirty="0"/>
          </a:p>
        </p:txBody>
      </p:sp>
      <p:sp>
        <p:nvSpPr>
          <p:cNvPr id="1048934" name="Text 32"/>
          <p:cNvSpPr/>
          <p:nvPr/>
        </p:nvSpPr>
        <p:spPr>
          <a:xfrm>
            <a:off x="8679873" y="3980873"/>
            <a:ext cx="6731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f(x) = max(0, x) — Used in hidden layers for efficient training</a:t>
            </a:r>
            <a:endParaRPr lang="en-US" sz="1600" dirty="0"/>
          </a:p>
        </p:txBody>
      </p:sp>
      <p:sp>
        <p:nvSpPr>
          <p:cNvPr id="1048935" name="Shape 33"/>
          <p:cNvSpPr/>
          <p:nvPr/>
        </p:nvSpPr>
        <p:spPr>
          <a:xfrm>
            <a:off x="8259618" y="4867565"/>
            <a:ext cx="7489536" cy="3298536"/>
          </a:xfrm>
          <a:custGeom>
            <a:avLst/>
            <a:gdLst/>
            <a:ahLst/>
            <a:cxnLst/>
            <a:rect l="l" t="t" r="r" b="b"/>
            <a:pathLst>
              <a:path w="7489536" h="3298536">
                <a:moveTo>
                  <a:pt x="152392" y="0"/>
                </a:moveTo>
                <a:lnTo>
                  <a:pt x="7337144" y="0"/>
                </a:lnTo>
                <a:cubicBezTo>
                  <a:pt x="7421308" y="0"/>
                  <a:pt x="7489536" y="68228"/>
                  <a:pt x="7489536" y="152392"/>
                </a:cubicBezTo>
                <a:lnTo>
                  <a:pt x="7489536" y="3146144"/>
                </a:lnTo>
                <a:cubicBezTo>
                  <a:pt x="7489536" y="3230308"/>
                  <a:pt x="7421308" y="3298536"/>
                  <a:pt x="7337144" y="3298536"/>
                </a:cubicBezTo>
                <a:lnTo>
                  <a:pt x="152392" y="3298536"/>
                </a:lnTo>
                <a:cubicBezTo>
                  <a:pt x="68228" y="3298536"/>
                  <a:pt x="0" y="3230308"/>
                  <a:pt x="0" y="3146144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936" name="Shape 34"/>
          <p:cNvSpPr/>
          <p:nvPr/>
        </p:nvSpPr>
        <p:spPr>
          <a:xfrm>
            <a:off x="8518237" y="512618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937" name="Shape 35"/>
          <p:cNvSpPr/>
          <p:nvPr/>
        </p:nvSpPr>
        <p:spPr>
          <a:xfrm>
            <a:off x="8632537" y="5278583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938" name="Text 36"/>
          <p:cNvSpPr/>
          <p:nvPr/>
        </p:nvSpPr>
        <p:spPr>
          <a:xfrm>
            <a:off x="9280237" y="5253183"/>
            <a:ext cx="2768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Training &amp; Optimization</a:t>
            </a:r>
            <a:endParaRPr lang="en-US" sz="1600" dirty="0"/>
          </a:p>
        </p:txBody>
      </p:sp>
      <p:sp>
        <p:nvSpPr>
          <p:cNvPr id="1048939" name="Shape 37"/>
          <p:cNvSpPr/>
          <p:nvPr/>
        </p:nvSpPr>
        <p:spPr>
          <a:xfrm>
            <a:off x="8522855" y="5892801"/>
            <a:ext cx="6956136" cy="923636"/>
          </a:xfrm>
          <a:custGeom>
            <a:avLst/>
            <a:gdLst/>
            <a:ahLst/>
            <a:cxnLst/>
            <a:rect l="l" t="t" r="r" b="b"/>
            <a:pathLst>
              <a:path w="6956136" h="923636">
                <a:moveTo>
                  <a:pt x="101600" y="0"/>
                </a:moveTo>
                <a:lnTo>
                  <a:pt x="6854536" y="0"/>
                </a:lnTo>
                <a:cubicBezTo>
                  <a:pt x="6910648" y="0"/>
                  <a:pt x="6956136" y="45488"/>
                  <a:pt x="6956136" y="101600"/>
                </a:cubicBezTo>
                <a:lnTo>
                  <a:pt x="6956136" y="822036"/>
                </a:lnTo>
                <a:cubicBezTo>
                  <a:pt x="6956136" y="878148"/>
                  <a:pt x="6910648" y="923636"/>
                  <a:pt x="6854536" y="923636"/>
                </a:cubicBezTo>
                <a:lnTo>
                  <a:pt x="101600" y="923636"/>
                </a:lnTo>
                <a:cubicBezTo>
                  <a:pt x="45488" y="923636"/>
                  <a:pt x="0" y="878148"/>
                  <a:pt x="0" y="822036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940" name="Text 38"/>
          <p:cNvSpPr/>
          <p:nvPr/>
        </p:nvSpPr>
        <p:spPr>
          <a:xfrm>
            <a:off x="8679873" y="6049820"/>
            <a:ext cx="6743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Loss Function</a:t>
            </a:r>
            <a:endParaRPr lang="en-US" sz="1600" dirty="0"/>
          </a:p>
        </p:txBody>
      </p:sp>
      <p:sp>
        <p:nvSpPr>
          <p:cNvPr id="1048941" name="Text 39"/>
          <p:cNvSpPr/>
          <p:nvPr/>
        </p:nvSpPr>
        <p:spPr>
          <a:xfrm>
            <a:off x="8679873" y="6405420"/>
            <a:ext cx="6731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Cross-Entropy Loss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measures the difference between predicted and true labels.</a:t>
            </a:r>
            <a:endParaRPr lang="en-US" sz="1600" dirty="0"/>
          </a:p>
        </p:txBody>
      </p:sp>
      <p:sp>
        <p:nvSpPr>
          <p:cNvPr id="1048942" name="Shape 40"/>
          <p:cNvSpPr/>
          <p:nvPr/>
        </p:nvSpPr>
        <p:spPr>
          <a:xfrm>
            <a:off x="8522855" y="6978075"/>
            <a:ext cx="6956136" cy="923636"/>
          </a:xfrm>
          <a:custGeom>
            <a:avLst/>
            <a:gdLst/>
            <a:ahLst/>
            <a:cxnLst/>
            <a:rect l="l" t="t" r="r" b="b"/>
            <a:pathLst>
              <a:path w="6956136" h="923636">
                <a:moveTo>
                  <a:pt x="101600" y="0"/>
                </a:moveTo>
                <a:lnTo>
                  <a:pt x="6854536" y="0"/>
                </a:lnTo>
                <a:cubicBezTo>
                  <a:pt x="6910648" y="0"/>
                  <a:pt x="6956136" y="45488"/>
                  <a:pt x="6956136" y="101600"/>
                </a:cubicBezTo>
                <a:lnTo>
                  <a:pt x="6956136" y="822036"/>
                </a:lnTo>
                <a:cubicBezTo>
                  <a:pt x="6956136" y="878148"/>
                  <a:pt x="6910648" y="923636"/>
                  <a:pt x="6854536" y="923636"/>
                </a:cubicBezTo>
                <a:lnTo>
                  <a:pt x="101600" y="923636"/>
                </a:lnTo>
                <a:cubicBezTo>
                  <a:pt x="45488" y="923636"/>
                  <a:pt x="0" y="878148"/>
                  <a:pt x="0" y="822036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943" name="Text 41"/>
          <p:cNvSpPr/>
          <p:nvPr/>
        </p:nvSpPr>
        <p:spPr>
          <a:xfrm>
            <a:off x="8679873" y="7135093"/>
            <a:ext cx="6743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Optimizers</a:t>
            </a:r>
            <a:endParaRPr lang="en-US" sz="1600" dirty="0"/>
          </a:p>
        </p:txBody>
      </p:sp>
      <p:sp>
        <p:nvSpPr>
          <p:cNvPr id="1048944" name="Text 42"/>
          <p:cNvSpPr/>
          <p:nvPr/>
        </p:nvSpPr>
        <p:spPr>
          <a:xfrm>
            <a:off x="8679873" y="7490693"/>
            <a:ext cx="6731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Adam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and </a:t>
            </a: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SGD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update weights iteratively to minimize loss.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8" name="Shape 0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949" name="Text 1"/>
          <p:cNvSpPr/>
          <p:nvPr/>
        </p:nvSpPr>
        <p:spPr>
          <a:xfrm>
            <a:off x="762000" y="508000"/>
            <a:ext cx="5092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 / Methodology</a:t>
            </a:r>
            <a:endParaRPr lang="en-US" sz="1600" dirty="0"/>
          </a:p>
        </p:txBody>
      </p:sp>
      <p:sp>
        <p:nvSpPr>
          <p:cNvPr id="1048950" name="Text 2"/>
          <p:cNvSpPr/>
          <p:nvPr/>
        </p:nvSpPr>
        <p:spPr>
          <a:xfrm>
            <a:off x="762000" y="8128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&amp; Preprocessing</a:t>
            </a:r>
            <a:endParaRPr lang="en-US" sz="1600" dirty="0"/>
          </a:p>
        </p:txBody>
      </p:sp>
      <p:sp>
        <p:nvSpPr>
          <p:cNvPr id="1048951" name="Shape 3"/>
          <p:cNvSpPr/>
          <p:nvPr/>
        </p:nvSpPr>
        <p:spPr>
          <a:xfrm>
            <a:off x="512618" y="1579418"/>
            <a:ext cx="7489536" cy="6092536"/>
          </a:xfrm>
          <a:custGeom>
            <a:avLst/>
            <a:gdLst/>
            <a:ahLst/>
            <a:cxnLst/>
            <a:rect l="l" t="t" r="r" b="b"/>
            <a:pathLst>
              <a:path w="7489536" h="6092536">
                <a:moveTo>
                  <a:pt x="152374" y="0"/>
                </a:moveTo>
                <a:lnTo>
                  <a:pt x="7337162" y="0"/>
                </a:lnTo>
                <a:cubicBezTo>
                  <a:pt x="7421316" y="0"/>
                  <a:pt x="7489536" y="68220"/>
                  <a:pt x="7489536" y="152374"/>
                </a:cubicBezTo>
                <a:lnTo>
                  <a:pt x="7489536" y="5940162"/>
                </a:lnTo>
                <a:cubicBezTo>
                  <a:pt x="7489536" y="6024260"/>
                  <a:pt x="7421260" y="6092536"/>
                  <a:pt x="7337162" y="6092536"/>
                </a:cubicBezTo>
                <a:lnTo>
                  <a:pt x="152374" y="6092536"/>
                </a:lnTo>
                <a:cubicBezTo>
                  <a:pt x="68220" y="6092536"/>
                  <a:pt x="0" y="6024316"/>
                  <a:pt x="0" y="5940162"/>
                </a:cubicBezTo>
                <a:lnTo>
                  <a:pt x="0" y="152374"/>
                </a:lnTo>
                <a:cubicBezTo>
                  <a:pt x="0" y="68220"/>
                  <a:pt x="68220" y="0"/>
                  <a:pt x="152374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952" name="Shape 4"/>
          <p:cNvSpPr/>
          <p:nvPr/>
        </p:nvSpPr>
        <p:spPr>
          <a:xfrm>
            <a:off x="771236" y="183803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953" name="Shape 5"/>
          <p:cNvSpPr/>
          <p:nvPr/>
        </p:nvSpPr>
        <p:spPr>
          <a:xfrm>
            <a:off x="942686" y="1990437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954" name="Text 6"/>
          <p:cNvSpPr/>
          <p:nvPr/>
        </p:nvSpPr>
        <p:spPr>
          <a:xfrm>
            <a:off x="1533236" y="1939637"/>
            <a:ext cx="2971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Composition</a:t>
            </a:r>
            <a:endParaRPr lang="en-US" sz="1600" dirty="0"/>
          </a:p>
        </p:txBody>
      </p:sp>
      <p:sp>
        <p:nvSpPr>
          <p:cNvPr id="1048955" name="Text 7"/>
          <p:cNvSpPr/>
          <p:nvPr/>
        </p:nvSpPr>
        <p:spPr>
          <a:xfrm>
            <a:off x="771236" y="2650837"/>
            <a:ext cx="70739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dataset contains three categories of images: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</a:t>
            </a:r>
            <a:r>
              <a:rPr lang="en-US" sz="1600" b="1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motion blurred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and </a:t>
            </a:r>
            <a:r>
              <a:rPr lang="en-US" sz="1600" b="1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defocused blurred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images.</a:t>
            </a:r>
            <a:endParaRPr lang="en-US" sz="1600" dirty="0"/>
          </a:p>
        </p:txBody>
      </p:sp>
      <p:sp>
        <p:nvSpPr>
          <p:cNvPr id="1048956" name="Shape 8"/>
          <p:cNvSpPr/>
          <p:nvPr/>
        </p:nvSpPr>
        <p:spPr>
          <a:xfrm>
            <a:off x="775855" y="3519055"/>
            <a:ext cx="6956136" cy="2854036"/>
          </a:xfrm>
          <a:custGeom>
            <a:avLst/>
            <a:gdLst/>
            <a:ahLst/>
            <a:cxnLst/>
            <a:rect l="l" t="t" r="r" b="b"/>
            <a:pathLst>
              <a:path w="6956136" h="2854036">
                <a:moveTo>
                  <a:pt x="152406" y="0"/>
                </a:moveTo>
                <a:lnTo>
                  <a:pt x="6803731" y="0"/>
                </a:lnTo>
                <a:cubicBezTo>
                  <a:pt x="6887902" y="0"/>
                  <a:pt x="6956136" y="68234"/>
                  <a:pt x="6956136" y="152406"/>
                </a:cubicBezTo>
                <a:lnTo>
                  <a:pt x="6956136" y="2701631"/>
                </a:lnTo>
                <a:cubicBezTo>
                  <a:pt x="6956136" y="2785802"/>
                  <a:pt x="6887902" y="2854036"/>
                  <a:pt x="6803731" y="2854036"/>
                </a:cubicBezTo>
                <a:lnTo>
                  <a:pt x="152406" y="2854036"/>
                </a:lnTo>
                <a:cubicBezTo>
                  <a:pt x="68234" y="2854036"/>
                  <a:pt x="0" y="2785802"/>
                  <a:pt x="0" y="2701631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957" name="Text 9"/>
          <p:cNvSpPr/>
          <p:nvPr/>
        </p:nvSpPr>
        <p:spPr>
          <a:xfrm>
            <a:off x="983673" y="3803073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Images</a:t>
            </a:r>
            <a:endParaRPr lang="en-US" sz="1600" dirty="0"/>
          </a:p>
        </p:txBody>
      </p:sp>
      <p:sp>
        <p:nvSpPr>
          <p:cNvPr id="1048958" name="Text 10"/>
          <p:cNvSpPr/>
          <p:nvPr/>
        </p:nvSpPr>
        <p:spPr>
          <a:xfrm>
            <a:off x="6811313" y="3726873"/>
            <a:ext cx="901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900</a:t>
            </a:r>
            <a:endParaRPr lang="en-US" sz="1600" dirty="0"/>
          </a:p>
        </p:txBody>
      </p:sp>
      <p:sp>
        <p:nvSpPr>
          <p:cNvPr id="1048959" name="Text 11"/>
          <p:cNvSpPr/>
          <p:nvPr/>
        </p:nvSpPr>
        <p:spPr>
          <a:xfrm>
            <a:off x="983673" y="4336473"/>
            <a:ext cx="1155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 Images</a:t>
            </a:r>
            <a:endParaRPr lang="en-US" sz="1600" dirty="0"/>
          </a:p>
        </p:txBody>
      </p:sp>
      <p:sp>
        <p:nvSpPr>
          <p:cNvPr id="1048960" name="Text 12"/>
          <p:cNvSpPr/>
          <p:nvPr/>
        </p:nvSpPr>
        <p:spPr>
          <a:xfrm>
            <a:off x="7146131" y="4336473"/>
            <a:ext cx="482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300</a:t>
            </a:r>
            <a:endParaRPr lang="en-US" sz="1600" dirty="0"/>
          </a:p>
        </p:txBody>
      </p:sp>
      <p:sp>
        <p:nvSpPr>
          <p:cNvPr id="1048961" name="Shape 13"/>
          <p:cNvSpPr/>
          <p:nvPr/>
        </p:nvSpPr>
        <p:spPr>
          <a:xfrm>
            <a:off x="983673" y="4692073"/>
            <a:ext cx="6540500" cy="152400"/>
          </a:xfrm>
          <a:custGeom>
            <a:avLst/>
            <a:gdLst/>
            <a:ahLst/>
            <a:cxnLst/>
            <a:rect l="l" t="t" r="r" b="b"/>
            <a:pathLst>
              <a:path w="6540500" h="152400">
                <a:moveTo>
                  <a:pt x="76200" y="0"/>
                </a:moveTo>
                <a:lnTo>
                  <a:pt x="6464300" y="0"/>
                </a:lnTo>
                <a:cubicBezTo>
                  <a:pt x="6506356" y="0"/>
                  <a:pt x="6540500" y="34144"/>
                  <a:pt x="6540500" y="76200"/>
                </a:cubicBezTo>
                <a:lnTo>
                  <a:pt x="6540500" y="76200"/>
                </a:lnTo>
                <a:cubicBezTo>
                  <a:pt x="6540500" y="118256"/>
                  <a:pt x="6506356" y="152400"/>
                  <a:pt x="64643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962" name="Shape 14"/>
          <p:cNvSpPr/>
          <p:nvPr/>
        </p:nvSpPr>
        <p:spPr>
          <a:xfrm>
            <a:off x="983673" y="4692073"/>
            <a:ext cx="2184400" cy="152400"/>
          </a:xfrm>
          <a:custGeom>
            <a:avLst/>
            <a:gdLst/>
            <a:ahLst/>
            <a:cxnLst/>
            <a:rect l="l" t="t" r="r" b="b"/>
            <a:pathLst>
              <a:path w="2184400" h="152400">
                <a:moveTo>
                  <a:pt x="76200" y="0"/>
                </a:moveTo>
                <a:lnTo>
                  <a:pt x="2108200" y="0"/>
                </a:lnTo>
                <a:cubicBezTo>
                  <a:pt x="2150256" y="0"/>
                  <a:pt x="2184400" y="34144"/>
                  <a:pt x="2184400" y="76200"/>
                </a:cubicBezTo>
                <a:lnTo>
                  <a:pt x="2184400" y="76200"/>
                </a:lnTo>
                <a:cubicBezTo>
                  <a:pt x="2184400" y="118256"/>
                  <a:pt x="2150256" y="152400"/>
                  <a:pt x="2108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963" name="Text 15"/>
          <p:cNvSpPr/>
          <p:nvPr/>
        </p:nvSpPr>
        <p:spPr>
          <a:xfrm>
            <a:off x="983673" y="4996873"/>
            <a:ext cx="990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Motion Blur</a:t>
            </a:r>
            <a:endParaRPr lang="en-US" sz="1600" dirty="0"/>
          </a:p>
        </p:txBody>
      </p:sp>
      <p:sp>
        <p:nvSpPr>
          <p:cNvPr id="1048964" name="Text 16"/>
          <p:cNvSpPr/>
          <p:nvPr/>
        </p:nvSpPr>
        <p:spPr>
          <a:xfrm>
            <a:off x="7146131" y="4996873"/>
            <a:ext cx="482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300</a:t>
            </a:r>
            <a:endParaRPr lang="en-US" sz="1600" dirty="0"/>
          </a:p>
        </p:txBody>
      </p:sp>
      <p:sp>
        <p:nvSpPr>
          <p:cNvPr id="1048965" name="Shape 17"/>
          <p:cNvSpPr/>
          <p:nvPr/>
        </p:nvSpPr>
        <p:spPr>
          <a:xfrm>
            <a:off x="983673" y="5352473"/>
            <a:ext cx="6540500" cy="152400"/>
          </a:xfrm>
          <a:custGeom>
            <a:avLst/>
            <a:gdLst/>
            <a:ahLst/>
            <a:cxnLst/>
            <a:rect l="l" t="t" r="r" b="b"/>
            <a:pathLst>
              <a:path w="6540500" h="152400">
                <a:moveTo>
                  <a:pt x="76200" y="0"/>
                </a:moveTo>
                <a:lnTo>
                  <a:pt x="6464300" y="0"/>
                </a:lnTo>
                <a:cubicBezTo>
                  <a:pt x="6506356" y="0"/>
                  <a:pt x="6540500" y="34144"/>
                  <a:pt x="6540500" y="76200"/>
                </a:cubicBezTo>
                <a:lnTo>
                  <a:pt x="6540500" y="76200"/>
                </a:lnTo>
                <a:cubicBezTo>
                  <a:pt x="6540500" y="118256"/>
                  <a:pt x="6506356" y="152400"/>
                  <a:pt x="64643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966" name="Shape 18"/>
          <p:cNvSpPr/>
          <p:nvPr/>
        </p:nvSpPr>
        <p:spPr>
          <a:xfrm>
            <a:off x="983673" y="5352473"/>
            <a:ext cx="2184400" cy="152400"/>
          </a:xfrm>
          <a:custGeom>
            <a:avLst/>
            <a:gdLst/>
            <a:ahLst/>
            <a:cxnLst/>
            <a:rect l="l" t="t" r="r" b="b"/>
            <a:pathLst>
              <a:path w="2184400" h="152400">
                <a:moveTo>
                  <a:pt x="76200" y="0"/>
                </a:moveTo>
                <a:lnTo>
                  <a:pt x="2108200" y="0"/>
                </a:lnTo>
                <a:cubicBezTo>
                  <a:pt x="2150256" y="0"/>
                  <a:pt x="2184400" y="34144"/>
                  <a:pt x="2184400" y="76200"/>
                </a:cubicBezTo>
                <a:lnTo>
                  <a:pt x="2184400" y="76200"/>
                </a:lnTo>
                <a:cubicBezTo>
                  <a:pt x="2184400" y="118256"/>
                  <a:pt x="2150256" y="152400"/>
                  <a:pt x="2108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967" name="Text 19"/>
          <p:cNvSpPr/>
          <p:nvPr/>
        </p:nvSpPr>
        <p:spPr>
          <a:xfrm>
            <a:off x="983673" y="5657273"/>
            <a:ext cx="1092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Defocus Blur</a:t>
            </a:r>
            <a:endParaRPr lang="en-US" sz="1600" dirty="0"/>
          </a:p>
        </p:txBody>
      </p:sp>
      <p:sp>
        <p:nvSpPr>
          <p:cNvPr id="1048968" name="Text 20"/>
          <p:cNvSpPr/>
          <p:nvPr/>
        </p:nvSpPr>
        <p:spPr>
          <a:xfrm>
            <a:off x="7146131" y="5657273"/>
            <a:ext cx="482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300</a:t>
            </a:r>
            <a:endParaRPr lang="en-US" sz="1600" dirty="0"/>
          </a:p>
        </p:txBody>
      </p:sp>
      <p:sp>
        <p:nvSpPr>
          <p:cNvPr id="1048969" name="Shape 21"/>
          <p:cNvSpPr/>
          <p:nvPr/>
        </p:nvSpPr>
        <p:spPr>
          <a:xfrm>
            <a:off x="983673" y="6012873"/>
            <a:ext cx="6540500" cy="152400"/>
          </a:xfrm>
          <a:custGeom>
            <a:avLst/>
            <a:gdLst/>
            <a:ahLst/>
            <a:cxnLst/>
            <a:rect l="l" t="t" r="r" b="b"/>
            <a:pathLst>
              <a:path w="6540500" h="152400">
                <a:moveTo>
                  <a:pt x="76200" y="0"/>
                </a:moveTo>
                <a:lnTo>
                  <a:pt x="6464300" y="0"/>
                </a:lnTo>
                <a:cubicBezTo>
                  <a:pt x="6506356" y="0"/>
                  <a:pt x="6540500" y="34144"/>
                  <a:pt x="6540500" y="76200"/>
                </a:cubicBezTo>
                <a:lnTo>
                  <a:pt x="6540500" y="76200"/>
                </a:lnTo>
                <a:cubicBezTo>
                  <a:pt x="6540500" y="118256"/>
                  <a:pt x="6506356" y="152400"/>
                  <a:pt x="64643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970" name="Shape 22"/>
          <p:cNvSpPr/>
          <p:nvPr/>
        </p:nvSpPr>
        <p:spPr>
          <a:xfrm>
            <a:off x="983673" y="6012873"/>
            <a:ext cx="2184400" cy="152400"/>
          </a:xfrm>
          <a:custGeom>
            <a:avLst/>
            <a:gdLst/>
            <a:ahLst/>
            <a:cxnLst/>
            <a:rect l="l" t="t" r="r" b="b"/>
            <a:pathLst>
              <a:path w="2184400" h="152400">
                <a:moveTo>
                  <a:pt x="76200" y="0"/>
                </a:moveTo>
                <a:lnTo>
                  <a:pt x="2108200" y="0"/>
                </a:lnTo>
                <a:cubicBezTo>
                  <a:pt x="2150256" y="0"/>
                  <a:pt x="2184400" y="34144"/>
                  <a:pt x="2184400" y="76200"/>
                </a:cubicBezTo>
                <a:lnTo>
                  <a:pt x="2184400" y="76200"/>
                </a:lnTo>
                <a:cubicBezTo>
                  <a:pt x="2184400" y="118256"/>
                  <a:pt x="2150256" y="152400"/>
                  <a:pt x="2108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971" name="Shape 23"/>
          <p:cNvSpPr/>
          <p:nvPr/>
        </p:nvSpPr>
        <p:spPr>
          <a:xfrm>
            <a:off x="775855" y="6585528"/>
            <a:ext cx="6956136" cy="822036"/>
          </a:xfrm>
          <a:custGeom>
            <a:avLst/>
            <a:gdLst/>
            <a:ahLst/>
            <a:cxnLst/>
            <a:rect l="l" t="t" r="r" b="b"/>
            <a:pathLst>
              <a:path w="6956136" h="822036">
                <a:moveTo>
                  <a:pt x="101604" y="0"/>
                </a:moveTo>
                <a:lnTo>
                  <a:pt x="6854533" y="0"/>
                </a:lnTo>
                <a:cubicBezTo>
                  <a:pt x="6910647" y="0"/>
                  <a:pt x="6956136" y="45490"/>
                  <a:pt x="6956136" y="101604"/>
                </a:cubicBezTo>
                <a:lnTo>
                  <a:pt x="6956136" y="720433"/>
                </a:lnTo>
                <a:cubicBezTo>
                  <a:pt x="6956136" y="776547"/>
                  <a:pt x="6910647" y="822036"/>
                  <a:pt x="6854533" y="822036"/>
                </a:cubicBezTo>
                <a:lnTo>
                  <a:pt x="101604" y="822036"/>
                </a:lnTo>
                <a:cubicBezTo>
                  <a:pt x="45527" y="822036"/>
                  <a:pt x="0" y="776509"/>
                  <a:pt x="0" y="720433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8972" name="Shape 24"/>
          <p:cNvSpPr/>
          <p:nvPr/>
        </p:nvSpPr>
        <p:spPr>
          <a:xfrm>
            <a:off x="958273" y="6779493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973" name="Text 25"/>
          <p:cNvSpPr/>
          <p:nvPr/>
        </p:nvSpPr>
        <p:spPr>
          <a:xfrm>
            <a:off x="1263073" y="6742547"/>
            <a:ext cx="6400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 classification, motion and defocus blur were combined into a single </a:t>
            </a: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Blur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class (600 images).</a:t>
            </a:r>
            <a:endParaRPr lang="en-US" sz="1600" dirty="0"/>
          </a:p>
        </p:txBody>
      </p:sp>
      <p:sp>
        <p:nvSpPr>
          <p:cNvPr id="1048974" name="Shape 26"/>
          <p:cNvSpPr/>
          <p:nvPr/>
        </p:nvSpPr>
        <p:spPr>
          <a:xfrm>
            <a:off x="8259618" y="1579418"/>
            <a:ext cx="7489536" cy="5343236"/>
          </a:xfrm>
          <a:custGeom>
            <a:avLst/>
            <a:gdLst/>
            <a:ahLst/>
            <a:cxnLst/>
            <a:rect l="l" t="t" r="r" b="b"/>
            <a:pathLst>
              <a:path w="7489536" h="5343236">
                <a:moveTo>
                  <a:pt x="152389" y="0"/>
                </a:moveTo>
                <a:lnTo>
                  <a:pt x="7337147" y="0"/>
                </a:lnTo>
                <a:cubicBezTo>
                  <a:pt x="7421309" y="0"/>
                  <a:pt x="7489536" y="68227"/>
                  <a:pt x="7489536" y="152389"/>
                </a:cubicBezTo>
                <a:lnTo>
                  <a:pt x="7489536" y="5190847"/>
                </a:lnTo>
                <a:cubicBezTo>
                  <a:pt x="7489536" y="5275009"/>
                  <a:pt x="7421309" y="5343236"/>
                  <a:pt x="7337147" y="5343236"/>
                </a:cubicBezTo>
                <a:lnTo>
                  <a:pt x="152389" y="5343236"/>
                </a:lnTo>
                <a:cubicBezTo>
                  <a:pt x="68227" y="5343236"/>
                  <a:pt x="0" y="5275009"/>
                  <a:pt x="0" y="5190847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975" name="Shape 27"/>
          <p:cNvSpPr/>
          <p:nvPr/>
        </p:nvSpPr>
        <p:spPr>
          <a:xfrm>
            <a:off x="8518237" y="183803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976" name="Shape 28"/>
          <p:cNvSpPr/>
          <p:nvPr/>
        </p:nvSpPr>
        <p:spPr>
          <a:xfrm>
            <a:off x="8670637" y="199043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6145" y="5655"/>
                </a:moveTo>
                <a:cubicBezTo>
                  <a:pt x="117931" y="-3155"/>
                  <a:pt x="125730" y="-9525"/>
                  <a:pt x="134779" y="-9525"/>
                </a:cubicBezTo>
                <a:lnTo>
                  <a:pt x="170378" y="-9525"/>
                </a:lnTo>
                <a:cubicBezTo>
                  <a:pt x="179427" y="-9525"/>
                  <a:pt x="187226" y="-3155"/>
                  <a:pt x="189012" y="5655"/>
                </a:cubicBezTo>
                <a:lnTo>
                  <a:pt x="197644" y="47327"/>
                </a:lnTo>
                <a:cubicBezTo>
                  <a:pt x="206038" y="50899"/>
                  <a:pt x="213896" y="55483"/>
                  <a:pt x="221040" y="60900"/>
                </a:cubicBezTo>
                <a:lnTo>
                  <a:pt x="261402" y="47506"/>
                </a:lnTo>
                <a:cubicBezTo>
                  <a:pt x="269974" y="44648"/>
                  <a:pt x="279380" y="48220"/>
                  <a:pt x="283905" y="56078"/>
                </a:cubicBezTo>
                <a:lnTo>
                  <a:pt x="301704" y="86916"/>
                </a:lnTo>
                <a:cubicBezTo>
                  <a:pt x="306229" y="94774"/>
                  <a:pt x="304621" y="104656"/>
                  <a:pt x="297835" y="110669"/>
                </a:cubicBezTo>
                <a:lnTo>
                  <a:pt x="266105" y="138886"/>
                </a:lnTo>
                <a:cubicBezTo>
                  <a:pt x="266640" y="143292"/>
                  <a:pt x="266879" y="147816"/>
                  <a:pt x="266879" y="152400"/>
                </a:cubicBezTo>
                <a:cubicBezTo>
                  <a:pt x="266879" y="156984"/>
                  <a:pt x="266581" y="161508"/>
                  <a:pt x="266105" y="165914"/>
                </a:cubicBezTo>
                <a:lnTo>
                  <a:pt x="297894" y="194191"/>
                </a:lnTo>
                <a:cubicBezTo>
                  <a:pt x="304681" y="200204"/>
                  <a:pt x="306229" y="210145"/>
                  <a:pt x="301764" y="217944"/>
                </a:cubicBezTo>
                <a:lnTo>
                  <a:pt x="283964" y="248781"/>
                </a:lnTo>
                <a:cubicBezTo>
                  <a:pt x="279440" y="256580"/>
                  <a:pt x="270034" y="260211"/>
                  <a:pt x="261461" y="257354"/>
                </a:cubicBezTo>
                <a:lnTo>
                  <a:pt x="221099" y="243959"/>
                </a:lnTo>
                <a:cubicBezTo>
                  <a:pt x="213896" y="249376"/>
                  <a:pt x="206038" y="253901"/>
                  <a:pt x="197703" y="257532"/>
                </a:cubicBezTo>
                <a:lnTo>
                  <a:pt x="189131" y="299145"/>
                </a:lnTo>
                <a:cubicBezTo>
                  <a:pt x="187285" y="308015"/>
                  <a:pt x="179487" y="314325"/>
                  <a:pt x="170497" y="314325"/>
                </a:cubicBezTo>
                <a:lnTo>
                  <a:pt x="134898" y="314325"/>
                </a:lnTo>
                <a:cubicBezTo>
                  <a:pt x="125849" y="314325"/>
                  <a:pt x="118050" y="307955"/>
                  <a:pt x="116265" y="299145"/>
                </a:cubicBezTo>
                <a:lnTo>
                  <a:pt x="107692" y="257532"/>
                </a:lnTo>
                <a:cubicBezTo>
                  <a:pt x="99298" y="253960"/>
                  <a:pt x="91500" y="249376"/>
                  <a:pt x="84296" y="243959"/>
                </a:cubicBezTo>
                <a:lnTo>
                  <a:pt x="43755" y="257354"/>
                </a:lnTo>
                <a:cubicBezTo>
                  <a:pt x="35183" y="260211"/>
                  <a:pt x="25777" y="256639"/>
                  <a:pt x="21253" y="248781"/>
                </a:cubicBezTo>
                <a:lnTo>
                  <a:pt x="3453" y="217944"/>
                </a:lnTo>
                <a:cubicBezTo>
                  <a:pt x="-1072" y="210086"/>
                  <a:pt x="536" y="200204"/>
                  <a:pt x="7322" y="194191"/>
                </a:cubicBezTo>
                <a:lnTo>
                  <a:pt x="39112" y="165914"/>
                </a:lnTo>
                <a:cubicBezTo>
                  <a:pt x="38576" y="161508"/>
                  <a:pt x="38338" y="156984"/>
                  <a:pt x="38338" y="152400"/>
                </a:cubicBezTo>
                <a:cubicBezTo>
                  <a:pt x="38338" y="147816"/>
                  <a:pt x="38636" y="143292"/>
                  <a:pt x="39112" y="138886"/>
                </a:cubicBezTo>
                <a:lnTo>
                  <a:pt x="7322" y="110609"/>
                </a:lnTo>
                <a:cubicBezTo>
                  <a:pt x="536" y="104596"/>
                  <a:pt x="-1012" y="94655"/>
                  <a:pt x="3453" y="86856"/>
                </a:cubicBezTo>
                <a:lnTo>
                  <a:pt x="21253" y="56019"/>
                </a:lnTo>
                <a:cubicBezTo>
                  <a:pt x="25777" y="48161"/>
                  <a:pt x="35183" y="44589"/>
                  <a:pt x="43755" y="47446"/>
                </a:cubicBezTo>
                <a:lnTo>
                  <a:pt x="84118" y="60841"/>
                </a:lnTo>
                <a:cubicBezTo>
                  <a:pt x="91321" y="55424"/>
                  <a:pt x="99179" y="50899"/>
                  <a:pt x="107513" y="47268"/>
                </a:cubicBezTo>
                <a:lnTo>
                  <a:pt x="116145" y="5655"/>
                </a:lnTo>
                <a:close/>
                <a:moveTo>
                  <a:pt x="152579" y="200025"/>
                </a:moveTo>
                <a:cubicBezTo>
                  <a:pt x="169593" y="199961"/>
                  <a:pt x="185282" y="190825"/>
                  <a:pt x="193734" y="176058"/>
                </a:cubicBezTo>
                <a:cubicBezTo>
                  <a:pt x="202186" y="161291"/>
                  <a:pt x="202118" y="143136"/>
                  <a:pt x="193555" y="128433"/>
                </a:cubicBezTo>
                <a:cubicBezTo>
                  <a:pt x="184993" y="113730"/>
                  <a:pt x="169236" y="104711"/>
                  <a:pt x="152221" y="104775"/>
                </a:cubicBezTo>
                <a:cubicBezTo>
                  <a:pt x="135207" y="104839"/>
                  <a:pt x="119518" y="113975"/>
                  <a:pt x="111066" y="128742"/>
                </a:cubicBezTo>
                <a:cubicBezTo>
                  <a:pt x="102614" y="143509"/>
                  <a:pt x="102682" y="161664"/>
                  <a:pt x="111245" y="176367"/>
                </a:cubicBezTo>
                <a:cubicBezTo>
                  <a:pt x="119807" y="191070"/>
                  <a:pt x="135564" y="200089"/>
                  <a:pt x="152579" y="200025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977" name="Text 29"/>
          <p:cNvSpPr/>
          <p:nvPr/>
        </p:nvSpPr>
        <p:spPr>
          <a:xfrm>
            <a:off x="9280237" y="1939637"/>
            <a:ext cx="3225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1048978" name="Shape 30"/>
          <p:cNvSpPr/>
          <p:nvPr/>
        </p:nvSpPr>
        <p:spPr>
          <a:xfrm>
            <a:off x="8543637" y="2650837"/>
            <a:ext cx="6946900" cy="1320800"/>
          </a:xfrm>
          <a:custGeom>
            <a:avLst/>
            <a:gdLst/>
            <a:ahLst/>
            <a:cxnLst/>
            <a:rect l="l" t="t" r="r" b="b"/>
            <a:pathLst>
              <a:path w="6946900" h="1320800">
                <a:moveTo>
                  <a:pt x="50800" y="0"/>
                </a:moveTo>
                <a:lnTo>
                  <a:pt x="6845304" y="0"/>
                </a:lnTo>
                <a:cubicBezTo>
                  <a:pt x="6901414" y="0"/>
                  <a:pt x="6946900" y="45486"/>
                  <a:pt x="6946900" y="101596"/>
                </a:cubicBezTo>
                <a:lnTo>
                  <a:pt x="6946900" y="1219204"/>
                </a:lnTo>
                <a:cubicBezTo>
                  <a:pt x="6946900" y="1275314"/>
                  <a:pt x="6901414" y="1320800"/>
                  <a:pt x="68453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979" name="Shape 31"/>
          <p:cNvSpPr/>
          <p:nvPr/>
        </p:nvSpPr>
        <p:spPr>
          <a:xfrm>
            <a:off x="8543637" y="2650837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980" name="Shape 32"/>
          <p:cNvSpPr/>
          <p:nvPr/>
        </p:nvSpPr>
        <p:spPr>
          <a:xfrm>
            <a:off x="8772237" y="290483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981" name="Text 33"/>
          <p:cNvSpPr/>
          <p:nvPr/>
        </p:nvSpPr>
        <p:spPr>
          <a:xfrm>
            <a:off x="8939862" y="2981037"/>
            <a:ext cx="165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1048982" name="Text 34"/>
          <p:cNvSpPr/>
          <p:nvPr/>
        </p:nvSpPr>
        <p:spPr>
          <a:xfrm>
            <a:off x="9331037" y="2854037"/>
            <a:ext cx="6070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Grayscale Conversion</a:t>
            </a:r>
            <a:endParaRPr lang="en-US" sz="1600" dirty="0"/>
          </a:p>
        </p:txBody>
      </p:sp>
      <p:sp>
        <p:nvSpPr>
          <p:cNvPr id="1048983" name="Text 35"/>
          <p:cNvSpPr/>
          <p:nvPr/>
        </p:nvSpPr>
        <p:spPr>
          <a:xfrm>
            <a:off x="9331037" y="3260437"/>
            <a:ext cx="6045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All images converted to grayscale to reduce computational complexity and focus on structural features.</a:t>
            </a:r>
            <a:endParaRPr lang="en-US" sz="1600" dirty="0"/>
          </a:p>
        </p:txBody>
      </p:sp>
      <p:sp>
        <p:nvSpPr>
          <p:cNvPr id="1048984" name="Shape 36"/>
          <p:cNvSpPr/>
          <p:nvPr/>
        </p:nvSpPr>
        <p:spPr>
          <a:xfrm>
            <a:off x="8543637" y="4124037"/>
            <a:ext cx="6946900" cy="1320800"/>
          </a:xfrm>
          <a:custGeom>
            <a:avLst/>
            <a:gdLst/>
            <a:ahLst/>
            <a:cxnLst/>
            <a:rect l="l" t="t" r="r" b="b"/>
            <a:pathLst>
              <a:path w="6946900" h="1320800">
                <a:moveTo>
                  <a:pt x="50800" y="0"/>
                </a:moveTo>
                <a:lnTo>
                  <a:pt x="6845304" y="0"/>
                </a:lnTo>
                <a:cubicBezTo>
                  <a:pt x="6901414" y="0"/>
                  <a:pt x="6946900" y="45486"/>
                  <a:pt x="6946900" y="101596"/>
                </a:cubicBezTo>
                <a:lnTo>
                  <a:pt x="6946900" y="1219204"/>
                </a:lnTo>
                <a:cubicBezTo>
                  <a:pt x="6946900" y="1275314"/>
                  <a:pt x="6901414" y="1320800"/>
                  <a:pt x="68453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985" name="Shape 37"/>
          <p:cNvSpPr/>
          <p:nvPr/>
        </p:nvSpPr>
        <p:spPr>
          <a:xfrm>
            <a:off x="8543637" y="4124037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986" name="Shape 38"/>
          <p:cNvSpPr/>
          <p:nvPr/>
        </p:nvSpPr>
        <p:spPr>
          <a:xfrm>
            <a:off x="8772237" y="437803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987" name="Text 39"/>
          <p:cNvSpPr/>
          <p:nvPr/>
        </p:nvSpPr>
        <p:spPr>
          <a:xfrm>
            <a:off x="8923771" y="4454237"/>
            <a:ext cx="19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1048988" name="Text 40"/>
          <p:cNvSpPr/>
          <p:nvPr/>
        </p:nvSpPr>
        <p:spPr>
          <a:xfrm>
            <a:off x="9331037" y="4327237"/>
            <a:ext cx="6070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Image Resizing</a:t>
            </a:r>
            <a:endParaRPr lang="en-US" sz="1600" dirty="0"/>
          </a:p>
        </p:txBody>
      </p:sp>
      <p:sp>
        <p:nvSpPr>
          <p:cNvPr id="1048989" name="Text 41"/>
          <p:cNvSpPr/>
          <p:nvPr/>
        </p:nvSpPr>
        <p:spPr>
          <a:xfrm>
            <a:off x="9331037" y="4733637"/>
            <a:ext cx="6045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Each image resized to </a:t>
            </a: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256 × 256 pixels</a:t>
            </a:r>
            <a:r>
              <a:rPr lang="en-US" sz="1400" dirty="0">
                <a:solidFill>
                  <a:srgbClr val="E0E2E5">
                    <a:alpha val="7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to ensure consistency across the dataset.</a:t>
            </a:r>
            <a:endParaRPr lang="en-US" sz="1600" dirty="0"/>
          </a:p>
        </p:txBody>
      </p:sp>
      <p:sp>
        <p:nvSpPr>
          <p:cNvPr id="1048990" name="Shape 42"/>
          <p:cNvSpPr/>
          <p:nvPr/>
        </p:nvSpPr>
        <p:spPr>
          <a:xfrm>
            <a:off x="8543637" y="5597237"/>
            <a:ext cx="6946900" cy="1066800"/>
          </a:xfrm>
          <a:custGeom>
            <a:avLst/>
            <a:gdLst/>
            <a:ahLst/>
            <a:cxnLst/>
            <a:rect l="l" t="t" r="r" b="b"/>
            <a:pathLst>
              <a:path w="6946900" h="1066800">
                <a:moveTo>
                  <a:pt x="50800" y="0"/>
                </a:moveTo>
                <a:lnTo>
                  <a:pt x="6845298" y="0"/>
                </a:lnTo>
                <a:cubicBezTo>
                  <a:pt x="6901411" y="0"/>
                  <a:pt x="6946900" y="45489"/>
                  <a:pt x="6946900" y="101602"/>
                </a:cubicBezTo>
                <a:lnTo>
                  <a:pt x="6946900" y="965198"/>
                </a:lnTo>
                <a:cubicBezTo>
                  <a:pt x="6946900" y="1021311"/>
                  <a:pt x="6901411" y="1066800"/>
                  <a:pt x="6845298" y="1066800"/>
                </a:cubicBezTo>
                <a:lnTo>
                  <a:pt x="50800" y="1066800"/>
                </a:lnTo>
                <a:cubicBezTo>
                  <a:pt x="22744" y="1066800"/>
                  <a:pt x="0" y="1044056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991" name="Shape 43"/>
          <p:cNvSpPr/>
          <p:nvPr/>
        </p:nvSpPr>
        <p:spPr>
          <a:xfrm>
            <a:off x="8543637" y="5597237"/>
            <a:ext cx="50800" cy="1066800"/>
          </a:xfrm>
          <a:custGeom>
            <a:avLst/>
            <a:gdLst/>
            <a:ahLst/>
            <a:cxnLst/>
            <a:rect l="l" t="t" r="r" b="b"/>
            <a:pathLst>
              <a:path w="50800" h="1066800">
                <a:moveTo>
                  <a:pt x="50800" y="0"/>
                </a:moveTo>
                <a:lnTo>
                  <a:pt x="50800" y="0"/>
                </a:lnTo>
                <a:lnTo>
                  <a:pt x="50800" y="1066800"/>
                </a:lnTo>
                <a:lnTo>
                  <a:pt x="50800" y="1066800"/>
                </a:lnTo>
                <a:cubicBezTo>
                  <a:pt x="22763" y="1066800"/>
                  <a:pt x="0" y="1044037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992" name="Shape 44"/>
          <p:cNvSpPr/>
          <p:nvPr/>
        </p:nvSpPr>
        <p:spPr>
          <a:xfrm>
            <a:off x="8772237" y="585123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E7C88">
              <a:alpha val="30196"/>
            </a:srgbClr>
          </a:solidFill>
        </p:spPr>
      </p:sp>
      <p:sp>
        <p:nvSpPr>
          <p:cNvPr id="1048993" name="Text 45"/>
          <p:cNvSpPr/>
          <p:nvPr/>
        </p:nvSpPr>
        <p:spPr>
          <a:xfrm>
            <a:off x="8922977" y="5927437"/>
            <a:ext cx="19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1048994" name="Text 46"/>
          <p:cNvSpPr/>
          <p:nvPr/>
        </p:nvSpPr>
        <p:spPr>
          <a:xfrm>
            <a:off x="9331037" y="5800437"/>
            <a:ext cx="311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Label Assignment</a:t>
            </a:r>
            <a:endParaRPr lang="en-US" sz="1600" dirty="0"/>
          </a:p>
        </p:txBody>
      </p:sp>
      <p:sp>
        <p:nvSpPr>
          <p:cNvPr id="1048995" name="Text 47"/>
          <p:cNvSpPr/>
          <p:nvPr/>
        </p:nvSpPr>
        <p:spPr>
          <a:xfrm>
            <a:off x="9331037" y="6206837"/>
            <a:ext cx="308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 images → </a:t>
            </a: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</a:t>
            </a:r>
            <a:r>
              <a:rPr lang="en-US" sz="1400" dirty="0">
                <a:solidFill>
                  <a:srgbClr val="E0E2E5">
                    <a:alpha val="7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Blurred images → </a:t>
            </a: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7" name="Shape 0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008" name="Text 1"/>
          <p:cNvSpPr/>
          <p:nvPr/>
        </p:nvSpPr>
        <p:spPr>
          <a:xfrm>
            <a:off x="762000" y="508000"/>
            <a:ext cx="3784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 / Methodology</a:t>
            </a:r>
            <a:endParaRPr lang="en-US" sz="1600" dirty="0"/>
          </a:p>
        </p:txBody>
      </p:sp>
      <p:sp>
        <p:nvSpPr>
          <p:cNvPr id="1049009" name="Text 2"/>
          <p:cNvSpPr/>
          <p:nvPr/>
        </p:nvSpPr>
        <p:spPr>
          <a:xfrm>
            <a:off x="762000" y="812800"/>
            <a:ext cx="3924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049010" name="Text 3"/>
          <p:cNvSpPr/>
          <p:nvPr/>
        </p:nvSpPr>
        <p:spPr>
          <a:xfrm>
            <a:off x="508000" y="1574800"/>
            <a:ext cx="15341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Instead of using raw pixel values, we extract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handcrafted features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from each image to represent its structural and frequency characteristics. These features form a numerical representation used as input to the neural network.</a:t>
            </a:r>
            <a:endParaRPr lang="en-US" sz="1600" dirty="0"/>
          </a:p>
        </p:txBody>
      </p:sp>
      <p:sp>
        <p:nvSpPr>
          <p:cNvPr id="1049011" name="Shape 4"/>
          <p:cNvSpPr/>
          <p:nvPr/>
        </p:nvSpPr>
        <p:spPr>
          <a:xfrm>
            <a:off x="512618" y="2443018"/>
            <a:ext cx="7514936" cy="2536536"/>
          </a:xfrm>
          <a:custGeom>
            <a:avLst/>
            <a:gdLst/>
            <a:ahLst/>
            <a:cxnLst/>
            <a:rect l="l" t="t" r="r" b="b"/>
            <a:pathLst>
              <a:path w="7514936" h="2536536">
                <a:moveTo>
                  <a:pt x="152395" y="0"/>
                </a:moveTo>
                <a:lnTo>
                  <a:pt x="7362541" y="0"/>
                </a:lnTo>
                <a:cubicBezTo>
                  <a:pt x="7446707" y="0"/>
                  <a:pt x="7514936" y="68230"/>
                  <a:pt x="7514936" y="152395"/>
                </a:cubicBezTo>
                <a:lnTo>
                  <a:pt x="7514936" y="2384141"/>
                </a:lnTo>
                <a:cubicBezTo>
                  <a:pt x="7514936" y="2468307"/>
                  <a:pt x="7446707" y="2536536"/>
                  <a:pt x="7362541" y="2536536"/>
                </a:cubicBezTo>
                <a:lnTo>
                  <a:pt x="152395" y="2536536"/>
                </a:lnTo>
                <a:cubicBezTo>
                  <a:pt x="68230" y="2536536"/>
                  <a:pt x="0" y="2468307"/>
                  <a:pt x="0" y="2384141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9012" name="Shape 5"/>
          <p:cNvSpPr/>
          <p:nvPr/>
        </p:nvSpPr>
        <p:spPr>
          <a:xfrm>
            <a:off x="720436" y="265083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9013" name="Text 6"/>
          <p:cNvSpPr/>
          <p:nvPr/>
        </p:nvSpPr>
        <p:spPr>
          <a:xfrm>
            <a:off x="928688" y="2727037"/>
            <a:ext cx="203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1049014" name="Text 7"/>
          <p:cNvSpPr/>
          <p:nvPr/>
        </p:nvSpPr>
        <p:spPr>
          <a:xfrm>
            <a:off x="1380836" y="2727037"/>
            <a:ext cx="2260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Variance of Laplacian</a:t>
            </a:r>
            <a:endParaRPr lang="en-US" sz="1600" dirty="0"/>
          </a:p>
        </p:txBody>
      </p:sp>
      <p:sp>
        <p:nvSpPr>
          <p:cNvPr id="1049015" name="Text 8"/>
          <p:cNvSpPr/>
          <p:nvPr/>
        </p:nvSpPr>
        <p:spPr>
          <a:xfrm>
            <a:off x="720436" y="3311237"/>
            <a:ext cx="7188200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Measures </a:t>
            </a: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edge sharpness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based on edge intensity. The Laplacian operator detects edges by computing the second derivative of image intensity.</a:t>
            </a:r>
            <a:endParaRPr lang="en-US" sz="1600" dirty="0"/>
          </a:p>
        </p:txBody>
      </p:sp>
      <p:sp>
        <p:nvSpPr>
          <p:cNvPr id="1049016" name="Shape 9"/>
          <p:cNvSpPr/>
          <p:nvPr/>
        </p:nvSpPr>
        <p:spPr>
          <a:xfrm>
            <a:off x="725055" y="4046108"/>
            <a:ext cx="7083136" cy="415636"/>
          </a:xfrm>
          <a:custGeom>
            <a:avLst/>
            <a:gdLst/>
            <a:ahLst/>
            <a:cxnLst/>
            <a:rect l="l" t="t" r="r" b="b"/>
            <a:pathLst>
              <a:path w="7083136" h="415636">
                <a:moveTo>
                  <a:pt x="101598" y="0"/>
                </a:moveTo>
                <a:lnTo>
                  <a:pt x="6981538" y="0"/>
                </a:lnTo>
                <a:cubicBezTo>
                  <a:pt x="7037649" y="0"/>
                  <a:pt x="7083136" y="45487"/>
                  <a:pt x="7083136" y="101598"/>
                </a:cubicBezTo>
                <a:lnTo>
                  <a:pt x="7083136" y="314038"/>
                </a:lnTo>
                <a:cubicBezTo>
                  <a:pt x="7083136" y="370149"/>
                  <a:pt x="7037649" y="415636"/>
                  <a:pt x="6981538" y="415636"/>
                </a:cubicBezTo>
                <a:lnTo>
                  <a:pt x="101598" y="415636"/>
                </a:lnTo>
                <a:cubicBezTo>
                  <a:pt x="45487" y="415636"/>
                  <a:pt x="0" y="370149"/>
                  <a:pt x="0" y="31403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9017" name="Text 10"/>
          <p:cNvSpPr/>
          <p:nvPr/>
        </p:nvSpPr>
        <p:spPr>
          <a:xfrm>
            <a:off x="831273" y="4152323"/>
            <a:ext cx="6946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8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cv2.Laplacian(image, cv2.CV_64F).var()</a:t>
            </a:r>
            <a:endParaRPr lang="en-US" sz="1600" dirty="0"/>
          </a:p>
        </p:txBody>
      </p:sp>
      <p:sp>
        <p:nvSpPr>
          <p:cNvPr id="1049018" name="Shape 11"/>
          <p:cNvSpPr/>
          <p:nvPr/>
        </p:nvSpPr>
        <p:spPr>
          <a:xfrm>
            <a:off x="739486" y="45933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019" name="Text 12"/>
          <p:cNvSpPr/>
          <p:nvPr/>
        </p:nvSpPr>
        <p:spPr>
          <a:xfrm>
            <a:off x="1012536" y="4567963"/>
            <a:ext cx="4076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 images → Higher variance | Blurred → Lower variance</a:t>
            </a:r>
            <a:endParaRPr lang="en-US" sz="1600" dirty="0"/>
          </a:p>
        </p:txBody>
      </p:sp>
      <p:sp>
        <p:nvSpPr>
          <p:cNvPr id="1049020" name="Shape 13"/>
          <p:cNvSpPr/>
          <p:nvPr/>
        </p:nvSpPr>
        <p:spPr>
          <a:xfrm>
            <a:off x="512618" y="5191415"/>
            <a:ext cx="7514936" cy="2536536"/>
          </a:xfrm>
          <a:custGeom>
            <a:avLst/>
            <a:gdLst/>
            <a:ahLst/>
            <a:cxnLst/>
            <a:rect l="l" t="t" r="r" b="b"/>
            <a:pathLst>
              <a:path w="7514936" h="2536536">
                <a:moveTo>
                  <a:pt x="152395" y="0"/>
                </a:moveTo>
                <a:lnTo>
                  <a:pt x="7362541" y="0"/>
                </a:lnTo>
                <a:cubicBezTo>
                  <a:pt x="7446707" y="0"/>
                  <a:pt x="7514936" y="68230"/>
                  <a:pt x="7514936" y="152395"/>
                </a:cubicBezTo>
                <a:lnTo>
                  <a:pt x="7514936" y="2384141"/>
                </a:lnTo>
                <a:cubicBezTo>
                  <a:pt x="7514936" y="2468307"/>
                  <a:pt x="7446707" y="2536536"/>
                  <a:pt x="7362541" y="2536536"/>
                </a:cubicBezTo>
                <a:lnTo>
                  <a:pt x="152395" y="2536536"/>
                </a:lnTo>
                <a:cubicBezTo>
                  <a:pt x="68230" y="2536536"/>
                  <a:pt x="0" y="2468307"/>
                  <a:pt x="0" y="2384141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9021" name="Shape 14"/>
          <p:cNvSpPr/>
          <p:nvPr/>
        </p:nvSpPr>
        <p:spPr>
          <a:xfrm>
            <a:off x="720436" y="539923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9022" name="Text 15"/>
          <p:cNvSpPr/>
          <p:nvPr/>
        </p:nvSpPr>
        <p:spPr>
          <a:xfrm>
            <a:off x="907978" y="5475436"/>
            <a:ext cx="241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1049023" name="Text 16"/>
          <p:cNvSpPr/>
          <p:nvPr/>
        </p:nvSpPr>
        <p:spPr>
          <a:xfrm>
            <a:off x="1380836" y="5475436"/>
            <a:ext cx="290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Tenengrad (Sobel Gradient)</a:t>
            </a:r>
            <a:endParaRPr lang="en-US" sz="1600" dirty="0"/>
          </a:p>
        </p:txBody>
      </p:sp>
      <p:sp>
        <p:nvSpPr>
          <p:cNvPr id="1049024" name="Text 17"/>
          <p:cNvSpPr/>
          <p:nvPr/>
        </p:nvSpPr>
        <p:spPr>
          <a:xfrm>
            <a:off x="720436" y="6059636"/>
            <a:ext cx="7188200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Measures image sharpness based on </a:t>
            </a: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gradient magnitude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Uses the Sobel operator to detect edge strength in horizontal and vertical directions.</a:t>
            </a:r>
            <a:endParaRPr lang="en-US" sz="1600" dirty="0"/>
          </a:p>
        </p:txBody>
      </p:sp>
      <p:sp>
        <p:nvSpPr>
          <p:cNvPr id="1049025" name="Shape 18"/>
          <p:cNvSpPr/>
          <p:nvPr/>
        </p:nvSpPr>
        <p:spPr>
          <a:xfrm>
            <a:off x="725055" y="6794505"/>
            <a:ext cx="7083136" cy="415636"/>
          </a:xfrm>
          <a:custGeom>
            <a:avLst/>
            <a:gdLst/>
            <a:ahLst/>
            <a:cxnLst/>
            <a:rect l="l" t="t" r="r" b="b"/>
            <a:pathLst>
              <a:path w="7083136" h="415636">
                <a:moveTo>
                  <a:pt x="101598" y="0"/>
                </a:moveTo>
                <a:lnTo>
                  <a:pt x="6981538" y="0"/>
                </a:lnTo>
                <a:cubicBezTo>
                  <a:pt x="7037649" y="0"/>
                  <a:pt x="7083136" y="45487"/>
                  <a:pt x="7083136" y="101598"/>
                </a:cubicBezTo>
                <a:lnTo>
                  <a:pt x="7083136" y="314038"/>
                </a:lnTo>
                <a:cubicBezTo>
                  <a:pt x="7083136" y="370149"/>
                  <a:pt x="7037649" y="415636"/>
                  <a:pt x="6981538" y="415636"/>
                </a:cubicBezTo>
                <a:lnTo>
                  <a:pt x="101598" y="415636"/>
                </a:lnTo>
                <a:cubicBezTo>
                  <a:pt x="45487" y="415636"/>
                  <a:pt x="0" y="370149"/>
                  <a:pt x="0" y="31403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9026" name="Text 19"/>
          <p:cNvSpPr/>
          <p:nvPr/>
        </p:nvSpPr>
        <p:spPr>
          <a:xfrm>
            <a:off x="831273" y="6900720"/>
            <a:ext cx="6946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A5F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np.sqrt(sobel_x² + sobel_y²)</a:t>
            </a:r>
            <a:endParaRPr lang="en-US" sz="1600" dirty="0"/>
          </a:p>
        </p:txBody>
      </p:sp>
      <p:sp>
        <p:nvSpPr>
          <p:cNvPr id="1049027" name="Shape 20"/>
          <p:cNvSpPr/>
          <p:nvPr/>
        </p:nvSpPr>
        <p:spPr>
          <a:xfrm>
            <a:off x="739486" y="7341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2927" y="2798"/>
                </a:moveTo>
                <a:cubicBezTo>
                  <a:pt x="79206" y="-923"/>
                  <a:pt x="73164" y="-923"/>
                  <a:pt x="69443" y="2798"/>
                </a:cubicBezTo>
                <a:lnTo>
                  <a:pt x="50393" y="21848"/>
                </a:lnTo>
                <a:cubicBezTo>
                  <a:pt x="47655" y="24586"/>
                  <a:pt x="46851" y="28664"/>
                  <a:pt x="48339" y="32236"/>
                </a:cubicBezTo>
                <a:cubicBezTo>
                  <a:pt x="49828" y="35808"/>
                  <a:pt x="53310" y="38100"/>
                  <a:pt x="57150" y="38100"/>
                </a:cubicBezTo>
                <a:lnTo>
                  <a:pt x="66675" y="38100"/>
                </a:lnTo>
                <a:lnTo>
                  <a:pt x="66675" y="66675"/>
                </a:lnTo>
                <a:lnTo>
                  <a:pt x="38100" y="66675"/>
                </a:lnTo>
                <a:lnTo>
                  <a:pt x="38100" y="57150"/>
                </a:lnTo>
                <a:cubicBezTo>
                  <a:pt x="38100" y="53310"/>
                  <a:pt x="35778" y="49828"/>
                  <a:pt x="32206" y="48339"/>
                </a:cubicBezTo>
                <a:cubicBezTo>
                  <a:pt x="28635" y="46851"/>
                  <a:pt x="24557" y="47685"/>
                  <a:pt x="21818" y="50393"/>
                </a:cubicBezTo>
                <a:lnTo>
                  <a:pt x="2768" y="69443"/>
                </a:lnTo>
                <a:cubicBezTo>
                  <a:pt x="-952" y="73164"/>
                  <a:pt x="-952" y="79206"/>
                  <a:pt x="2768" y="82927"/>
                </a:cubicBezTo>
                <a:lnTo>
                  <a:pt x="21818" y="101977"/>
                </a:lnTo>
                <a:cubicBezTo>
                  <a:pt x="24557" y="104715"/>
                  <a:pt x="28635" y="105519"/>
                  <a:pt x="32206" y="104031"/>
                </a:cubicBezTo>
                <a:cubicBezTo>
                  <a:pt x="35778" y="102543"/>
                  <a:pt x="38100" y="99090"/>
                  <a:pt x="38100" y="95250"/>
                </a:cubicBezTo>
                <a:lnTo>
                  <a:pt x="38100" y="85725"/>
                </a:lnTo>
                <a:lnTo>
                  <a:pt x="66675" y="85725"/>
                </a:lnTo>
                <a:lnTo>
                  <a:pt x="66675" y="114300"/>
                </a:lnTo>
                <a:lnTo>
                  <a:pt x="57150" y="114300"/>
                </a:lnTo>
                <a:cubicBezTo>
                  <a:pt x="53310" y="114300"/>
                  <a:pt x="49828" y="116622"/>
                  <a:pt x="48339" y="120194"/>
                </a:cubicBezTo>
                <a:cubicBezTo>
                  <a:pt x="46851" y="123765"/>
                  <a:pt x="47685" y="127843"/>
                  <a:pt x="50393" y="130582"/>
                </a:cubicBezTo>
                <a:lnTo>
                  <a:pt x="69443" y="149632"/>
                </a:lnTo>
                <a:cubicBezTo>
                  <a:pt x="73164" y="153353"/>
                  <a:pt x="79206" y="153353"/>
                  <a:pt x="82927" y="149632"/>
                </a:cubicBezTo>
                <a:lnTo>
                  <a:pt x="101977" y="130582"/>
                </a:lnTo>
                <a:cubicBezTo>
                  <a:pt x="104715" y="127843"/>
                  <a:pt x="105519" y="123765"/>
                  <a:pt x="104031" y="120194"/>
                </a:cubicBezTo>
                <a:cubicBezTo>
                  <a:pt x="102543" y="116622"/>
                  <a:pt x="99090" y="114300"/>
                  <a:pt x="95250" y="114300"/>
                </a:cubicBezTo>
                <a:lnTo>
                  <a:pt x="85725" y="114300"/>
                </a:lnTo>
                <a:lnTo>
                  <a:pt x="85725" y="85725"/>
                </a:lnTo>
                <a:lnTo>
                  <a:pt x="114300" y="85725"/>
                </a:lnTo>
                <a:lnTo>
                  <a:pt x="114300" y="95250"/>
                </a:lnTo>
                <a:cubicBezTo>
                  <a:pt x="114300" y="99090"/>
                  <a:pt x="116622" y="102572"/>
                  <a:pt x="120194" y="104061"/>
                </a:cubicBezTo>
                <a:cubicBezTo>
                  <a:pt x="123765" y="105549"/>
                  <a:pt x="127843" y="104715"/>
                  <a:pt x="130582" y="102007"/>
                </a:cubicBezTo>
                <a:lnTo>
                  <a:pt x="149632" y="82957"/>
                </a:lnTo>
                <a:cubicBezTo>
                  <a:pt x="153353" y="79236"/>
                  <a:pt x="153353" y="73194"/>
                  <a:pt x="149632" y="69473"/>
                </a:cubicBezTo>
                <a:lnTo>
                  <a:pt x="130582" y="50423"/>
                </a:lnTo>
                <a:cubicBezTo>
                  <a:pt x="127843" y="47685"/>
                  <a:pt x="123765" y="46881"/>
                  <a:pt x="120194" y="48369"/>
                </a:cubicBezTo>
                <a:cubicBezTo>
                  <a:pt x="116622" y="49857"/>
                  <a:pt x="114300" y="53310"/>
                  <a:pt x="114300" y="57150"/>
                </a:cubicBezTo>
                <a:lnTo>
                  <a:pt x="114300" y="66675"/>
                </a:lnTo>
                <a:lnTo>
                  <a:pt x="85725" y="66675"/>
                </a:lnTo>
                <a:lnTo>
                  <a:pt x="85725" y="38100"/>
                </a:lnTo>
                <a:lnTo>
                  <a:pt x="95250" y="38100"/>
                </a:lnTo>
                <a:cubicBezTo>
                  <a:pt x="99090" y="38100"/>
                  <a:pt x="102572" y="35778"/>
                  <a:pt x="104061" y="32206"/>
                </a:cubicBezTo>
                <a:cubicBezTo>
                  <a:pt x="105549" y="28635"/>
                  <a:pt x="104715" y="24557"/>
                  <a:pt x="102007" y="21818"/>
                </a:cubicBezTo>
                <a:lnTo>
                  <a:pt x="82957" y="2768"/>
                </a:ln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9028" name="Text 21"/>
          <p:cNvSpPr/>
          <p:nvPr/>
        </p:nvSpPr>
        <p:spPr>
          <a:xfrm>
            <a:off x="1012536" y="7316353"/>
            <a:ext cx="2844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Captures edge strength in both directions</a:t>
            </a:r>
            <a:endParaRPr lang="en-US" sz="1600" dirty="0"/>
          </a:p>
        </p:txBody>
      </p:sp>
      <p:sp>
        <p:nvSpPr>
          <p:cNvPr id="1049029" name="Shape 22"/>
          <p:cNvSpPr/>
          <p:nvPr/>
        </p:nvSpPr>
        <p:spPr>
          <a:xfrm>
            <a:off x="8234218" y="2443018"/>
            <a:ext cx="7514936" cy="2536536"/>
          </a:xfrm>
          <a:custGeom>
            <a:avLst/>
            <a:gdLst/>
            <a:ahLst/>
            <a:cxnLst/>
            <a:rect l="l" t="t" r="r" b="b"/>
            <a:pathLst>
              <a:path w="7514936" h="2536536">
                <a:moveTo>
                  <a:pt x="152395" y="0"/>
                </a:moveTo>
                <a:lnTo>
                  <a:pt x="7362541" y="0"/>
                </a:lnTo>
                <a:cubicBezTo>
                  <a:pt x="7446707" y="0"/>
                  <a:pt x="7514936" y="68230"/>
                  <a:pt x="7514936" y="152395"/>
                </a:cubicBezTo>
                <a:lnTo>
                  <a:pt x="7514936" y="2384141"/>
                </a:lnTo>
                <a:cubicBezTo>
                  <a:pt x="7514936" y="2468307"/>
                  <a:pt x="7446707" y="2536536"/>
                  <a:pt x="7362541" y="2536536"/>
                </a:cubicBezTo>
                <a:lnTo>
                  <a:pt x="152395" y="2536536"/>
                </a:lnTo>
                <a:cubicBezTo>
                  <a:pt x="68230" y="2536536"/>
                  <a:pt x="0" y="2468307"/>
                  <a:pt x="0" y="2384141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9030" name="Shape 23"/>
          <p:cNvSpPr/>
          <p:nvPr/>
        </p:nvSpPr>
        <p:spPr>
          <a:xfrm>
            <a:off x="8442037" y="265083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7C88">
              <a:alpha val="30196"/>
            </a:srgbClr>
          </a:solidFill>
        </p:spPr>
      </p:sp>
      <p:sp>
        <p:nvSpPr>
          <p:cNvPr id="1049031" name="Text 24"/>
          <p:cNvSpPr/>
          <p:nvPr/>
        </p:nvSpPr>
        <p:spPr>
          <a:xfrm>
            <a:off x="8628568" y="2727037"/>
            <a:ext cx="25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1049032" name="Text 25"/>
          <p:cNvSpPr/>
          <p:nvPr/>
        </p:nvSpPr>
        <p:spPr>
          <a:xfrm>
            <a:off x="9102437" y="2727037"/>
            <a:ext cx="166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Image Contrast</a:t>
            </a:r>
            <a:endParaRPr lang="en-US" sz="1600" dirty="0"/>
          </a:p>
        </p:txBody>
      </p:sp>
      <p:sp>
        <p:nvSpPr>
          <p:cNvPr id="1049033" name="Text 26"/>
          <p:cNvSpPr/>
          <p:nvPr/>
        </p:nvSpPr>
        <p:spPr>
          <a:xfrm>
            <a:off x="8442037" y="3311237"/>
            <a:ext cx="7188200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Measures </a:t>
            </a: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intensity variation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within an image. Blurred images smooth intensity transitions, reducing contrast variation.</a:t>
            </a:r>
            <a:endParaRPr lang="en-US" sz="1600" dirty="0"/>
          </a:p>
        </p:txBody>
      </p:sp>
      <p:sp>
        <p:nvSpPr>
          <p:cNvPr id="1049034" name="Shape 27"/>
          <p:cNvSpPr/>
          <p:nvPr/>
        </p:nvSpPr>
        <p:spPr>
          <a:xfrm>
            <a:off x="8446655" y="4046108"/>
            <a:ext cx="7083136" cy="415636"/>
          </a:xfrm>
          <a:custGeom>
            <a:avLst/>
            <a:gdLst/>
            <a:ahLst/>
            <a:cxnLst/>
            <a:rect l="l" t="t" r="r" b="b"/>
            <a:pathLst>
              <a:path w="7083136" h="415636">
                <a:moveTo>
                  <a:pt x="101598" y="0"/>
                </a:moveTo>
                <a:lnTo>
                  <a:pt x="6981538" y="0"/>
                </a:lnTo>
                <a:cubicBezTo>
                  <a:pt x="7037649" y="0"/>
                  <a:pt x="7083136" y="45487"/>
                  <a:pt x="7083136" y="101598"/>
                </a:cubicBezTo>
                <a:lnTo>
                  <a:pt x="7083136" y="314038"/>
                </a:lnTo>
                <a:cubicBezTo>
                  <a:pt x="7083136" y="370149"/>
                  <a:pt x="7037649" y="415636"/>
                  <a:pt x="6981538" y="415636"/>
                </a:cubicBezTo>
                <a:lnTo>
                  <a:pt x="101598" y="415636"/>
                </a:lnTo>
                <a:cubicBezTo>
                  <a:pt x="45487" y="415636"/>
                  <a:pt x="0" y="370149"/>
                  <a:pt x="0" y="31403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9035" name="Text 28"/>
          <p:cNvSpPr/>
          <p:nvPr/>
        </p:nvSpPr>
        <p:spPr>
          <a:xfrm>
            <a:off x="8552873" y="4152323"/>
            <a:ext cx="6946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E7C8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np.std(image)</a:t>
            </a:r>
            <a:endParaRPr lang="en-US" sz="1600" dirty="0"/>
          </a:p>
        </p:txBody>
      </p:sp>
      <p:sp>
        <p:nvSpPr>
          <p:cNvPr id="1049036" name="Shape 29"/>
          <p:cNvSpPr/>
          <p:nvPr/>
        </p:nvSpPr>
        <p:spPr>
          <a:xfrm>
            <a:off x="8461087" y="45933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48"/>
                  <a:pt x="107752" y="19050"/>
                  <a:pt x="76200" y="19050"/>
                </a:cubicBezTo>
                <a:lnTo>
                  <a:pt x="76200" y="133350"/>
                </a:lnTo>
                <a:cubicBezTo>
                  <a:pt x="107752" y="133350"/>
                  <a:pt x="133350" y="10775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9037" name="Text 30"/>
          <p:cNvSpPr/>
          <p:nvPr/>
        </p:nvSpPr>
        <p:spPr>
          <a:xfrm>
            <a:off x="8734137" y="4567963"/>
            <a:ext cx="3213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std → Higher contrast → Sharper image</a:t>
            </a:r>
            <a:endParaRPr lang="en-US" sz="1600" dirty="0"/>
          </a:p>
        </p:txBody>
      </p:sp>
      <p:sp>
        <p:nvSpPr>
          <p:cNvPr id="1049038" name="Shape 31"/>
          <p:cNvSpPr/>
          <p:nvPr/>
        </p:nvSpPr>
        <p:spPr>
          <a:xfrm>
            <a:off x="8234218" y="5191415"/>
            <a:ext cx="7514936" cy="2536536"/>
          </a:xfrm>
          <a:custGeom>
            <a:avLst/>
            <a:gdLst/>
            <a:ahLst/>
            <a:cxnLst/>
            <a:rect l="l" t="t" r="r" b="b"/>
            <a:pathLst>
              <a:path w="7514936" h="2536536">
                <a:moveTo>
                  <a:pt x="152395" y="0"/>
                </a:moveTo>
                <a:lnTo>
                  <a:pt x="7362541" y="0"/>
                </a:lnTo>
                <a:cubicBezTo>
                  <a:pt x="7446707" y="0"/>
                  <a:pt x="7514936" y="68230"/>
                  <a:pt x="7514936" y="152395"/>
                </a:cubicBezTo>
                <a:lnTo>
                  <a:pt x="7514936" y="2384141"/>
                </a:lnTo>
                <a:cubicBezTo>
                  <a:pt x="7514936" y="2468307"/>
                  <a:pt x="7446707" y="2536536"/>
                  <a:pt x="7362541" y="2536536"/>
                </a:cubicBezTo>
                <a:lnTo>
                  <a:pt x="152395" y="2536536"/>
                </a:lnTo>
                <a:cubicBezTo>
                  <a:pt x="68230" y="2536536"/>
                  <a:pt x="0" y="2468307"/>
                  <a:pt x="0" y="2384141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9039" name="Shape 32"/>
          <p:cNvSpPr/>
          <p:nvPr/>
        </p:nvSpPr>
        <p:spPr>
          <a:xfrm>
            <a:off x="8442037" y="539923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9040" name="Text 33"/>
          <p:cNvSpPr/>
          <p:nvPr/>
        </p:nvSpPr>
        <p:spPr>
          <a:xfrm>
            <a:off x="8628712" y="5475436"/>
            <a:ext cx="25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1049041" name="Text 34"/>
          <p:cNvSpPr/>
          <p:nvPr/>
        </p:nvSpPr>
        <p:spPr>
          <a:xfrm>
            <a:off x="9102437" y="5475436"/>
            <a:ext cx="3136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High-Frequency Energy (FFT)</a:t>
            </a:r>
            <a:endParaRPr lang="en-US" sz="1600" dirty="0"/>
          </a:p>
        </p:txBody>
      </p:sp>
      <p:sp>
        <p:nvSpPr>
          <p:cNvPr id="1049042" name="Text 35"/>
          <p:cNvSpPr/>
          <p:nvPr/>
        </p:nvSpPr>
        <p:spPr>
          <a:xfrm>
            <a:off x="8442037" y="6059636"/>
            <a:ext cx="7188200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Captures </a:t>
            </a: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frequency-domain sharpness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using Fast Fourier Transform. Sharp images contain strong high-frequency components (edges and fine details).</a:t>
            </a:r>
            <a:endParaRPr lang="en-US" sz="1600" dirty="0"/>
          </a:p>
        </p:txBody>
      </p:sp>
      <p:sp>
        <p:nvSpPr>
          <p:cNvPr id="1049043" name="Shape 36"/>
          <p:cNvSpPr/>
          <p:nvPr/>
        </p:nvSpPr>
        <p:spPr>
          <a:xfrm>
            <a:off x="8446655" y="6794505"/>
            <a:ext cx="7083136" cy="415636"/>
          </a:xfrm>
          <a:custGeom>
            <a:avLst/>
            <a:gdLst/>
            <a:ahLst/>
            <a:cxnLst/>
            <a:rect l="l" t="t" r="r" b="b"/>
            <a:pathLst>
              <a:path w="7083136" h="415636">
                <a:moveTo>
                  <a:pt x="101598" y="0"/>
                </a:moveTo>
                <a:lnTo>
                  <a:pt x="6981538" y="0"/>
                </a:lnTo>
                <a:cubicBezTo>
                  <a:pt x="7037649" y="0"/>
                  <a:pt x="7083136" y="45487"/>
                  <a:pt x="7083136" y="101598"/>
                </a:cubicBezTo>
                <a:lnTo>
                  <a:pt x="7083136" y="314038"/>
                </a:lnTo>
                <a:cubicBezTo>
                  <a:pt x="7083136" y="370149"/>
                  <a:pt x="7037649" y="415636"/>
                  <a:pt x="6981538" y="415636"/>
                </a:cubicBezTo>
                <a:lnTo>
                  <a:pt x="101598" y="415636"/>
                </a:lnTo>
                <a:cubicBezTo>
                  <a:pt x="45487" y="415636"/>
                  <a:pt x="0" y="370149"/>
                  <a:pt x="0" y="31403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9044" name="Text 37"/>
          <p:cNvSpPr/>
          <p:nvPr/>
        </p:nvSpPr>
        <p:spPr>
          <a:xfrm>
            <a:off x="8552873" y="6900720"/>
            <a:ext cx="6946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8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np.fft.fft2(image)</a:t>
            </a:r>
            <a:endParaRPr lang="en-US" sz="1600" dirty="0"/>
          </a:p>
        </p:txBody>
      </p:sp>
      <p:sp>
        <p:nvSpPr>
          <p:cNvPr id="1049045" name="Shape 38"/>
          <p:cNvSpPr/>
          <p:nvPr/>
        </p:nvSpPr>
        <p:spPr>
          <a:xfrm>
            <a:off x="8461087" y="7341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28575"/>
                </a:moveTo>
                <a:cubicBezTo>
                  <a:pt x="19050" y="23306"/>
                  <a:pt x="23306" y="19050"/>
                  <a:pt x="28575" y="19050"/>
                </a:cubicBezTo>
                <a:lnTo>
                  <a:pt x="76200" y="19050"/>
                </a:lnTo>
                <a:cubicBezTo>
                  <a:pt x="81469" y="19050"/>
                  <a:pt x="85725" y="23306"/>
                  <a:pt x="85725" y="28575"/>
                </a:cubicBezTo>
                <a:lnTo>
                  <a:pt x="85725" y="114300"/>
                </a:lnTo>
                <a:lnTo>
                  <a:pt x="114300" y="114300"/>
                </a:lnTo>
                <a:lnTo>
                  <a:pt x="114300" y="76200"/>
                </a:lnTo>
                <a:cubicBezTo>
                  <a:pt x="114300" y="70931"/>
                  <a:pt x="118556" y="66675"/>
                  <a:pt x="12382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133350" y="85725"/>
                </a:lnTo>
                <a:lnTo>
                  <a:pt x="133350" y="123825"/>
                </a:lnTo>
                <a:cubicBezTo>
                  <a:pt x="133350" y="129094"/>
                  <a:pt x="129094" y="133350"/>
                  <a:pt x="123825" y="133350"/>
                </a:cubicBezTo>
                <a:lnTo>
                  <a:pt x="76200" y="133350"/>
                </a:lnTo>
                <a:cubicBezTo>
                  <a:pt x="70931" y="133350"/>
                  <a:pt x="66675" y="129094"/>
                  <a:pt x="66675" y="123825"/>
                </a:cubicBezTo>
                <a:lnTo>
                  <a:pt x="66675" y="38100"/>
                </a:lnTo>
                <a:lnTo>
                  <a:pt x="38100" y="38100"/>
                </a:lnTo>
                <a:lnTo>
                  <a:pt x="38100" y="76200"/>
                </a:lnTo>
                <a:cubicBezTo>
                  <a:pt x="38100" y="81469"/>
                  <a:pt x="33844" y="85725"/>
                  <a:pt x="2857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19050" y="66675"/>
                </a:lnTo>
                <a:lnTo>
                  <a:pt x="19050" y="28575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046" name="Text 39"/>
          <p:cNvSpPr/>
          <p:nvPr/>
        </p:nvSpPr>
        <p:spPr>
          <a:xfrm>
            <a:off x="8734137" y="7316353"/>
            <a:ext cx="3086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Blur suppresses high-frequency components</a:t>
            </a:r>
            <a:endParaRPr lang="en-US" sz="1600" dirty="0"/>
          </a:p>
        </p:txBody>
      </p:sp>
      <p:sp>
        <p:nvSpPr>
          <p:cNvPr id="1049047" name="Shape 40"/>
          <p:cNvSpPr/>
          <p:nvPr/>
        </p:nvSpPr>
        <p:spPr>
          <a:xfrm>
            <a:off x="512618" y="7939811"/>
            <a:ext cx="15236536" cy="568036"/>
          </a:xfrm>
          <a:custGeom>
            <a:avLst/>
            <a:gdLst/>
            <a:ahLst/>
            <a:cxnLst/>
            <a:rect l="l" t="t" r="r" b="b"/>
            <a:pathLst>
              <a:path w="15236536" h="568036">
                <a:moveTo>
                  <a:pt x="101599" y="0"/>
                </a:moveTo>
                <a:lnTo>
                  <a:pt x="15134937" y="0"/>
                </a:lnTo>
                <a:cubicBezTo>
                  <a:pt x="15191049" y="0"/>
                  <a:pt x="15236536" y="45487"/>
                  <a:pt x="15236536" y="101599"/>
                </a:cubicBezTo>
                <a:lnTo>
                  <a:pt x="15236536" y="466437"/>
                </a:lnTo>
                <a:cubicBezTo>
                  <a:pt x="15236536" y="522549"/>
                  <a:pt x="15191049" y="568036"/>
                  <a:pt x="15134937" y="568036"/>
                </a:cubicBezTo>
                <a:lnTo>
                  <a:pt x="101599" y="568036"/>
                </a:lnTo>
                <a:cubicBezTo>
                  <a:pt x="45525" y="568036"/>
                  <a:pt x="0" y="522511"/>
                  <a:pt x="0" y="466437"/>
                </a:cubicBezTo>
                <a:lnTo>
                  <a:pt x="0" y="101599"/>
                </a:lnTo>
                <a:cubicBezTo>
                  <a:pt x="0" y="45487"/>
                  <a:pt x="45487" y="0"/>
                  <a:pt x="101599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9048" name="Shape 41"/>
          <p:cNvSpPr/>
          <p:nvPr/>
        </p:nvSpPr>
        <p:spPr>
          <a:xfrm>
            <a:off x="2820194" y="8133773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885" y="79350"/>
                </a:moveTo>
                <a:cubicBezTo>
                  <a:pt x="27503" y="47054"/>
                  <a:pt x="55319" y="22225"/>
                  <a:pt x="88900" y="22225"/>
                </a:cubicBezTo>
                <a:cubicBezTo>
                  <a:pt x="107305" y="22225"/>
                  <a:pt x="123974" y="29691"/>
                  <a:pt x="136059" y="41741"/>
                </a:cubicBezTo>
                <a:cubicBezTo>
                  <a:pt x="136128" y="41811"/>
                  <a:pt x="136198" y="41880"/>
                  <a:pt x="136267" y="41950"/>
                </a:cubicBezTo>
                <a:lnTo>
                  <a:pt x="138906" y="44450"/>
                </a:lnTo>
                <a:lnTo>
                  <a:pt x="122272" y="44450"/>
                </a:lnTo>
                <a:cubicBezTo>
                  <a:pt x="116126" y="44450"/>
                  <a:pt x="111160" y="49416"/>
                  <a:pt x="111160" y="55563"/>
                </a:cubicBezTo>
                <a:cubicBezTo>
                  <a:pt x="111160" y="61709"/>
                  <a:pt x="116126" y="66675"/>
                  <a:pt x="122272" y="66675"/>
                </a:cubicBezTo>
                <a:lnTo>
                  <a:pt x="166722" y="66675"/>
                </a:lnTo>
                <a:cubicBezTo>
                  <a:pt x="172869" y="66675"/>
                  <a:pt x="177835" y="61709"/>
                  <a:pt x="177835" y="55563"/>
                </a:cubicBezTo>
                <a:lnTo>
                  <a:pt x="177835" y="11112"/>
                </a:lnTo>
                <a:cubicBezTo>
                  <a:pt x="177835" y="4966"/>
                  <a:pt x="172869" y="0"/>
                  <a:pt x="166722" y="0"/>
                </a:cubicBezTo>
                <a:cubicBezTo>
                  <a:pt x="160576" y="0"/>
                  <a:pt x="155610" y="4966"/>
                  <a:pt x="155610" y="11112"/>
                </a:cubicBezTo>
                <a:lnTo>
                  <a:pt x="155610" y="29656"/>
                </a:lnTo>
                <a:lnTo>
                  <a:pt x="151686" y="25941"/>
                </a:lnTo>
                <a:cubicBezTo>
                  <a:pt x="135607" y="9932"/>
                  <a:pt x="113382" y="0"/>
                  <a:pt x="88900" y="0"/>
                </a:cubicBezTo>
                <a:cubicBezTo>
                  <a:pt x="44103" y="0"/>
                  <a:pt x="7049" y="33129"/>
                  <a:pt x="903" y="76225"/>
                </a:cubicBezTo>
                <a:cubicBezTo>
                  <a:pt x="35" y="82302"/>
                  <a:pt x="4237" y="87928"/>
                  <a:pt x="10314" y="88796"/>
                </a:cubicBezTo>
                <a:cubicBezTo>
                  <a:pt x="16391" y="89664"/>
                  <a:pt x="22017" y="85427"/>
                  <a:pt x="22885" y="79385"/>
                </a:cubicBezTo>
                <a:close/>
                <a:moveTo>
                  <a:pt x="176897" y="101575"/>
                </a:moveTo>
                <a:cubicBezTo>
                  <a:pt x="177765" y="95498"/>
                  <a:pt x="173529" y="89872"/>
                  <a:pt x="167486" y="89004"/>
                </a:cubicBezTo>
                <a:cubicBezTo>
                  <a:pt x="161444" y="88136"/>
                  <a:pt x="155783" y="92373"/>
                  <a:pt x="154915" y="98415"/>
                </a:cubicBezTo>
                <a:cubicBezTo>
                  <a:pt x="150297" y="130711"/>
                  <a:pt x="122481" y="155540"/>
                  <a:pt x="88900" y="155540"/>
                </a:cubicBezTo>
                <a:cubicBezTo>
                  <a:pt x="70495" y="155540"/>
                  <a:pt x="53826" y="148074"/>
                  <a:pt x="41741" y="136024"/>
                </a:cubicBezTo>
                <a:cubicBezTo>
                  <a:pt x="41672" y="135954"/>
                  <a:pt x="41602" y="135885"/>
                  <a:pt x="41533" y="135816"/>
                </a:cubicBezTo>
                <a:lnTo>
                  <a:pt x="38894" y="133315"/>
                </a:lnTo>
                <a:lnTo>
                  <a:pt x="55528" y="133315"/>
                </a:lnTo>
                <a:cubicBezTo>
                  <a:pt x="61674" y="133315"/>
                  <a:pt x="66640" y="128349"/>
                  <a:pt x="66640" y="122203"/>
                </a:cubicBezTo>
                <a:cubicBezTo>
                  <a:pt x="66640" y="116056"/>
                  <a:pt x="61674" y="111090"/>
                  <a:pt x="55528" y="111090"/>
                </a:cubicBezTo>
                <a:lnTo>
                  <a:pt x="11112" y="111125"/>
                </a:lnTo>
                <a:cubicBezTo>
                  <a:pt x="8161" y="111125"/>
                  <a:pt x="5313" y="112306"/>
                  <a:pt x="3230" y="114424"/>
                </a:cubicBezTo>
                <a:cubicBezTo>
                  <a:pt x="1146" y="116542"/>
                  <a:pt x="-35" y="119355"/>
                  <a:pt x="0" y="122342"/>
                </a:cubicBezTo>
                <a:lnTo>
                  <a:pt x="347" y="166444"/>
                </a:lnTo>
                <a:cubicBezTo>
                  <a:pt x="382" y="172591"/>
                  <a:pt x="5417" y="177522"/>
                  <a:pt x="11564" y="177453"/>
                </a:cubicBezTo>
                <a:cubicBezTo>
                  <a:pt x="17711" y="177383"/>
                  <a:pt x="22642" y="172383"/>
                  <a:pt x="22572" y="166236"/>
                </a:cubicBezTo>
                <a:lnTo>
                  <a:pt x="22433" y="148352"/>
                </a:lnTo>
                <a:lnTo>
                  <a:pt x="26149" y="151859"/>
                </a:lnTo>
                <a:cubicBezTo>
                  <a:pt x="42228" y="167868"/>
                  <a:pt x="64418" y="177800"/>
                  <a:pt x="88900" y="177800"/>
                </a:cubicBezTo>
                <a:cubicBezTo>
                  <a:pt x="133697" y="177800"/>
                  <a:pt x="170751" y="144671"/>
                  <a:pt x="176897" y="101575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049" name="Text 42"/>
          <p:cNvSpPr/>
          <p:nvPr/>
        </p:nvSpPr>
        <p:spPr>
          <a:xfrm>
            <a:off x="955386" y="8096827"/>
            <a:ext cx="14681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Vector: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Each image is represented as a 4-dimensional vector [Laplacian, Tenengrad, Contrast, FFT] → Input to MLP classifier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3" name="Shape 0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054" name="Text 1"/>
          <p:cNvSpPr/>
          <p:nvPr/>
        </p:nvSpPr>
        <p:spPr>
          <a:xfrm>
            <a:off x="762000" y="508000"/>
            <a:ext cx="6146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 / Methodology</a:t>
            </a:r>
            <a:endParaRPr lang="en-US" sz="1600" dirty="0"/>
          </a:p>
        </p:txBody>
      </p:sp>
      <p:sp>
        <p:nvSpPr>
          <p:cNvPr id="1049055" name="Text 2"/>
          <p:cNvSpPr/>
          <p:nvPr/>
        </p:nvSpPr>
        <p:spPr>
          <a:xfrm>
            <a:off x="762000" y="812800"/>
            <a:ext cx="6286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Model Architecture &amp; Training</a:t>
            </a:r>
            <a:endParaRPr lang="en-US" sz="1600" dirty="0"/>
          </a:p>
        </p:txBody>
      </p:sp>
      <p:sp>
        <p:nvSpPr>
          <p:cNvPr id="1049056" name="Shape 3"/>
          <p:cNvSpPr/>
          <p:nvPr/>
        </p:nvSpPr>
        <p:spPr>
          <a:xfrm>
            <a:off x="512618" y="1579418"/>
            <a:ext cx="9038936" cy="6968836"/>
          </a:xfrm>
          <a:custGeom>
            <a:avLst/>
            <a:gdLst/>
            <a:ahLst/>
            <a:cxnLst/>
            <a:rect l="l" t="t" r="r" b="b"/>
            <a:pathLst>
              <a:path w="9038936" h="6968836">
                <a:moveTo>
                  <a:pt x="152408" y="0"/>
                </a:moveTo>
                <a:lnTo>
                  <a:pt x="8886528" y="0"/>
                </a:lnTo>
                <a:cubicBezTo>
                  <a:pt x="8970701" y="0"/>
                  <a:pt x="9038936" y="68236"/>
                  <a:pt x="9038936" y="152408"/>
                </a:cubicBezTo>
                <a:lnTo>
                  <a:pt x="9038936" y="6816428"/>
                </a:lnTo>
                <a:cubicBezTo>
                  <a:pt x="9038936" y="6900601"/>
                  <a:pt x="8970701" y="6968836"/>
                  <a:pt x="8886528" y="6968836"/>
                </a:cubicBezTo>
                <a:lnTo>
                  <a:pt x="152408" y="6968836"/>
                </a:lnTo>
                <a:cubicBezTo>
                  <a:pt x="68236" y="6968836"/>
                  <a:pt x="0" y="6900601"/>
                  <a:pt x="0" y="6816428"/>
                </a:cubicBezTo>
                <a:lnTo>
                  <a:pt x="0" y="152408"/>
                </a:lnTo>
                <a:cubicBezTo>
                  <a:pt x="0" y="68236"/>
                  <a:pt x="68236" y="0"/>
                  <a:pt x="152408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9057" name="Shape 4"/>
          <p:cNvSpPr/>
          <p:nvPr/>
        </p:nvSpPr>
        <p:spPr>
          <a:xfrm>
            <a:off x="771236" y="1838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9058" name="Shape 5"/>
          <p:cNvSpPr/>
          <p:nvPr/>
        </p:nvSpPr>
        <p:spPr>
          <a:xfrm>
            <a:off x="923636" y="19904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059" name="Text 6"/>
          <p:cNvSpPr/>
          <p:nvPr/>
        </p:nvSpPr>
        <p:spPr>
          <a:xfrm>
            <a:off x="1533236" y="1939640"/>
            <a:ext cx="2514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MLP Architecture</a:t>
            </a:r>
            <a:endParaRPr lang="en-US" sz="1600" dirty="0"/>
          </a:p>
        </p:txBody>
      </p:sp>
      <p:sp>
        <p:nvSpPr>
          <p:cNvPr id="1049060" name="Shape 7"/>
          <p:cNvSpPr/>
          <p:nvPr/>
        </p:nvSpPr>
        <p:spPr>
          <a:xfrm>
            <a:off x="796636" y="2650840"/>
            <a:ext cx="8496300" cy="914400"/>
          </a:xfrm>
          <a:custGeom>
            <a:avLst/>
            <a:gdLst/>
            <a:ahLst/>
            <a:cxnLst/>
            <a:rect l="l" t="t" r="r" b="b"/>
            <a:pathLst>
              <a:path w="8496300" h="914400">
                <a:moveTo>
                  <a:pt x="50800" y="0"/>
                </a:moveTo>
                <a:lnTo>
                  <a:pt x="8394701" y="0"/>
                </a:lnTo>
                <a:cubicBezTo>
                  <a:pt x="8450813" y="0"/>
                  <a:pt x="8496300" y="45487"/>
                  <a:pt x="8496300" y="101599"/>
                </a:cubicBezTo>
                <a:lnTo>
                  <a:pt x="8496300" y="812801"/>
                </a:lnTo>
                <a:cubicBezTo>
                  <a:pt x="8496300" y="868913"/>
                  <a:pt x="8450813" y="914400"/>
                  <a:pt x="83947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9061" name="Shape 8"/>
          <p:cNvSpPr/>
          <p:nvPr/>
        </p:nvSpPr>
        <p:spPr>
          <a:xfrm>
            <a:off x="796636" y="265084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062" name="Text 9"/>
          <p:cNvSpPr/>
          <p:nvPr/>
        </p:nvSpPr>
        <p:spPr>
          <a:xfrm>
            <a:off x="974436" y="2803240"/>
            <a:ext cx="1892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1049063" name="Text 10"/>
          <p:cNvSpPr/>
          <p:nvPr/>
        </p:nvSpPr>
        <p:spPr>
          <a:xfrm>
            <a:off x="974436" y="3158840"/>
            <a:ext cx="186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 handcrafted features</a:t>
            </a:r>
            <a:endParaRPr lang="en-US" sz="1600" dirty="0"/>
          </a:p>
        </p:txBody>
      </p:sp>
      <p:sp>
        <p:nvSpPr>
          <p:cNvPr id="1049064" name="Text 11"/>
          <p:cNvSpPr/>
          <p:nvPr/>
        </p:nvSpPr>
        <p:spPr>
          <a:xfrm>
            <a:off x="8570768" y="285404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Shape</a:t>
            </a:r>
            <a:endParaRPr lang="en-US" sz="1600" dirty="0"/>
          </a:p>
        </p:txBody>
      </p:sp>
      <p:sp>
        <p:nvSpPr>
          <p:cNvPr id="1049065" name="Text 12"/>
          <p:cNvSpPr/>
          <p:nvPr/>
        </p:nvSpPr>
        <p:spPr>
          <a:xfrm>
            <a:off x="8545368" y="3057240"/>
            <a:ext cx="584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b="1" dirty="0">
                <a:solidFill>
                  <a:srgbClr val="C9A8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(4,)</a:t>
            </a:r>
            <a:endParaRPr lang="en-US" sz="1600" dirty="0"/>
          </a:p>
        </p:txBody>
      </p:sp>
      <p:sp>
        <p:nvSpPr>
          <p:cNvPr id="1049066" name="Shape 13"/>
          <p:cNvSpPr/>
          <p:nvPr/>
        </p:nvSpPr>
        <p:spPr>
          <a:xfrm>
            <a:off x="4933950" y="376844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84038" y="249337"/>
                </a:moveTo>
                <a:cubicBezTo>
                  <a:pt x="90239" y="255538"/>
                  <a:pt x="100310" y="255538"/>
                  <a:pt x="106511" y="249337"/>
                </a:cubicBezTo>
                <a:lnTo>
                  <a:pt x="185886" y="169962"/>
                </a:lnTo>
                <a:cubicBezTo>
                  <a:pt x="192087" y="163761"/>
                  <a:pt x="192087" y="153690"/>
                  <a:pt x="185886" y="147489"/>
                </a:cubicBezTo>
                <a:cubicBezTo>
                  <a:pt x="179685" y="141288"/>
                  <a:pt x="169614" y="141288"/>
                  <a:pt x="163413" y="147489"/>
                </a:cubicBezTo>
                <a:lnTo>
                  <a:pt x="111125" y="199777"/>
                </a:lnTo>
                <a:lnTo>
                  <a:pt x="111125" y="15875"/>
                </a:lnTo>
                <a:cubicBezTo>
                  <a:pt x="111125" y="7094"/>
                  <a:pt x="104031" y="0"/>
                  <a:pt x="95250" y="0"/>
                </a:cubicBezTo>
                <a:cubicBezTo>
                  <a:pt x="86469" y="0"/>
                  <a:pt x="79375" y="7094"/>
                  <a:pt x="79375" y="15875"/>
                </a:cubicBezTo>
                <a:lnTo>
                  <a:pt x="79375" y="199777"/>
                </a:lnTo>
                <a:lnTo>
                  <a:pt x="27087" y="147489"/>
                </a:lnTo>
                <a:cubicBezTo>
                  <a:pt x="20886" y="141287"/>
                  <a:pt x="10815" y="141287"/>
                  <a:pt x="4614" y="147489"/>
                </a:cubicBezTo>
                <a:cubicBezTo>
                  <a:pt x="-1588" y="153690"/>
                  <a:pt x="-1588" y="163761"/>
                  <a:pt x="4614" y="169962"/>
                </a:cubicBezTo>
                <a:lnTo>
                  <a:pt x="83989" y="249337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9067" name="Shape 14"/>
          <p:cNvSpPr/>
          <p:nvPr/>
        </p:nvSpPr>
        <p:spPr>
          <a:xfrm>
            <a:off x="796636" y="4225640"/>
            <a:ext cx="8496300" cy="914400"/>
          </a:xfrm>
          <a:custGeom>
            <a:avLst/>
            <a:gdLst/>
            <a:ahLst/>
            <a:cxnLst/>
            <a:rect l="l" t="t" r="r" b="b"/>
            <a:pathLst>
              <a:path w="8496300" h="914400">
                <a:moveTo>
                  <a:pt x="50800" y="0"/>
                </a:moveTo>
                <a:lnTo>
                  <a:pt x="8394701" y="0"/>
                </a:lnTo>
                <a:cubicBezTo>
                  <a:pt x="8450813" y="0"/>
                  <a:pt x="8496300" y="45487"/>
                  <a:pt x="8496300" y="101599"/>
                </a:cubicBezTo>
                <a:lnTo>
                  <a:pt x="8496300" y="812801"/>
                </a:lnTo>
                <a:cubicBezTo>
                  <a:pt x="8496300" y="868913"/>
                  <a:pt x="8450813" y="914400"/>
                  <a:pt x="83947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9068" name="Shape 15"/>
          <p:cNvSpPr/>
          <p:nvPr/>
        </p:nvSpPr>
        <p:spPr>
          <a:xfrm>
            <a:off x="796636" y="422564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9069" name="Text 16"/>
          <p:cNvSpPr/>
          <p:nvPr/>
        </p:nvSpPr>
        <p:spPr>
          <a:xfrm>
            <a:off x="974436" y="4378040"/>
            <a:ext cx="229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Hidden Layer 1</a:t>
            </a:r>
            <a:endParaRPr lang="en-US" sz="1600" dirty="0"/>
          </a:p>
        </p:txBody>
      </p:sp>
      <p:sp>
        <p:nvSpPr>
          <p:cNvPr id="1049070" name="Text 17"/>
          <p:cNvSpPr/>
          <p:nvPr/>
        </p:nvSpPr>
        <p:spPr>
          <a:xfrm>
            <a:off x="974436" y="4733640"/>
            <a:ext cx="227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32 neurons, ReLU activation</a:t>
            </a:r>
            <a:endParaRPr lang="en-US" sz="1600" dirty="0"/>
          </a:p>
        </p:txBody>
      </p:sp>
      <p:sp>
        <p:nvSpPr>
          <p:cNvPr id="1049071" name="Text 18"/>
          <p:cNvSpPr/>
          <p:nvPr/>
        </p:nvSpPr>
        <p:spPr>
          <a:xfrm>
            <a:off x="8448820" y="442884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Shape</a:t>
            </a:r>
            <a:endParaRPr lang="en-US" sz="1600" dirty="0"/>
          </a:p>
        </p:txBody>
      </p:sp>
      <p:sp>
        <p:nvSpPr>
          <p:cNvPr id="1049072" name="Text 19"/>
          <p:cNvSpPr/>
          <p:nvPr/>
        </p:nvSpPr>
        <p:spPr>
          <a:xfrm>
            <a:off x="8423420" y="4632040"/>
            <a:ext cx="711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b="1" dirty="0">
                <a:solidFill>
                  <a:srgbClr val="3A5F7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(32,)</a:t>
            </a:r>
            <a:endParaRPr lang="en-US" sz="1600" dirty="0"/>
          </a:p>
        </p:txBody>
      </p:sp>
      <p:sp>
        <p:nvSpPr>
          <p:cNvPr id="1049073" name="Shape 20"/>
          <p:cNvSpPr/>
          <p:nvPr/>
        </p:nvSpPr>
        <p:spPr>
          <a:xfrm>
            <a:off x="4933950" y="534324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84038" y="249337"/>
                </a:moveTo>
                <a:cubicBezTo>
                  <a:pt x="90239" y="255538"/>
                  <a:pt x="100310" y="255538"/>
                  <a:pt x="106511" y="249337"/>
                </a:cubicBezTo>
                <a:lnTo>
                  <a:pt x="185886" y="169962"/>
                </a:lnTo>
                <a:cubicBezTo>
                  <a:pt x="192087" y="163761"/>
                  <a:pt x="192087" y="153690"/>
                  <a:pt x="185886" y="147489"/>
                </a:cubicBezTo>
                <a:cubicBezTo>
                  <a:pt x="179685" y="141288"/>
                  <a:pt x="169614" y="141288"/>
                  <a:pt x="163413" y="147489"/>
                </a:cubicBezTo>
                <a:lnTo>
                  <a:pt x="111125" y="199777"/>
                </a:lnTo>
                <a:lnTo>
                  <a:pt x="111125" y="15875"/>
                </a:lnTo>
                <a:cubicBezTo>
                  <a:pt x="111125" y="7094"/>
                  <a:pt x="104031" y="0"/>
                  <a:pt x="95250" y="0"/>
                </a:cubicBezTo>
                <a:cubicBezTo>
                  <a:pt x="86469" y="0"/>
                  <a:pt x="79375" y="7094"/>
                  <a:pt x="79375" y="15875"/>
                </a:cubicBezTo>
                <a:lnTo>
                  <a:pt x="79375" y="199777"/>
                </a:lnTo>
                <a:lnTo>
                  <a:pt x="27087" y="147489"/>
                </a:lnTo>
                <a:cubicBezTo>
                  <a:pt x="20886" y="141287"/>
                  <a:pt x="10815" y="141287"/>
                  <a:pt x="4614" y="147489"/>
                </a:cubicBezTo>
                <a:cubicBezTo>
                  <a:pt x="-1588" y="153690"/>
                  <a:pt x="-1588" y="163761"/>
                  <a:pt x="4614" y="169962"/>
                </a:cubicBezTo>
                <a:lnTo>
                  <a:pt x="83989" y="249337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9074" name="Shape 21"/>
          <p:cNvSpPr/>
          <p:nvPr/>
        </p:nvSpPr>
        <p:spPr>
          <a:xfrm>
            <a:off x="796636" y="5800440"/>
            <a:ext cx="8496300" cy="914400"/>
          </a:xfrm>
          <a:custGeom>
            <a:avLst/>
            <a:gdLst/>
            <a:ahLst/>
            <a:cxnLst/>
            <a:rect l="l" t="t" r="r" b="b"/>
            <a:pathLst>
              <a:path w="8496300" h="914400">
                <a:moveTo>
                  <a:pt x="50800" y="0"/>
                </a:moveTo>
                <a:lnTo>
                  <a:pt x="8394701" y="0"/>
                </a:lnTo>
                <a:cubicBezTo>
                  <a:pt x="8450813" y="0"/>
                  <a:pt x="8496300" y="45487"/>
                  <a:pt x="8496300" y="101599"/>
                </a:cubicBezTo>
                <a:lnTo>
                  <a:pt x="8496300" y="812801"/>
                </a:lnTo>
                <a:cubicBezTo>
                  <a:pt x="8496300" y="868913"/>
                  <a:pt x="8450813" y="914400"/>
                  <a:pt x="83947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9075" name="Shape 22"/>
          <p:cNvSpPr/>
          <p:nvPr/>
        </p:nvSpPr>
        <p:spPr>
          <a:xfrm>
            <a:off x="796636" y="580044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9076" name="Text 23"/>
          <p:cNvSpPr/>
          <p:nvPr/>
        </p:nvSpPr>
        <p:spPr>
          <a:xfrm>
            <a:off x="974436" y="5952840"/>
            <a:ext cx="2273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Hidden Layer 2</a:t>
            </a:r>
            <a:endParaRPr lang="en-US" sz="1600" dirty="0"/>
          </a:p>
        </p:txBody>
      </p:sp>
      <p:sp>
        <p:nvSpPr>
          <p:cNvPr id="1049077" name="Text 24"/>
          <p:cNvSpPr/>
          <p:nvPr/>
        </p:nvSpPr>
        <p:spPr>
          <a:xfrm>
            <a:off x="974436" y="6308440"/>
            <a:ext cx="2247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16 neurons, ReLU activation</a:t>
            </a:r>
            <a:endParaRPr lang="en-US" sz="1600" dirty="0"/>
          </a:p>
        </p:txBody>
      </p:sp>
      <p:sp>
        <p:nvSpPr>
          <p:cNvPr id="1049078" name="Text 25"/>
          <p:cNvSpPr/>
          <p:nvPr/>
        </p:nvSpPr>
        <p:spPr>
          <a:xfrm>
            <a:off x="8448820" y="600364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Shape</a:t>
            </a:r>
            <a:endParaRPr lang="en-US" sz="1600" dirty="0"/>
          </a:p>
        </p:txBody>
      </p:sp>
      <p:sp>
        <p:nvSpPr>
          <p:cNvPr id="1049079" name="Text 26"/>
          <p:cNvSpPr/>
          <p:nvPr/>
        </p:nvSpPr>
        <p:spPr>
          <a:xfrm>
            <a:off x="8423420" y="6206840"/>
            <a:ext cx="711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b="1" dirty="0">
                <a:solidFill>
                  <a:srgbClr val="5E7C8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(16,)</a:t>
            </a:r>
            <a:endParaRPr lang="en-US" sz="1600" dirty="0"/>
          </a:p>
        </p:txBody>
      </p:sp>
      <p:sp>
        <p:nvSpPr>
          <p:cNvPr id="1049080" name="Shape 27"/>
          <p:cNvSpPr/>
          <p:nvPr/>
        </p:nvSpPr>
        <p:spPr>
          <a:xfrm>
            <a:off x="4933950" y="691804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84038" y="249337"/>
                </a:moveTo>
                <a:cubicBezTo>
                  <a:pt x="90239" y="255538"/>
                  <a:pt x="100310" y="255538"/>
                  <a:pt x="106511" y="249337"/>
                </a:cubicBezTo>
                <a:lnTo>
                  <a:pt x="185886" y="169962"/>
                </a:lnTo>
                <a:cubicBezTo>
                  <a:pt x="192087" y="163761"/>
                  <a:pt x="192087" y="153690"/>
                  <a:pt x="185886" y="147489"/>
                </a:cubicBezTo>
                <a:cubicBezTo>
                  <a:pt x="179685" y="141288"/>
                  <a:pt x="169614" y="141288"/>
                  <a:pt x="163413" y="147489"/>
                </a:cubicBezTo>
                <a:lnTo>
                  <a:pt x="111125" y="199777"/>
                </a:lnTo>
                <a:lnTo>
                  <a:pt x="111125" y="15875"/>
                </a:lnTo>
                <a:cubicBezTo>
                  <a:pt x="111125" y="7094"/>
                  <a:pt x="104031" y="0"/>
                  <a:pt x="95250" y="0"/>
                </a:cubicBezTo>
                <a:cubicBezTo>
                  <a:pt x="86469" y="0"/>
                  <a:pt x="79375" y="7094"/>
                  <a:pt x="79375" y="15875"/>
                </a:cubicBezTo>
                <a:lnTo>
                  <a:pt x="79375" y="199777"/>
                </a:lnTo>
                <a:lnTo>
                  <a:pt x="27087" y="147489"/>
                </a:lnTo>
                <a:cubicBezTo>
                  <a:pt x="20886" y="141287"/>
                  <a:pt x="10815" y="141287"/>
                  <a:pt x="4614" y="147489"/>
                </a:cubicBezTo>
                <a:cubicBezTo>
                  <a:pt x="-1588" y="153690"/>
                  <a:pt x="-1588" y="163761"/>
                  <a:pt x="4614" y="169962"/>
                </a:cubicBezTo>
                <a:lnTo>
                  <a:pt x="83989" y="249337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9081" name="Shape 28"/>
          <p:cNvSpPr/>
          <p:nvPr/>
        </p:nvSpPr>
        <p:spPr>
          <a:xfrm>
            <a:off x="796636" y="7375240"/>
            <a:ext cx="8496300" cy="914400"/>
          </a:xfrm>
          <a:custGeom>
            <a:avLst/>
            <a:gdLst/>
            <a:ahLst/>
            <a:cxnLst/>
            <a:rect l="l" t="t" r="r" b="b"/>
            <a:pathLst>
              <a:path w="8496300" h="914400">
                <a:moveTo>
                  <a:pt x="50800" y="0"/>
                </a:moveTo>
                <a:lnTo>
                  <a:pt x="8394701" y="0"/>
                </a:lnTo>
                <a:cubicBezTo>
                  <a:pt x="8450813" y="0"/>
                  <a:pt x="8496300" y="45487"/>
                  <a:pt x="8496300" y="101599"/>
                </a:cubicBezTo>
                <a:lnTo>
                  <a:pt x="8496300" y="812801"/>
                </a:lnTo>
                <a:cubicBezTo>
                  <a:pt x="8496300" y="868913"/>
                  <a:pt x="8450813" y="914400"/>
                  <a:pt x="83947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9082" name="Shape 29"/>
          <p:cNvSpPr/>
          <p:nvPr/>
        </p:nvSpPr>
        <p:spPr>
          <a:xfrm>
            <a:off x="796636" y="737524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083" name="Text 30"/>
          <p:cNvSpPr/>
          <p:nvPr/>
        </p:nvSpPr>
        <p:spPr>
          <a:xfrm>
            <a:off x="974436" y="7527640"/>
            <a:ext cx="196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Output Layer</a:t>
            </a:r>
            <a:endParaRPr lang="en-US" sz="1600" dirty="0"/>
          </a:p>
        </p:txBody>
      </p:sp>
      <p:sp>
        <p:nvSpPr>
          <p:cNvPr id="1049084" name="Text 31"/>
          <p:cNvSpPr/>
          <p:nvPr/>
        </p:nvSpPr>
        <p:spPr>
          <a:xfrm>
            <a:off x="974436" y="7883240"/>
            <a:ext cx="1943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 neurons (Sharp / Blur)</a:t>
            </a:r>
            <a:endParaRPr lang="en-US" sz="1600" dirty="0"/>
          </a:p>
        </p:txBody>
      </p:sp>
      <p:sp>
        <p:nvSpPr>
          <p:cNvPr id="1049085" name="Text 32"/>
          <p:cNvSpPr/>
          <p:nvPr/>
        </p:nvSpPr>
        <p:spPr>
          <a:xfrm>
            <a:off x="8570768" y="757844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5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Shape</a:t>
            </a:r>
            <a:endParaRPr lang="en-US" sz="1600" dirty="0"/>
          </a:p>
        </p:txBody>
      </p:sp>
      <p:sp>
        <p:nvSpPr>
          <p:cNvPr id="1049086" name="Text 33"/>
          <p:cNvSpPr/>
          <p:nvPr/>
        </p:nvSpPr>
        <p:spPr>
          <a:xfrm>
            <a:off x="8545368" y="7781640"/>
            <a:ext cx="584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b="1" dirty="0">
                <a:solidFill>
                  <a:srgbClr val="C9A8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(2,)</a:t>
            </a:r>
            <a:endParaRPr lang="en-US" sz="1600" dirty="0"/>
          </a:p>
        </p:txBody>
      </p:sp>
      <p:sp>
        <p:nvSpPr>
          <p:cNvPr id="1049087" name="Shape 34"/>
          <p:cNvSpPr/>
          <p:nvPr/>
        </p:nvSpPr>
        <p:spPr>
          <a:xfrm>
            <a:off x="9809018" y="1579418"/>
            <a:ext cx="5940136" cy="4911436"/>
          </a:xfrm>
          <a:custGeom>
            <a:avLst/>
            <a:gdLst/>
            <a:ahLst/>
            <a:cxnLst/>
            <a:rect l="l" t="t" r="r" b="b"/>
            <a:pathLst>
              <a:path w="5940136" h="4911436">
                <a:moveTo>
                  <a:pt x="152402" y="0"/>
                </a:moveTo>
                <a:lnTo>
                  <a:pt x="5787734" y="0"/>
                </a:lnTo>
                <a:cubicBezTo>
                  <a:pt x="5871904" y="0"/>
                  <a:pt x="5940136" y="68233"/>
                  <a:pt x="5940136" y="152402"/>
                </a:cubicBezTo>
                <a:lnTo>
                  <a:pt x="5940136" y="4759034"/>
                </a:lnTo>
                <a:cubicBezTo>
                  <a:pt x="5940136" y="4843204"/>
                  <a:pt x="5871904" y="4911436"/>
                  <a:pt x="5787734" y="4911436"/>
                </a:cubicBezTo>
                <a:lnTo>
                  <a:pt x="152402" y="4911436"/>
                </a:lnTo>
                <a:cubicBezTo>
                  <a:pt x="68233" y="4911436"/>
                  <a:pt x="0" y="4843204"/>
                  <a:pt x="0" y="4759034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9088" name="Shape 35"/>
          <p:cNvSpPr/>
          <p:nvPr/>
        </p:nvSpPr>
        <p:spPr>
          <a:xfrm>
            <a:off x="10016837" y="178724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9089" name="Shape 36"/>
          <p:cNvSpPr/>
          <p:nvPr/>
        </p:nvSpPr>
        <p:spPr>
          <a:xfrm>
            <a:off x="10112087" y="191424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9090" name="Text 37"/>
          <p:cNvSpPr/>
          <p:nvPr/>
        </p:nvSpPr>
        <p:spPr>
          <a:xfrm>
            <a:off x="10677237" y="1863440"/>
            <a:ext cx="2628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1049091" name="Shape 38"/>
          <p:cNvSpPr/>
          <p:nvPr/>
        </p:nvSpPr>
        <p:spPr>
          <a:xfrm>
            <a:off x="10021455" y="2452258"/>
            <a:ext cx="5508336" cy="872836"/>
          </a:xfrm>
          <a:custGeom>
            <a:avLst/>
            <a:gdLst/>
            <a:ahLst/>
            <a:cxnLst/>
            <a:rect l="l" t="t" r="r" b="b"/>
            <a:pathLst>
              <a:path w="5508336" h="872836">
                <a:moveTo>
                  <a:pt x="101598" y="0"/>
                </a:moveTo>
                <a:lnTo>
                  <a:pt x="5406738" y="0"/>
                </a:lnTo>
                <a:cubicBezTo>
                  <a:pt x="5462849" y="0"/>
                  <a:pt x="5508336" y="45487"/>
                  <a:pt x="5508336" y="101598"/>
                </a:cubicBezTo>
                <a:lnTo>
                  <a:pt x="5508336" y="771238"/>
                </a:lnTo>
                <a:cubicBezTo>
                  <a:pt x="5508336" y="827349"/>
                  <a:pt x="5462849" y="872836"/>
                  <a:pt x="5406738" y="872836"/>
                </a:cubicBezTo>
                <a:lnTo>
                  <a:pt x="101598" y="872836"/>
                </a:lnTo>
                <a:cubicBezTo>
                  <a:pt x="45487" y="872836"/>
                  <a:pt x="0" y="827349"/>
                  <a:pt x="0" y="771238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9092" name="Text 39"/>
          <p:cNvSpPr/>
          <p:nvPr/>
        </p:nvSpPr>
        <p:spPr>
          <a:xfrm>
            <a:off x="10178473" y="2609273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Loss Function</a:t>
            </a:r>
            <a:endParaRPr lang="en-US" sz="1600" dirty="0"/>
          </a:p>
        </p:txBody>
      </p:sp>
      <p:sp>
        <p:nvSpPr>
          <p:cNvPr id="1049093" name="Text 40"/>
          <p:cNvSpPr/>
          <p:nvPr/>
        </p:nvSpPr>
        <p:spPr>
          <a:xfrm>
            <a:off x="10178473" y="2914073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Binary Cross-Entropy</a:t>
            </a:r>
            <a:endParaRPr lang="en-US" sz="1600" dirty="0"/>
          </a:p>
        </p:txBody>
      </p:sp>
      <p:sp>
        <p:nvSpPr>
          <p:cNvPr id="1049094" name="Shape 41"/>
          <p:cNvSpPr/>
          <p:nvPr/>
        </p:nvSpPr>
        <p:spPr>
          <a:xfrm>
            <a:off x="10021455" y="3435931"/>
            <a:ext cx="5508336" cy="872836"/>
          </a:xfrm>
          <a:custGeom>
            <a:avLst/>
            <a:gdLst/>
            <a:ahLst/>
            <a:cxnLst/>
            <a:rect l="l" t="t" r="r" b="b"/>
            <a:pathLst>
              <a:path w="5508336" h="872836">
                <a:moveTo>
                  <a:pt x="101598" y="0"/>
                </a:moveTo>
                <a:lnTo>
                  <a:pt x="5406738" y="0"/>
                </a:lnTo>
                <a:cubicBezTo>
                  <a:pt x="5462849" y="0"/>
                  <a:pt x="5508336" y="45487"/>
                  <a:pt x="5508336" y="101598"/>
                </a:cubicBezTo>
                <a:lnTo>
                  <a:pt x="5508336" y="771238"/>
                </a:lnTo>
                <a:cubicBezTo>
                  <a:pt x="5508336" y="827349"/>
                  <a:pt x="5462849" y="872836"/>
                  <a:pt x="5406738" y="872836"/>
                </a:cubicBezTo>
                <a:lnTo>
                  <a:pt x="101598" y="872836"/>
                </a:lnTo>
                <a:cubicBezTo>
                  <a:pt x="45487" y="872836"/>
                  <a:pt x="0" y="827349"/>
                  <a:pt x="0" y="771238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9095" name="Text 42"/>
          <p:cNvSpPr/>
          <p:nvPr/>
        </p:nvSpPr>
        <p:spPr>
          <a:xfrm>
            <a:off x="10178473" y="3592947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Optimizers Tested</a:t>
            </a:r>
            <a:endParaRPr lang="en-US" sz="1600" dirty="0"/>
          </a:p>
        </p:txBody>
      </p:sp>
      <p:sp>
        <p:nvSpPr>
          <p:cNvPr id="1049096" name="Text 43"/>
          <p:cNvSpPr/>
          <p:nvPr/>
        </p:nvSpPr>
        <p:spPr>
          <a:xfrm>
            <a:off x="10178473" y="3897747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Adam, SGD</a:t>
            </a:r>
            <a:endParaRPr lang="en-US" sz="1600" dirty="0"/>
          </a:p>
        </p:txBody>
      </p:sp>
      <p:sp>
        <p:nvSpPr>
          <p:cNvPr id="1049097" name="Shape 44"/>
          <p:cNvSpPr/>
          <p:nvPr/>
        </p:nvSpPr>
        <p:spPr>
          <a:xfrm>
            <a:off x="10021455" y="4419605"/>
            <a:ext cx="5508336" cy="872836"/>
          </a:xfrm>
          <a:custGeom>
            <a:avLst/>
            <a:gdLst/>
            <a:ahLst/>
            <a:cxnLst/>
            <a:rect l="l" t="t" r="r" b="b"/>
            <a:pathLst>
              <a:path w="5508336" h="872836">
                <a:moveTo>
                  <a:pt x="101598" y="0"/>
                </a:moveTo>
                <a:lnTo>
                  <a:pt x="5406738" y="0"/>
                </a:lnTo>
                <a:cubicBezTo>
                  <a:pt x="5462849" y="0"/>
                  <a:pt x="5508336" y="45487"/>
                  <a:pt x="5508336" y="101598"/>
                </a:cubicBezTo>
                <a:lnTo>
                  <a:pt x="5508336" y="771238"/>
                </a:lnTo>
                <a:cubicBezTo>
                  <a:pt x="5508336" y="827349"/>
                  <a:pt x="5462849" y="872836"/>
                  <a:pt x="5406738" y="872836"/>
                </a:cubicBezTo>
                <a:lnTo>
                  <a:pt x="101598" y="872836"/>
                </a:lnTo>
                <a:cubicBezTo>
                  <a:pt x="45487" y="872836"/>
                  <a:pt x="0" y="827349"/>
                  <a:pt x="0" y="771238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9098" name="Text 45"/>
          <p:cNvSpPr/>
          <p:nvPr/>
        </p:nvSpPr>
        <p:spPr>
          <a:xfrm>
            <a:off x="10178473" y="4576620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Max Iterations</a:t>
            </a:r>
            <a:endParaRPr lang="en-US" sz="1600" dirty="0"/>
          </a:p>
        </p:txBody>
      </p:sp>
      <p:sp>
        <p:nvSpPr>
          <p:cNvPr id="1049099" name="Text 46"/>
          <p:cNvSpPr/>
          <p:nvPr/>
        </p:nvSpPr>
        <p:spPr>
          <a:xfrm>
            <a:off x="10178473" y="4881420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300 epochs</a:t>
            </a:r>
            <a:endParaRPr lang="en-US" sz="1600" dirty="0"/>
          </a:p>
        </p:txBody>
      </p:sp>
      <p:sp>
        <p:nvSpPr>
          <p:cNvPr id="1049100" name="Shape 47"/>
          <p:cNvSpPr/>
          <p:nvPr/>
        </p:nvSpPr>
        <p:spPr>
          <a:xfrm>
            <a:off x="10021455" y="5403272"/>
            <a:ext cx="5508336" cy="872836"/>
          </a:xfrm>
          <a:custGeom>
            <a:avLst/>
            <a:gdLst/>
            <a:ahLst/>
            <a:cxnLst/>
            <a:rect l="l" t="t" r="r" b="b"/>
            <a:pathLst>
              <a:path w="5508336" h="872836">
                <a:moveTo>
                  <a:pt x="101598" y="0"/>
                </a:moveTo>
                <a:lnTo>
                  <a:pt x="5406738" y="0"/>
                </a:lnTo>
                <a:cubicBezTo>
                  <a:pt x="5462849" y="0"/>
                  <a:pt x="5508336" y="45487"/>
                  <a:pt x="5508336" y="101598"/>
                </a:cubicBezTo>
                <a:lnTo>
                  <a:pt x="5508336" y="771238"/>
                </a:lnTo>
                <a:cubicBezTo>
                  <a:pt x="5508336" y="827349"/>
                  <a:pt x="5462849" y="872836"/>
                  <a:pt x="5406738" y="872836"/>
                </a:cubicBezTo>
                <a:lnTo>
                  <a:pt x="101598" y="872836"/>
                </a:lnTo>
                <a:cubicBezTo>
                  <a:pt x="45487" y="872836"/>
                  <a:pt x="0" y="827349"/>
                  <a:pt x="0" y="771238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9101" name="Text 48"/>
          <p:cNvSpPr/>
          <p:nvPr/>
        </p:nvSpPr>
        <p:spPr>
          <a:xfrm>
            <a:off x="10178473" y="5560293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Random State</a:t>
            </a:r>
            <a:endParaRPr lang="en-US" sz="1600" dirty="0"/>
          </a:p>
        </p:txBody>
      </p:sp>
      <p:sp>
        <p:nvSpPr>
          <p:cNvPr id="1049102" name="Text 49"/>
          <p:cNvSpPr/>
          <p:nvPr/>
        </p:nvSpPr>
        <p:spPr>
          <a:xfrm>
            <a:off x="10178473" y="5865093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42 (for reproducibility)</a:t>
            </a:r>
            <a:endParaRPr lang="en-US" sz="1600" dirty="0"/>
          </a:p>
        </p:txBody>
      </p:sp>
      <p:sp>
        <p:nvSpPr>
          <p:cNvPr id="1049103" name="Shape 50"/>
          <p:cNvSpPr/>
          <p:nvPr/>
        </p:nvSpPr>
        <p:spPr>
          <a:xfrm>
            <a:off x="9991090" y="6701155"/>
            <a:ext cx="5758180" cy="2363470"/>
          </a:xfrm>
          <a:custGeom>
            <a:avLst/>
            <a:gdLst/>
            <a:ahLst/>
            <a:cxnLst/>
            <a:rect l="l" t="t" r="r" b="b"/>
            <a:pathLst>
              <a:path w="5940136" h="3958936">
                <a:moveTo>
                  <a:pt x="152419" y="0"/>
                </a:moveTo>
                <a:lnTo>
                  <a:pt x="5787717" y="0"/>
                </a:lnTo>
                <a:cubicBezTo>
                  <a:pt x="5871896" y="0"/>
                  <a:pt x="5940136" y="68240"/>
                  <a:pt x="5940136" y="152419"/>
                </a:cubicBezTo>
                <a:lnTo>
                  <a:pt x="5940136" y="3806517"/>
                </a:lnTo>
                <a:cubicBezTo>
                  <a:pt x="5940136" y="3890696"/>
                  <a:pt x="5871896" y="3958936"/>
                  <a:pt x="5787717" y="3958936"/>
                </a:cubicBezTo>
                <a:lnTo>
                  <a:pt x="152419" y="3958936"/>
                </a:lnTo>
                <a:cubicBezTo>
                  <a:pt x="68240" y="3958936"/>
                  <a:pt x="0" y="3890696"/>
                  <a:pt x="0" y="3806517"/>
                </a:cubicBezTo>
                <a:lnTo>
                  <a:pt x="0" y="152419"/>
                </a:lnTo>
                <a:cubicBezTo>
                  <a:pt x="0" y="68240"/>
                  <a:pt x="68240" y="0"/>
                  <a:pt x="152419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9104" name="Shape 51"/>
          <p:cNvSpPr/>
          <p:nvPr/>
        </p:nvSpPr>
        <p:spPr>
          <a:xfrm>
            <a:off x="10095230" y="6701155"/>
            <a:ext cx="429895" cy="3937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E7C88">
              <a:alpha val="30196"/>
            </a:srgbClr>
          </a:solidFill>
        </p:spPr>
      </p:sp>
      <p:sp>
        <p:nvSpPr>
          <p:cNvPr id="1049105" name="Shape 52"/>
          <p:cNvSpPr/>
          <p:nvPr/>
        </p:nvSpPr>
        <p:spPr>
          <a:xfrm>
            <a:off x="10179685" y="6838950"/>
            <a:ext cx="250190" cy="217805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4198" y="119063"/>
                </a:moveTo>
                <a:lnTo>
                  <a:pt x="166886" y="119063"/>
                </a:lnTo>
                <a:cubicBezTo>
                  <a:pt x="158105" y="119063"/>
                  <a:pt x="151011" y="111968"/>
                  <a:pt x="151011" y="103188"/>
                </a:cubicBezTo>
                <a:lnTo>
                  <a:pt x="151011" y="15875"/>
                </a:lnTo>
                <a:cubicBezTo>
                  <a:pt x="151011" y="7094"/>
                  <a:pt x="158155" y="-99"/>
                  <a:pt x="166836" y="1042"/>
                </a:cubicBezTo>
                <a:cubicBezTo>
                  <a:pt x="219918" y="8086"/>
                  <a:pt x="261987" y="50155"/>
                  <a:pt x="269032" y="103237"/>
                </a:cubicBezTo>
                <a:cubicBezTo>
                  <a:pt x="270173" y="111919"/>
                  <a:pt x="262979" y="119063"/>
                  <a:pt x="254198" y="119063"/>
                </a:cubicBezTo>
                <a:close/>
                <a:moveTo>
                  <a:pt x="110430" y="18455"/>
                </a:moveTo>
                <a:cubicBezTo>
                  <a:pt x="119410" y="16570"/>
                  <a:pt x="127198" y="23912"/>
                  <a:pt x="127198" y="33089"/>
                </a:cubicBezTo>
                <a:lnTo>
                  <a:pt x="127198" y="130969"/>
                </a:lnTo>
                <a:cubicBezTo>
                  <a:pt x="127198" y="133747"/>
                  <a:pt x="128191" y="136426"/>
                  <a:pt x="129927" y="138559"/>
                </a:cubicBezTo>
                <a:lnTo>
                  <a:pt x="195461" y="217636"/>
                </a:lnTo>
                <a:cubicBezTo>
                  <a:pt x="201265" y="224631"/>
                  <a:pt x="200025" y="235198"/>
                  <a:pt x="192038" y="239514"/>
                </a:cubicBezTo>
                <a:cubicBezTo>
                  <a:pt x="175121" y="248741"/>
                  <a:pt x="155724" y="254000"/>
                  <a:pt x="135136" y="254000"/>
                </a:cubicBezTo>
                <a:cubicBezTo>
                  <a:pt x="69404" y="254000"/>
                  <a:pt x="16073" y="200670"/>
                  <a:pt x="16073" y="134938"/>
                </a:cubicBezTo>
                <a:cubicBezTo>
                  <a:pt x="16073" y="77639"/>
                  <a:pt x="56505" y="29815"/>
                  <a:pt x="110430" y="18455"/>
                </a:cubicBezTo>
                <a:close/>
                <a:moveTo>
                  <a:pt x="237034" y="142875"/>
                </a:moveTo>
                <a:lnTo>
                  <a:pt x="268784" y="142875"/>
                </a:lnTo>
                <a:cubicBezTo>
                  <a:pt x="277961" y="142875"/>
                  <a:pt x="285304" y="150664"/>
                  <a:pt x="283418" y="159643"/>
                </a:cubicBezTo>
                <a:cubicBezTo>
                  <a:pt x="278358" y="183654"/>
                  <a:pt x="266055" y="204986"/>
                  <a:pt x="248890" y="221258"/>
                </a:cubicBezTo>
                <a:cubicBezTo>
                  <a:pt x="242788" y="227062"/>
                  <a:pt x="233214" y="225822"/>
                  <a:pt x="227856" y="219323"/>
                </a:cubicBezTo>
                <a:lnTo>
                  <a:pt x="185986" y="168870"/>
                </a:lnTo>
                <a:cubicBezTo>
                  <a:pt x="177403" y="158502"/>
                  <a:pt x="184795" y="142875"/>
                  <a:pt x="198189" y="142875"/>
                </a:cubicBezTo>
                <a:lnTo>
                  <a:pt x="236984" y="142875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9106" name="Text 53"/>
          <p:cNvSpPr/>
          <p:nvPr/>
        </p:nvSpPr>
        <p:spPr>
          <a:xfrm>
            <a:off x="10677237" y="6701155"/>
            <a:ext cx="163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Splitting</a:t>
            </a:r>
            <a:endParaRPr lang="en-US" sz="1600" dirty="0"/>
          </a:p>
        </p:txBody>
      </p:sp>
      <p:sp>
        <p:nvSpPr>
          <p:cNvPr id="1049107" name="Shape 54"/>
          <p:cNvSpPr/>
          <p:nvPr/>
        </p:nvSpPr>
        <p:spPr>
          <a:xfrm>
            <a:off x="10110470" y="7172325"/>
            <a:ext cx="5464175" cy="913765"/>
          </a:xfrm>
          <a:custGeom>
            <a:avLst/>
            <a:gdLst/>
            <a:ahLst/>
            <a:cxnLst/>
            <a:rect l="l" t="t" r="r" b="b"/>
            <a:pathLst>
              <a:path w="5508336" h="1380836">
                <a:moveTo>
                  <a:pt x="152403" y="0"/>
                </a:moveTo>
                <a:lnTo>
                  <a:pt x="5355933" y="0"/>
                </a:lnTo>
                <a:cubicBezTo>
                  <a:pt x="5440103" y="0"/>
                  <a:pt x="5508336" y="68233"/>
                  <a:pt x="5508336" y="152403"/>
                </a:cubicBezTo>
                <a:lnTo>
                  <a:pt x="5508336" y="1228433"/>
                </a:lnTo>
                <a:cubicBezTo>
                  <a:pt x="5508336" y="1312603"/>
                  <a:pt x="5440103" y="1380836"/>
                  <a:pt x="5355933" y="1380836"/>
                </a:cubicBezTo>
                <a:lnTo>
                  <a:pt x="152403" y="1380836"/>
                </a:lnTo>
                <a:cubicBezTo>
                  <a:pt x="68233" y="1380836"/>
                  <a:pt x="0" y="1312603"/>
                  <a:pt x="0" y="12284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9108" name="Text 55"/>
          <p:cNvSpPr/>
          <p:nvPr/>
        </p:nvSpPr>
        <p:spPr>
          <a:xfrm>
            <a:off x="10178473" y="7273640"/>
            <a:ext cx="1181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Training Set</a:t>
            </a:r>
            <a:endParaRPr lang="en-US" sz="1600" dirty="0"/>
          </a:p>
        </p:txBody>
      </p:sp>
      <p:sp>
        <p:nvSpPr>
          <p:cNvPr id="1049109" name="Text 56"/>
          <p:cNvSpPr/>
          <p:nvPr/>
        </p:nvSpPr>
        <p:spPr>
          <a:xfrm>
            <a:off x="14623532" y="7172040"/>
            <a:ext cx="749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70%</a:t>
            </a:r>
            <a:endParaRPr lang="en-US" sz="1600" dirty="0"/>
          </a:p>
        </p:txBody>
      </p:sp>
      <p:sp>
        <p:nvSpPr>
          <p:cNvPr id="1049110" name="Shape 57"/>
          <p:cNvSpPr/>
          <p:nvPr/>
        </p:nvSpPr>
        <p:spPr>
          <a:xfrm>
            <a:off x="10134023" y="7629240"/>
            <a:ext cx="5194300" cy="152400"/>
          </a:xfrm>
          <a:custGeom>
            <a:avLst/>
            <a:gdLst/>
            <a:ahLst/>
            <a:cxnLst/>
            <a:rect l="l" t="t" r="r" b="b"/>
            <a:pathLst>
              <a:path w="5194300" h="152400">
                <a:moveTo>
                  <a:pt x="76200" y="0"/>
                </a:moveTo>
                <a:lnTo>
                  <a:pt x="5118100" y="0"/>
                </a:lnTo>
                <a:cubicBezTo>
                  <a:pt x="5160156" y="0"/>
                  <a:pt x="5194300" y="34144"/>
                  <a:pt x="5194300" y="76200"/>
                </a:cubicBezTo>
                <a:lnTo>
                  <a:pt x="5194300" y="76200"/>
                </a:lnTo>
                <a:cubicBezTo>
                  <a:pt x="5194300" y="118256"/>
                  <a:pt x="5160156" y="152400"/>
                  <a:pt x="51181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9111" name="Shape 58"/>
          <p:cNvSpPr/>
          <p:nvPr/>
        </p:nvSpPr>
        <p:spPr>
          <a:xfrm>
            <a:off x="10134023" y="7629240"/>
            <a:ext cx="3632200" cy="152400"/>
          </a:xfrm>
          <a:custGeom>
            <a:avLst/>
            <a:gdLst/>
            <a:ahLst/>
            <a:cxnLst/>
            <a:rect l="l" t="t" r="r" b="b"/>
            <a:pathLst>
              <a:path w="3632200" h="152400">
                <a:moveTo>
                  <a:pt x="76200" y="0"/>
                </a:moveTo>
                <a:lnTo>
                  <a:pt x="3556000" y="0"/>
                </a:lnTo>
                <a:cubicBezTo>
                  <a:pt x="3598056" y="0"/>
                  <a:pt x="3632200" y="34144"/>
                  <a:pt x="3632200" y="76200"/>
                </a:cubicBezTo>
                <a:lnTo>
                  <a:pt x="3632200" y="76200"/>
                </a:lnTo>
                <a:cubicBezTo>
                  <a:pt x="3632200" y="118256"/>
                  <a:pt x="3598056" y="152400"/>
                  <a:pt x="35560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112" name="Text 59"/>
          <p:cNvSpPr/>
          <p:nvPr/>
        </p:nvSpPr>
        <p:spPr>
          <a:xfrm>
            <a:off x="10249593" y="7831805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630 samples</a:t>
            </a:r>
            <a:endParaRPr lang="en-US" sz="1600" dirty="0"/>
          </a:p>
        </p:txBody>
      </p:sp>
      <p:sp>
        <p:nvSpPr>
          <p:cNvPr id="1049113" name="Shape 60"/>
          <p:cNvSpPr/>
          <p:nvPr/>
        </p:nvSpPr>
        <p:spPr>
          <a:xfrm>
            <a:off x="10110470" y="8137525"/>
            <a:ext cx="5457825" cy="978535"/>
          </a:xfrm>
          <a:custGeom>
            <a:avLst/>
            <a:gdLst/>
            <a:ahLst/>
            <a:cxnLst/>
            <a:rect l="l" t="t" r="r" b="b"/>
            <a:pathLst>
              <a:path w="5508336" h="1380836">
                <a:moveTo>
                  <a:pt x="152403" y="0"/>
                </a:moveTo>
                <a:lnTo>
                  <a:pt x="5355933" y="0"/>
                </a:lnTo>
                <a:cubicBezTo>
                  <a:pt x="5440103" y="0"/>
                  <a:pt x="5508336" y="68233"/>
                  <a:pt x="5508336" y="152403"/>
                </a:cubicBezTo>
                <a:lnTo>
                  <a:pt x="5508336" y="1228433"/>
                </a:lnTo>
                <a:cubicBezTo>
                  <a:pt x="5508336" y="1312603"/>
                  <a:pt x="5440103" y="1380836"/>
                  <a:pt x="5355933" y="1380836"/>
                </a:cubicBezTo>
                <a:lnTo>
                  <a:pt x="152403" y="1380836"/>
                </a:lnTo>
                <a:cubicBezTo>
                  <a:pt x="68233" y="1380836"/>
                  <a:pt x="0" y="1312603"/>
                  <a:pt x="0" y="12284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9114" name="Text 61"/>
          <p:cNvSpPr/>
          <p:nvPr/>
        </p:nvSpPr>
        <p:spPr>
          <a:xfrm>
            <a:off x="10249593" y="8141743"/>
            <a:ext cx="111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Testing Set</a:t>
            </a:r>
            <a:endParaRPr lang="en-US" sz="1600" dirty="0"/>
          </a:p>
        </p:txBody>
      </p:sp>
      <p:sp>
        <p:nvSpPr>
          <p:cNvPr id="1049115" name="Text 62"/>
          <p:cNvSpPr/>
          <p:nvPr/>
        </p:nvSpPr>
        <p:spPr>
          <a:xfrm>
            <a:off x="14553435" y="8141743"/>
            <a:ext cx="7747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30%</a:t>
            </a:r>
            <a:endParaRPr lang="en-US" sz="1600" dirty="0"/>
          </a:p>
        </p:txBody>
      </p:sp>
      <p:sp>
        <p:nvSpPr>
          <p:cNvPr id="1049116" name="Shape 63"/>
          <p:cNvSpPr/>
          <p:nvPr/>
        </p:nvSpPr>
        <p:spPr>
          <a:xfrm>
            <a:off x="10178473" y="8548143"/>
            <a:ext cx="5194300" cy="152400"/>
          </a:xfrm>
          <a:custGeom>
            <a:avLst/>
            <a:gdLst/>
            <a:ahLst/>
            <a:cxnLst/>
            <a:rect l="l" t="t" r="r" b="b"/>
            <a:pathLst>
              <a:path w="5194300" h="152400">
                <a:moveTo>
                  <a:pt x="76200" y="0"/>
                </a:moveTo>
                <a:lnTo>
                  <a:pt x="5118100" y="0"/>
                </a:lnTo>
                <a:cubicBezTo>
                  <a:pt x="5160156" y="0"/>
                  <a:pt x="5194300" y="34144"/>
                  <a:pt x="5194300" y="76200"/>
                </a:cubicBezTo>
                <a:lnTo>
                  <a:pt x="5194300" y="76200"/>
                </a:lnTo>
                <a:cubicBezTo>
                  <a:pt x="5194300" y="118256"/>
                  <a:pt x="5160156" y="152400"/>
                  <a:pt x="51181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9117" name="Shape 64"/>
          <p:cNvSpPr/>
          <p:nvPr/>
        </p:nvSpPr>
        <p:spPr>
          <a:xfrm>
            <a:off x="10178473" y="8548143"/>
            <a:ext cx="1562100" cy="152400"/>
          </a:xfrm>
          <a:custGeom>
            <a:avLst/>
            <a:gdLst/>
            <a:ahLst/>
            <a:cxnLst/>
            <a:rect l="l" t="t" r="r" b="b"/>
            <a:pathLst>
              <a:path w="1562100" h="152400">
                <a:moveTo>
                  <a:pt x="76200" y="0"/>
                </a:moveTo>
                <a:lnTo>
                  <a:pt x="1485900" y="0"/>
                </a:lnTo>
                <a:cubicBezTo>
                  <a:pt x="1527956" y="0"/>
                  <a:pt x="1562100" y="34144"/>
                  <a:pt x="1562100" y="76200"/>
                </a:cubicBezTo>
                <a:lnTo>
                  <a:pt x="1562100" y="76200"/>
                </a:lnTo>
                <a:cubicBezTo>
                  <a:pt x="1562100" y="118256"/>
                  <a:pt x="1527956" y="152400"/>
                  <a:pt x="14859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9118" name="Text 65"/>
          <p:cNvSpPr/>
          <p:nvPr/>
        </p:nvSpPr>
        <p:spPr>
          <a:xfrm>
            <a:off x="10112433" y="8810398"/>
            <a:ext cx="528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270 samples</a:t>
            </a:r>
            <a:endParaRPr lang="en-US" sz="1600" dirty="0"/>
          </a:p>
        </p:txBody>
      </p:sp>
      <p:sp>
        <p:nvSpPr>
          <p:cNvPr id="1049119" name="Shape 66"/>
          <p:cNvSpPr/>
          <p:nvPr/>
        </p:nvSpPr>
        <p:spPr>
          <a:xfrm>
            <a:off x="820420" y="8548370"/>
            <a:ext cx="5945505" cy="568325"/>
          </a:xfrm>
          <a:custGeom>
            <a:avLst/>
            <a:gdLst/>
            <a:ahLst/>
            <a:cxnLst/>
            <a:rect l="l" t="t" r="r" b="b"/>
            <a:pathLst>
              <a:path w="5940136" h="822036">
                <a:moveTo>
                  <a:pt x="101604" y="0"/>
                </a:moveTo>
                <a:lnTo>
                  <a:pt x="5838533" y="0"/>
                </a:lnTo>
                <a:cubicBezTo>
                  <a:pt x="5894647" y="0"/>
                  <a:pt x="5940136" y="45490"/>
                  <a:pt x="5940136" y="101604"/>
                </a:cubicBezTo>
                <a:lnTo>
                  <a:pt x="5940136" y="720433"/>
                </a:lnTo>
                <a:cubicBezTo>
                  <a:pt x="5940136" y="776547"/>
                  <a:pt x="5894647" y="822036"/>
                  <a:pt x="5838533" y="822036"/>
                </a:cubicBezTo>
                <a:lnTo>
                  <a:pt x="101604" y="822036"/>
                </a:lnTo>
                <a:cubicBezTo>
                  <a:pt x="45527" y="822036"/>
                  <a:pt x="0" y="776509"/>
                  <a:pt x="0" y="720433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9120" name="Shape 67"/>
          <p:cNvSpPr/>
          <p:nvPr/>
        </p:nvSpPr>
        <p:spPr>
          <a:xfrm>
            <a:off x="1050637" y="870106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9121" name="Text 68"/>
          <p:cNvSpPr/>
          <p:nvPr/>
        </p:nvSpPr>
        <p:spPr>
          <a:xfrm>
            <a:off x="1380837" y="8608235"/>
            <a:ext cx="5384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Normalization:</a:t>
            </a: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StandardScaler applied to features before training for improved convergence.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Shape 0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768" name="Text 1"/>
          <p:cNvSpPr/>
          <p:nvPr/>
        </p:nvSpPr>
        <p:spPr>
          <a:xfrm>
            <a:off x="762000" y="508000"/>
            <a:ext cx="6045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 / Experiments &amp; Results</a:t>
            </a:r>
            <a:endParaRPr lang="en-US" sz="1600" dirty="0"/>
          </a:p>
        </p:txBody>
      </p:sp>
      <p:sp>
        <p:nvSpPr>
          <p:cNvPr id="1048769" name="Text 2"/>
          <p:cNvSpPr/>
          <p:nvPr/>
        </p:nvSpPr>
        <p:spPr>
          <a:xfrm>
            <a:off x="762000" y="812800"/>
            <a:ext cx="6184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Adam Optimizer Performance</a:t>
            </a:r>
            <a:endParaRPr lang="en-US" sz="1600" dirty="0"/>
          </a:p>
        </p:txBody>
      </p:sp>
      <p:sp>
        <p:nvSpPr>
          <p:cNvPr id="1048770" name="Shape 3"/>
          <p:cNvSpPr/>
          <p:nvPr/>
        </p:nvSpPr>
        <p:spPr>
          <a:xfrm>
            <a:off x="512618" y="1579418"/>
            <a:ext cx="7489536" cy="3323936"/>
          </a:xfrm>
          <a:custGeom>
            <a:avLst/>
            <a:gdLst/>
            <a:ahLst/>
            <a:cxnLst/>
            <a:rect l="l" t="t" r="r" b="b"/>
            <a:pathLst>
              <a:path w="7489536" h="3323936">
                <a:moveTo>
                  <a:pt x="152402" y="0"/>
                </a:moveTo>
                <a:lnTo>
                  <a:pt x="7337134" y="0"/>
                </a:lnTo>
                <a:cubicBezTo>
                  <a:pt x="7421303" y="0"/>
                  <a:pt x="7489536" y="68233"/>
                  <a:pt x="7489536" y="152402"/>
                </a:cubicBezTo>
                <a:lnTo>
                  <a:pt x="7489536" y="3171534"/>
                </a:lnTo>
                <a:cubicBezTo>
                  <a:pt x="7489536" y="3255703"/>
                  <a:pt x="7421303" y="3323936"/>
                  <a:pt x="7337134" y="3323936"/>
                </a:cubicBezTo>
                <a:lnTo>
                  <a:pt x="152402" y="3323936"/>
                </a:lnTo>
                <a:cubicBezTo>
                  <a:pt x="68233" y="3323936"/>
                  <a:pt x="0" y="3255703"/>
                  <a:pt x="0" y="3171534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771" name="Text 4"/>
          <p:cNvSpPr/>
          <p:nvPr/>
        </p:nvSpPr>
        <p:spPr>
          <a:xfrm>
            <a:off x="771236" y="2066640"/>
            <a:ext cx="24257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Overall Accuracy</a:t>
            </a:r>
            <a:endParaRPr lang="en-US" sz="1600" dirty="0"/>
          </a:p>
        </p:txBody>
      </p:sp>
      <p:sp>
        <p:nvSpPr>
          <p:cNvPr id="1048772" name="Text 5"/>
          <p:cNvSpPr/>
          <p:nvPr/>
        </p:nvSpPr>
        <p:spPr>
          <a:xfrm>
            <a:off x="5711392" y="1838040"/>
            <a:ext cx="2032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8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94.8%</a:t>
            </a:r>
            <a:endParaRPr lang="en-US" sz="1600" dirty="0"/>
          </a:p>
        </p:txBody>
      </p:sp>
      <p:sp>
        <p:nvSpPr>
          <p:cNvPr id="1048773" name="Text 6"/>
          <p:cNvSpPr/>
          <p:nvPr/>
        </p:nvSpPr>
        <p:spPr>
          <a:xfrm>
            <a:off x="5927292" y="2447640"/>
            <a:ext cx="181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 Set Performance</a:t>
            </a:r>
            <a:endParaRPr lang="en-US" sz="1600" dirty="0"/>
          </a:p>
        </p:txBody>
      </p:sp>
      <p:sp>
        <p:nvSpPr>
          <p:cNvPr id="1048774" name="Shape 7"/>
          <p:cNvSpPr/>
          <p:nvPr/>
        </p:nvSpPr>
        <p:spPr>
          <a:xfrm>
            <a:off x="775855" y="2909458"/>
            <a:ext cx="6956136" cy="1736436"/>
          </a:xfrm>
          <a:custGeom>
            <a:avLst/>
            <a:gdLst/>
            <a:ahLst/>
            <a:cxnLst/>
            <a:rect l="l" t="t" r="r" b="b"/>
            <a:pathLst>
              <a:path w="6956136" h="1736436">
                <a:moveTo>
                  <a:pt x="152407" y="0"/>
                </a:moveTo>
                <a:lnTo>
                  <a:pt x="6803729" y="0"/>
                </a:lnTo>
                <a:cubicBezTo>
                  <a:pt x="6887901" y="0"/>
                  <a:pt x="6956136" y="68235"/>
                  <a:pt x="6956136" y="152407"/>
                </a:cubicBezTo>
                <a:lnTo>
                  <a:pt x="6956136" y="1584029"/>
                </a:lnTo>
                <a:cubicBezTo>
                  <a:pt x="6956136" y="1668201"/>
                  <a:pt x="6887901" y="1736436"/>
                  <a:pt x="6803729" y="1736436"/>
                </a:cubicBezTo>
                <a:lnTo>
                  <a:pt x="152407" y="1736436"/>
                </a:lnTo>
                <a:cubicBezTo>
                  <a:pt x="68235" y="1736436"/>
                  <a:pt x="0" y="1668201"/>
                  <a:pt x="0" y="1584029"/>
                </a:cubicBezTo>
                <a:lnTo>
                  <a:pt x="0" y="152407"/>
                </a:lnTo>
                <a:cubicBezTo>
                  <a:pt x="0" y="68235"/>
                  <a:pt x="68235" y="0"/>
                  <a:pt x="15240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8775" name="Text 8"/>
          <p:cNvSpPr/>
          <p:nvPr/>
        </p:nvSpPr>
        <p:spPr>
          <a:xfrm>
            <a:off x="983673" y="3117273"/>
            <a:ext cx="6642100" cy="1320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model achieved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excellent classification performance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using the Adam optimizer. The confusion matrix shows that most blurred images were correctly classified, with only a small number of sharp images misclassified as blur.</a:t>
            </a:r>
            <a:endParaRPr lang="en-US" sz="1600" dirty="0"/>
          </a:p>
        </p:txBody>
      </p:sp>
      <p:sp>
        <p:nvSpPr>
          <p:cNvPr id="1048776" name="Shape 9"/>
          <p:cNvSpPr/>
          <p:nvPr/>
        </p:nvSpPr>
        <p:spPr>
          <a:xfrm>
            <a:off x="512618" y="5121565"/>
            <a:ext cx="7489536" cy="3374736"/>
          </a:xfrm>
          <a:custGeom>
            <a:avLst/>
            <a:gdLst/>
            <a:ahLst/>
            <a:cxnLst/>
            <a:rect l="l" t="t" r="r" b="b"/>
            <a:pathLst>
              <a:path w="7489536" h="3374736">
                <a:moveTo>
                  <a:pt x="152403" y="0"/>
                </a:moveTo>
                <a:lnTo>
                  <a:pt x="7337133" y="0"/>
                </a:lnTo>
                <a:cubicBezTo>
                  <a:pt x="7421247" y="0"/>
                  <a:pt x="7489536" y="68290"/>
                  <a:pt x="7489536" y="152403"/>
                </a:cubicBezTo>
                <a:lnTo>
                  <a:pt x="7489536" y="3222333"/>
                </a:lnTo>
                <a:cubicBezTo>
                  <a:pt x="7489536" y="3306503"/>
                  <a:pt x="7421303" y="3374736"/>
                  <a:pt x="7337133" y="3374736"/>
                </a:cubicBezTo>
                <a:lnTo>
                  <a:pt x="152403" y="3374736"/>
                </a:lnTo>
                <a:cubicBezTo>
                  <a:pt x="68233" y="3374736"/>
                  <a:pt x="0" y="3306503"/>
                  <a:pt x="0" y="32223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777" name="Text 10"/>
          <p:cNvSpPr/>
          <p:nvPr/>
        </p:nvSpPr>
        <p:spPr>
          <a:xfrm>
            <a:off x="771236" y="5380186"/>
            <a:ext cx="7099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Classification Report</a:t>
            </a:r>
            <a:endParaRPr lang="en-US" sz="1600" dirty="0"/>
          </a:p>
        </p:txBody>
      </p:sp>
      <p:sp>
        <p:nvSpPr>
          <p:cNvPr id="1048778" name="Shape 11"/>
          <p:cNvSpPr/>
          <p:nvPr/>
        </p:nvSpPr>
        <p:spPr>
          <a:xfrm>
            <a:off x="771236" y="5938986"/>
            <a:ext cx="6972300" cy="2298700"/>
          </a:xfrm>
          <a:custGeom>
            <a:avLst/>
            <a:gdLst/>
            <a:ahLst/>
            <a:cxnLst/>
            <a:rect l="l" t="t" r="r" b="b"/>
            <a:pathLst>
              <a:path w="6972300" h="2298700">
                <a:moveTo>
                  <a:pt x="101603" y="0"/>
                </a:moveTo>
                <a:lnTo>
                  <a:pt x="6870697" y="0"/>
                </a:lnTo>
                <a:cubicBezTo>
                  <a:pt x="6926811" y="0"/>
                  <a:pt x="6972300" y="45489"/>
                  <a:pt x="6972300" y="101603"/>
                </a:cubicBezTo>
                <a:lnTo>
                  <a:pt x="6972300" y="2197097"/>
                </a:lnTo>
                <a:cubicBezTo>
                  <a:pt x="6972300" y="2253211"/>
                  <a:pt x="6926811" y="2298700"/>
                  <a:pt x="6870697" y="2298700"/>
                </a:cubicBezTo>
                <a:lnTo>
                  <a:pt x="101603" y="2298700"/>
                </a:lnTo>
                <a:cubicBezTo>
                  <a:pt x="45489" y="2298700"/>
                  <a:pt x="0" y="2253211"/>
                  <a:pt x="0" y="2197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graphicFrame>
        <p:nvGraphicFramePr>
          <p:cNvPr id="4194306" name="Table 0"/>
          <p:cNvGraphicFramePr>
            <a:graphicFrameLocks noGrp="1"/>
          </p:cNvGraphicFramePr>
          <p:nvPr/>
        </p:nvGraphicFramePr>
        <p:xfrm>
          <a:off x="771236" y="5938986"/>
          <a:ext cx="6972300" cy="2298700"/>
        </p:xfrm>
        <a:graphic>
          <a:graphicData uri="http://schemas.openxmlformats.org/drawingml/2006/table">
            <a:tbl>
              <a:tblPr/>
              <a:tblGrid>
                <a:gridCol w="166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3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974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Class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Precision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Recall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F1-Score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Support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Sharp (0)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0.92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0.92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0.92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90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Blur (1)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0.96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0.96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0.96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180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Accuracy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9A86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5E7C8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—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9A86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5E7C8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—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9A86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0.95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9A86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270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9A86A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Macro Avg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0.94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0.94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0.94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270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48779" name="Shape 12"/>
          <p:cNvSpPr/>
          <p:nvPr/>
        </p:nvSpPr>
        <p:spPr>
          <a:xfrm>
            <a:off x="8259618" y="1579418"/>
            <a:ext cx="7489536" cy="3958936"/>
          </a:xfrm>
          <a:custGeom>
            <a:avLst/>
            <a:gdLst/>
            <a:ahLst/>
            <a:cxnLst/>
            <a:rect l="l" t="t" r="r" b="b"/>
            <a:pathLst>
              <a:path w="7489536" h="3958936">
                <a:moveTo>
                  <a:pt x="152419" y="0"/>
                </a:moveTo>
                <a:lnTo>
                  <a:pt x="7337117" y="0"/>
                </a:lnTo>
                <a:cubicBezTo>
                  <a:pt x="7421296" y="0"/>
                  <a:pt x="7489536" y="68240"/>
                  <a:pt x="7489536" y="152419"/>
                </a:cubicBezTo>
                <a:lnTo>
                  <a:pt x="7489536" y="3806517"/>
                </a:lnTo>
                <a:cubicBezTo>
                  <a:pt x="7489536" y="3890696"/>
                  <a:pt x="7421296" y="3958936"/>
                  <a:pt x="7337117" y="3958936"/>
                </a:cubicBezTo>
                <a:lnTo>
                  <a:pt x="152419" y="3958936"/>
                </a:lnTo>
                <a:cubicBezTo>
                  <a:pt x="68240" y="3958936"/>
                  <a:pt x="0" y="3890696"/>
                  <a:pt x="0" y="3806517"/>
                </a:cubicBezTo>
                <a:lnTo>
                  <a:pt x="0" y="152419"/>
                </a:lnTo>
                <a:cubicBezTo>
                  <a:pt x="0" y="68240"/>
                  <a:pt x="68240" y="0"/>
                  <a:pt x="152419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780" name="Text 13"/>
          <p:cNvSpPr/>
          <p:nvPr/>
        </p:nvSpPr>
        <p:spPr>
          <a:xfrm>
            <a:off x="8518237" y="1838040"/>
            <a:ext cx="7099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1048781" name="Shape 14"/>
          <p:cNvSpPr/>
          <p:nvPr/>
        </p:nvSpPr>
        <p:spPr>
          <a:xfrm>
            <a:off x="8518237" y="2396840"/>
            <a:ext cx="6972300" cy="2882900"/>
          </a:xfrm>
          <a:custGeom>
            <a:avLst/>
            <a:gdLst/>
            <a:ahLst/>
            <a:cxnLst/>
            <a:rect l="l" t="t" r="r" b="b"/>
            <a:pathLst>
              <a:path w="6972300" h="2882900">
                <a:moveTo>
                  <a:pt x="101593" y="0"/>
                </a:moveTo>
                <a:lnTo>
                  <a:pt x="6870707" y="0"/>
                </a:lnTo>
                <a:cubicBezTo>
                  <a:pt x="6926815" y="0"/>
                  <a:pt x="6972300" y="45485"/>
                  <a:pt x="6972300" y="101593"/>
                </a:cubicBezTo>
                <a:lnTo>
                  <a:pt x="6972300" y="2781307"/>
                </a:lnTo>
                <a:cubicBezTo>
                  <a:pt x="6972300" y="2837415"/>
                  <a:pt x="6926815" y="2882900"/>
                  <a:pt x="6870707" y="2882900"/>
                </a:cubicBezTo>
                <a:lnTo>
                  <a:pt x="101593" y="2882900"/>
                </a:lnTo>
                <a:cubicBezTo>
                  <a:pt x="45485" y="2882900"/>
                  <a:pt x="0" y="2837415"/>
                  <a:pt x="0" y="2781307"/>
                </a:cubicBezTo>
                <a:lnTo>
                  <a:pt x="0" y="101593"/>
                </a:lnTo>
                <a:cubicBezTo>
                  <a:pt x="0" y="45485"/>
                  <a:pt x="45485" y="0"/>
                  <a:pt x="101593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</p:spPr>
      </p:sp>
      <p:sp>
        <p:nvSpPr>
          <p:cNvPr id="1048782" name="Text 15"/>
          <p:cNvSpPr/>
          <p:nvPr/>
        </p:nvSpPr>
        <p:spPr>
          <a:xfrm>
            <a:off x="10897539" y="260004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Predicted: Sharp</a:t>
            </a:r>
            <a:endParaRPr lang="en-US" sz="1600" dirty="0"/>
          </a:p>
        </p:txBody>
      </p:sp>
      <p:sp>
        <p:nvSpPr>
          <p:cNvPr id="1048783" name="Text 16"/>
          <p:cNvSpPr/>
          <p:nvPr/>
        </p:nvSpPr>
        <p:spPr>
          <a:xfrm>
            <a:off x="13118091" y="260004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Predicted: Blur</a:t>
            </a:r>
            <a:endParaRPr lang="en-US" sz="1600" dirty="0"/>
          </a:p>
        </p:txBody>
      </p:sp>
      <p:sp>
        <p:nvSpPr>
          <p:cNvPr id="1048784" name="Text 17"/>
          <p:cNvSpPr/>
          <p:nvPr/>
        </p:nvSpPr>
        <p:spPr>
          <a:xfrm>
            <a:off x="8721437" y="2955640"/>
            <a:ext cx="22098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Actual: Sharp</a:t>
            </a:r>
            <a:endParaRPr lang="en-US" sz="1600" dirty="0"/>
          </a:p>
        </p:txBody>
      </p:sp>
      <p:sp>
        <p:nvSpPr>
          <p:cNvPr id="1048785" name="Shape 18"/>
          <p:cNvSpPr/>
          <p:nvPr/>
        </p:nvSpPr>
        <p:spPr>
          <a:xfrm>
            <a:off x="10953534" y="2967185"/>
            <a:ext cx="2093191" cy="988291"/>
          </a:xfrm>
          <a:custGeom>
            <a:avLst/>
            <a:gdLst/>
            <a:ahLst/>
            <a:cxnLst/>
            <a:rect l="l" t="t" r="r" b="b"/>
            <a:pathLst>
              <a:path w="2093191" h="988291">
                <a:moveTo>
                  <a:pt x="101596" y="0"/>
                </a:moveTo>
                <a:lnTo>
                  <a:pt x="1991595" y="0"/>
                </a:lnTo>
                <a:cubicBezTo>
                  <a:pt x="2047705" y="0"/>
                  <a:pt x="2093191" y="45486"/>
                  <a:pt x="2093191" y="101596"/>
                </a:cubicBezTo>
                <a:lnTo>
                  <a:pt x="2093191" y="886695"/>
                </a:lnTo>
                <a:cubicBezTo>
                  <a:pt x="2093191" y="942805"/>
                  <a:pt x="2047705" y="988291"/>
                  <a:pt x="1991595" y="988291"/>
                </a:cubicBezTo>
                <a:lnTo>
                  <a:pt x="101596" y="988291"/>
                </a:lnTo>
                <a:cubicBezTo>
                  <a:pt x="45486" y="988291"/>
                  <a:pt x="0" y="942805"/>
                  <a:pt x="0" y="886695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 w="23091">
            <a:solidFill>
              <a:srgbClr val="C9A86A"/>
            </a:solidFill>
            <a:prstDash val="solid"/>
          </a:ln>
        </p:spPr>
      </p:sp>
      <p:sp>
        <p:nvSpPr>
          <p:cNvPr id="1048786" name="Text 19"/>
          <p:cNvSpPr/>
          <p:nvPr/>
        </p:nvSpPr>
        <p:spPr>
          <a:xfrm>
            <a:off x="11022230" y="3131127"/>
            <a:ext cx="195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83</a:t>
            </a:r>
            <a:endParaRPr lang="en-US" sz="1600" dirty="0"/>
          </a:p>
        </p:txBody>
      </p:sp>
      <p:sp>
        <p:nvSpPr>
          <p:cNvPr id="1048787" name="Text 20"/>
          <p:cNvSpPr/>
          <p:nvPr/>
        </p:nvSpPr>
        <p:spPr>
          <a:xfrm>
            <a:off x="11079380" y="3588327"/>
            <a:ext cx="184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True Negative</a:t>
            </a:r>
            <a:endParaRPr lang="en-US" sz="1600" dirty="0"/>
          </a:p>
        </p:txBody>
      </p:sp>
      <p:sp>
        <p:nvSpPr>
          <p:cNvPr id="1048788" name="Shape 21"/>
          <p:cNvSpPr/>
          <p:nvPr/>
        </p:nvSpPr>
        <p:spPr>
          <a:xfrm>
            <a:off x="13167159" y="2960258"/>
            <a:ext cx="2104736" cy="999836"/>
          </a:xfrm>
          <a:custGeom>
            <a:avLst/>
            <a:gdLst/>
            <a:ahLst/>
            <a:cxnLst/>
            <a:rect l="l" t="t" r="r" b="b"/>
            <a:pathLst>
              <a:path w="2104736" h="999836">
                <a:moveTo>
                  <a:pt x="101603" y="0"/>
                </a:moveTo>
                <a:lnTo>
                  <a:pt x="2003133" y="0"/>
                </a:lnTo>
                <a:cubicBezTo>
                  <a:pt x="2059247" y="0"/>
                  <a:pt x="2104736" y="45489"/>
                  <a:pt x="2104736" y="101603"/>
                </a:cubicBezTo>
                <a:lnTo>
                  <a:pt x="2104736" y="898233"/>
                </a:lnTo>
                <a:cubicBezTo>
                  <a:pt x="2104736" y="954347"/>
                  <a:pt x="2059247" y="999836"/>
                  <a:pt x="2003133" y="999836"/>
                </a:cubicBezTo>
                <a:lnTo>
                  <a:pt x="101603" y="999836"/>
                </a:lnTo>
                <a:cubicBezTo>
                  <a:pt x="45489" y="999836"/>
                  <a:pt x="0" y="954347"/>
                  <a:pt x="0" y="898233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50196"/>
              </a:srgbClr>
            </a:solidFill>
            <a:prstDash val="solid"/>
          </a:ln>
        </p:spPr>
      </p:sp>
      <p:sp>
        <p:nvSpPr>
          <p:cNvPr id="1048789" name="Text 22"/>
          <p:cNvSpPr/>
          <p:nvPr/>
        </p:nvSpPr>
        <p:spPr>
          <a:xfrm>
            <a:off x="13228926" y="3117273"/>
            <a:ext cx="198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</a:t>
            </a:r>
            <a:endParaRPr lang="en-US" sz="1600" dirty="0"/>
          </a:p>
        </p:txBody>
      </p:sp>
      <p:sp>
        <p:nvSpPr>
          <p:cNvPr id="1048790" name="Text 23"/>
          <p:cNvSpPr/>
          <p:nvPr/>
        </p:nvSpPr>
        <p:spPr>
          <a:xfrm>
            <a:off x="13286076" y="3574473"/>
            <a:ext cx="1866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False Positive</a:t>
            </a:r>
            <a:endParaRPr lang="en-US" sz="1600" dirty="0"/>
          </a:p>
        </p:txBody>
      </p:sp>
      <p:sp>
        <p:nvSpPr>
          <p:cNvPr id="1048791" name="Text 24"/>
          <p:cNvSpPr/>
          <p:nvPr/>
        </p:nvSpPr>
        <p:spPr>
          <a:xfrm>
            <a:off x="8721437" y="4068620"/>
            <a:ext cx="22098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Actual: Blur</a:t>
            </a:r>
            <a:endParaRPr lang="en-US" sz="1600" dirty="0"/>
          </a:p>
        </p:txBody>
      </p:sp>
      <p:sp>
        <p:nvSpPr>
          <p:cNvPr id="1048792" name="Shape 25"/>
          <p:cNvSpPr/>
          <p:nvPr/>
        </p:nvSpPr>
        <p:spPr>
          <a:xfrm>
            <a:off x="10946607" y="4073238"/>
            <a:ext cx="2104736" cy="999836"/>
          </a:xfrm>
          <a:custGeom>
            <a:avLst/>
            <a:gdLst/>
            <a:ahLst/>
            <a:cxnLst/>
            <a:rect l="l" t="t" r="r" b="b"/>
            <a:pathLst>
              <a:path w="2104736" h="999836">
                <a:moveTo>
                  <a:pt x="101603" y="0"/>
                </a:moveTo>
                <a:lnTo>
                  <a:pt x="2003133" y="0"/>
                </a:lnTo>
                <a:cubicBezTo>
                  <a:pt x="2059247" y="0"/>
                  <a:pt x="2104736" y="45489"/>
                  <a:pt x="2104736" y="101603"/>
                </a:cubicBezTo>
                <a:lnTo>
                  <a:pt x="2104736" y="898233"/>
                </a:lnTo>
                <a:cubicBezTo>
                  <a:pt x="2104736" y="954347"/>
                  <a:pt x="2059247" y="999836"/>
                  <a:pt x="2003133" y="999836"/>
                </a:cubicBezTo>
                <a:lnTo>
                  <a:pt x="101603" y="999836"/>
                </a:lnTo>
                <a:cubicBezTo>
                  <a:pt x="45489" y="999836"/>
                  <a:pt x="0" y="954347"/>
                  <a:pt x="0" y="898233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50196"/>
              </a:srgbClr>
            </a:solidFill>
            <a:prstDash val="solid"/>
          </a:ln>
        </p:spPr>
      </p:sp>
      <p:sp>
        <p:nvSpPr>
          <p:cNvPr id="1048793" name="Text 26"/>
          <p:cNvSpPr/>
          <p:nvPr/>
        </p:nvSpPr>
        <p:spPr>
          <a:xfrm>
            <a:off x="11008375" y="4230260"/>
            <a:ext cx="198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</a:t>
            </a:r>
            <a:endParaRPr lang="en-US" sz="1600" dirty="0"/>
          </a:p>
        </p:txBody>
      </p:sp>
      <p:sp>
        <p:nvSpPr>
          <p:cNvPr id="1048794" name="Text 27"/>
          <p:cNvSpPr/>
          <p:nvPr/>
        </p:nvSpPr>
        <p:spPr>
          <a:xfrm>
            <a:off x="11065525" y="4687460"/>
            <a:ext cx="18669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False Negative</a:t>
            </a:r>
            <a:endParaRPr lang="en-US" sz="1600" dirty="0"/>
          </a:p>
        </p:txBody>
      </p:sp>
      <p:sp>
        <p:nvSpPr>
          <p:cNvPr id="1048795" name="Shape 28"/>
          <p:cNvSpPr/>
          <p:nvPr/>
        </p:nvSpPr>
        <p:spPr>
          <a:xfrm>
            <a:off x="13174086" y="4080165"/>
            <a:ext cx="2093191" cy="988291"/>
          </a:xfrm>
          <a:custGeom>
            <a:avLst/>
            <a:gdLst/>
            <a:ahLst/>
            <a:cxnLst/>
            <a:rect l="l" t="t" r="r" b="b"/>
            <a:pathLst>
              <a:path w="2093191" h="988291">
                <a:moveTo>
                  <a:pt x="101596" y="0"/>
                </a:moveTo>
                <a:lnTo>
                  <a:pt x="1991595" y="0"/>
                </a:lnTo>
                <a:cubicBezTo>
                  <a:pt x="2047705" y="0"/>
                  <a:pt x="2093191" y="45486"/>
                  <a:pt x="2093191" y="101596"/>
                </a:cubicBezTo>
                <a:lnTo>
                  <a:pt x="2093191" y="886695"/>
                </a:lnTo>
                <a:cubicBezTo>
                  <a:pt x="2093191" y="942805"/>
                  <a:pt x="2047705" y="988291"/>
                  <a:pt x="1991595" y="988291"/>
                </a:cubicBezTo>
                <a:lnTo>
                  <a:pt x="101596" y="988291"/>
                </a:lnTo>
                <a:cubicBezTo>
                  <a:pt x="45486" y="988291"/>
                  <a:pt x="0" y="942805"/>
                  <a:pt x="0" y="886695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 w="23091">
            <a:solidFill>
              <a:srgbClr val="C9A86A"/>
            </a:solidFill>
            <a:prstDash val="solid"/>
          </a:ln>
        </p:spPr>
      </p:sp>
      <p:sp>
        <p:nvSpPr>
          <p:cNvPr id="1048796" name="Text 29"/>
          <p:cNvSpPr/>
          <p:nvPr/>
        </p:nvSpPr>
        <p:spPr>
          <a:xfrm>
            <a:off x="13242781" y="4244113"/>
            <a:ext cx="195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173</a:t>
            </a:r>
            <a:endParaRPr lang="en-US" sz="1600" dirty="0"/>
          </a:p>
        </p:txBody>
      </p:sp>
      <p:sp>
        <p:nvSpPr>
          <p:cNvPr id="1048797" name="Text 30"/>
          <p:cNvSpPr/>
          <p:nvPr/>
        </p:nvSpPr>
        <p:spPr>
          <a:xfrm>
            <a:off x="13299931" y="4701313"/>
            <a:ext cx="184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True Positive</a:t>
            </a:r>
            <a:endParaRPr lang="en-US" sz="1600" dirty="0"/>
          </a:p>
        </p:txBody>
      </p:sp>
      <p:sp>
        <p:nvSpPr>
          <p:cNvPr id="1048798" name="Shape 31"/>
          <p:cNvSpPr/>
          <p:nvPr/>
        </p:nvSpPr>
        <p:spPr>
          <a:xfrm>
            <a:off x="8259618" y="5754258"/>
            <a:ext cx="7489536" cy="1888836"/>
          </a:xfrm>
          <a:custGeom>
            <a:avLst/>
            <a:gdLst/>
            <a:ahLst/>
            <a:cxnLst/>
            <a:rect l="l" t="t" r="r" b="b"/>
            <a:pathLst>
              <a:path w="7489536" h="1888836">
                <a:moveTo>
                  <a:pt x="152391" y="0"/>
                </a:moveTo>
                <a:lnTo>
                  <a:pt x="7337145" y="0"/>
                </a:lnTo>
                <a:cubicBezTo>
                  <a:pt x="7421308" y="0"/>
                  <a:pt x="7489536" y="68228"/>
                  <a:pt x="7489536" y="152391"/>
                </a:cubicBezTo>
                <a:lnTo>
                  <a:pt x="7489536" y="1736445"/>
                </a:lnTo>
                <a:cubicBezTo>
                  <a:pt x="7489536" y="1820552"/>
                  <a:pt x="7421252" y="1888836"/>
                  <a:pt x="7337145" y="1888836"/>
                </a:cubicBezTo>
                <a:lnTo>
                  <a:pt x="152391" y="1888836"/>
                </a:lnTo>
                <a:cubicBezTo>
                  <a:pt x="68228" y="1888836"/>
                  <a:pt x="0" y="1820608"/>
                  <a:pt x="0" y="1736445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799" name="Text 32"/>
          <p:cNvSpPr/>
          <p:nvPr/>
        </p:nvSpPr>
        <p:spPr>
          <a:xfrm>
            <a:off x="8467437" y="5962073"/>
            <a:ext cx="7188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048800" name="Shape 33"/>
          <p:cNvSpPr/>
          <p:nvPr/>
        </p:nvSpPr>
        <p:spPr>
          <a:xfrm>
            <a:off x="8492837" y="652087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01" name="Text 34"/>
          <p:cNvSpPr/>
          <p:nvPr/>
        </p:nvSpPr>
        <p:spPr>
          <a:xfrm>
            <a:off x="8873837" y="6470073"/>
            <a:ext cx="6324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Stable Convergence:</a:t>
            </a:r>
            <a:r>
              <a:rPr lang="en-US" sz="14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Adam provided consistent training with minimal oscillation.</a:t>
            </a:r>
            <a:endParaRPr lang="en-US" sz="1600" dirty="0"/>
          </a:p>
        </p:txBody>
      </p:sp>
      <p:sp>
        <p:nvSpPr>
          <p:cNvPr id="1048802" name="Shape 35"/>
          <p:cNvSpPr/>
          <p:nvPr/>
        </p:nvSpPr>
        <p:spPr>
          <a:xfrm>
            <a:off x="8492837" y="687647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03" name="Text 36"/>
          <p:cNvSpPr/>
          <p:nvPr/>
        </p:nvSpPr>
        <p:spPr>
          <a:xfrm>
            <a:off x="8873837" y="6825673"/>
            <a:ext cx="5702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Precision:</a:t>
            </a:r>
            <a:r>
              <a:rPr lang="en-US" sz="14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96% precision for blur class indicates low false positives.</a:t>
            </a:r>
            <a:endParaRPr lang="en-US" sz="1600" dirty="0"/>
          </a:p>
        </p:txBody>
      </p:sp>
      <p:sp>
        <p:nvSpPr>
          <p:cNvPr id="1048804" name="Shape 37"/>
          <p:cNvSpPr/>
          <p:nvPr/>
        </p:nvSpPr>
        <p:spPr>
          <a:xfrm>
            <a:off x="8492837" y="723207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805" name="Text 38"/>
          <p:cNvSpPr/>
          <p:nvPr/>
        </p:nvSpPr>
        <p:spPr>
          <a:xfrm>
            <a:off x="8873837" y="7181273"/>
            <a:ext cx="5638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Balanced Performance:</a:t>
            </a:r>
            <a:r>
              <a:rPr lang="en-US" sz="14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Similar precision and recall across both classes.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Shape 0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739" name="Text 1"/>
          <p:cNvSpPr/>
          <p:nvPr/>
        </p:nvSpPr>
        <p:spPr>
          <a:xfrm>
            <a:off x="762000" y="508000"/>
            <a:ext cx="7543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 / Experiments &amp; Results</a:t>
            </a:r>
            <a:endParaRPr lang="en-US" sz="1600" dirty="0"/>
          </a:p>
        </p:txBody>
      </p:sp>
      <p:sp>
        <p:nvSpPr>
          <p:cNvPr id="1048740" name="Text 2"/>
          <p:cNvSpPr/>
          <p:nvPr/>
        </p:nvSpPr>
        <p:spPr>
          <a:xfrm>
            <a:off x="762000" y="812800"/>
            <a:ext cx="7683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Optimizer Comparison: Adam vs SGD</a:t>
            </a:r>
            <a:endParaRPr lang="en-US" sz="1600" dirty="0"/>
          </a:p>
        </p:txBody>
      </p:sp>
      <p:sp>
        <p:nvSpPr>
          <p:cNvPr id="1048741" name="Text 3"/>
          <p:cNvSpPr/>
          <p:nvPr/>
        </p:nvSpPr>
        <p:spPr>
          <a:xfrm>
            <a:off x="508000" y="1574800"/>
            <a:ext cx="15341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 evaluate the impact of different optimization algorithms, we compared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Adam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and </a:t>
            </a:r>
            <a:r>
              <a:rPr lang="en-US" sz="16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Stochastic Gradient Descent (SGD)</a:t>
            </a: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using the same network architecture. This experiment helps analyze convergence behavior and classification performance differences.</a:t>
            </a:r>
            <a:endParaRPr lang="en-US" sz="1600" dirty="0"/>
          </a:p>
        </p:txBody>
      </p:sp>
      <p:sp>
        <p:nvSpPr>
          <p:cNvPr id="1048742" name="Shape 4"/>
          <p:cNvSpPr/>
          <p:nvPr/>
        </p:nvSpPr>
        <p:spPr>
          <a:xfrm>
            <a:off x="519545" y="2399145"/>
            <a:ext cx="7465291" cy="4645891"/>
          </a:xfrm>
          <a:custGeom>
            <a:avLst/>
            <a:gdLst/>
            <a:ahLst/>
            <a:cxnLst/>
            <a:rect l="l" t="t" r="r" b="b"/>
            <a:pathLst>
              <a:path w="7465291" h="4645891">
                <a:moveTo>
                  <a:pt x="152385" y="0"/>
                </a:moveTo>
                <a:lnTo>
                  <a:pt x="7312906" y="0"/>
                </a:lnTo>
                <a:cubicBezTo>
                  <a:pt x="7397066" y="0"/>
                  <a:pt x="7465291" y="68225"/>
                  <a:pt x="7465291" y="152385"/>
                </a:cubicBezTo>
                <a:lnTo>
                  <a:pt x="7465291" y="4493506"/>
                </a:lnTo>
                <a:cubicBezTo>
                  <a:pt x="7465291" y="4577666"/>
                  <a:pt x="7397066" y="4645891"/>
                  <a:pt x="7312906" y="4645891"/>
                </a:cubicBezTo>
                <a:lnTo>
                  <a:pt x="152385" y="4645891"/>
                </a:lnTo>
                <a:cubicBezTo>
                  <a:pt x="68225" y="4645891"/>
                  <a:pt x="0" y="4577666"/>
                  <a:pt x="0" y="4493506"/>
                </a:cubicBezTo>
                <a:lnTo>
                  <a:pt x="0" y="152385"/>
                </a:lnTo>
                <a:cubicBezTo>
                  <a:pt x="0" y="68225"/>
                  <a:pt x="68225" y="0"/>
                  <a:pt x="15238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23091">
            <a:solidFill>
              <a:srgbClr val="C9A86A"/>
            </a:solidFill>
            <a:prstDash val="solid"/>
          </a:ln>
        </p:spPr>
      </p:sp>
      <p:sp>
        <p:nvSpPr>
          <p:cNvPr id="1048743" name="Shape 5"/>
          <p:cNvSpPr/>
          <p:nvPr/>
        </p:nvSpPr>
        <p:spPr>
          <a:xfrm>
            <a:off x="785091" y="274089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744" name="Shape 6"/>
          <p:cNvSpPr/>
          <p:nvPr/>
        </p:nvSpPr>
        <p:spPr>
          <a:xfrm>
            <a:off x="937491" y="289329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745" name="Text 7"/>
          <p:cNvSpPr/>
          <p:nvPr/>
        </p:nvSpPr>
        <p:spPr>
          <a:xfrm>
            <a:off x="1547091" y="2715493"/>
            <a:ext cx="24257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Adam Optimizer</a:t>
            </a:r>
            <a:endParaRPr lang="en-US" sz="1600" dirty="0"/>
          </a:p>
        </p:txBody>
      </p:sp>
      <p:sp>
        <p:nvSpPr>
          <p:cNvPr id="1048746" name="Text 8"/>
          <p:cNvSpPr/>
          <p:nvPr/>
        </p:nvSpPr>
        <p:spPr>
          <a:xfrm>
            <a:off x="1547091" y="3121893"/>
            <a:ext cx="2362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Adaptive Moment Estimation</a:t>
            </a:r>
            <a:endParaRPr lang="en-US" sz="1600" dirty="0"/>
          </a:p>
        </p:txBody>
      </p:sp>
      <p:sp>
        <p:nvSpPr>
          <p:cNvPr id="1048747" name="Text 9"/>
          <p:cNvSpPr/>
          <p:nvPr/>
        </p:nvSpPr>
        <p:spPr>
          <a:xfrm>
            <a:off x="6204167" y="2664693"/>
            <a:ext cx="1524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3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94.8%</a:t>
            </a:r>
            <a:endParaRPr lang="en-US" sz="1600" dirty="0"/>
          </a:p>
        </p:txBody>
      </p:sp>
      <p:sp>
        <p:nvSpPr>
          <p:cNvPr id="1048748" name="Text 10"/>
          <p:cNvSpPr/>
          <p:nvPr/>
        </p:nvSpPr>
        <p:spPr>
          <a:xfrm>
            <a:off x="6343867" y="3172693"/>
            <a:ext cx="1384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WINNER</a:t>
            </a:r>
            <a:endParaRPr lang="en-US" sz="1600" dirty="0"/>
          </a:p>
        </p:txBody>
      </p:sp>
      <p:sp>
        <p:nvSpPr>
          <p:cNvPr id="1048749" name="Shape 11"/>
          <p:cNvSpPr/>
          <p:nvPr/>
        </p:nvSpPr>
        <p:spPr>
          <a:xfrm>
            <a:off x="789709" y="3634511"/>
            <a:ext cx="6930736" cy="2155536"/>
          </a:xfrm>
          <a:custGeom>
            <a:avLst/>
            <a:gdLst/>
            <a:ahLst/>
            <a:cxnLst/>
            <a:rect l="l" t="t" r="r" b="b"/>
            <a:pathLst>
              <a:path w="6930736" h="2155536">
                <a:moveTo>
                  <a:pt x="101590" y="0"/>
                </a:moveTo>
                <a:lnTo>
                  <a:pt x="6829146" y="0"/>
                </a:lnTo>
                <a:cubicBezTo>
                  <a:pt x="6885253" y="0"/>
                  <a:pt x="6930736" y="45484"/>
                  <a:pt x="6930736" y="101590"/>
                </a:cubicBezTo>
                <a:lnTo>
                  <a:pt x="6930736" y="2053946"/>
                </a:lnTo>
                <a:cubicBezTo>
                  <a:pt x="6930736" y="2110053"/>
                  <a:pt x="6885253" y="2155536"/>
                  <a:pt x="6829146" y="2155536"/>
                </a:cubicBezTo>
                <a:lnTo>
                  <a:pt x="101590" y="2155536"/>
                </a:lnTo>
                <a:cubicBezTo>
                  <a:pt x="45484" y="2155536"/>
                  <a:pt x="0" y="2110053"/>
                  <a:pt x="0" y="2053946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946727" y="3791527"/>
          <a:ext cx="6616700" cy="1841500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Metric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Sharp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Blur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Precision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0.92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0.96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Recall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0.92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0.96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F1-Score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0.92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86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0.96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750" name="Shape 12"/>
          <p:cNvSpPr/>
          <p:nvPr/>
        </p:nvSpPr>
        <p:spPr>
          <a:xfrm>
            <a:off x="789709" y="5948218"/>
            <a:ext cx="6930736" cy="822036"/>
          </a:xfrm>
          <a:custGeom>
            <a:avLst/>
            <a:gdLst/>
            <a:ahLst/>
            <a:cxnLst/>
            <a:rect l="l" t="t" r="r" b="b"/>
            <a:pathLst>
              <a:path w="6930736" h="822036">
                <a:moveTo>
                  <a:pt x="101604" y="0"/>
                </a:moveTo>
                <a:lnTo>
                  <a:pt x="6829133" y="0"/>
                </a:lnTo>
                <a:cubicBezTo>
                  <a:pt x="6885247" y="0"/>
                  <a:pt x="6930736" y="45490"/>
                  <a:pt x="6930736" y="101604"/>
                </a:cubicBezTo>
                <a:lnTo>
                  <a:pt x="6930736" y="720433"/>
                </a:lnTo>
                <a:cubicBezTo>
                  <a:pt x="6930736" y="776547"/>
                  <a:pt x="6885247" y="822036"/>
                  <a:pt x="6829133" y="822036"/>
                </a:cubicBezTo>
                <a:lnTo>
                  <a:pt x="101604" y="822036"/>
                </a:lnTo>
                <a:cubicBezTo>
                  <a:pt x="45527" y="822036"/>
                  <a:pt x="0" y="776509"/>
                  <a:pt x="0" y="720433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8751" name="Text 13"/>
          <p:cNvSpPr/>
          <p:nvPr/>
        </p:nvSpPr>
        <p:spPr>
          <a:xfrm>
            <a:off x="946727" y="6105240"/>
            <a:ext cx="6705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Advantage: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Adam adapts the learning rate using first and second moment estimates, which improves stability and convergence speed.</a:t>
            </a:r>
            <a:endParaRPr lang="en-US" sz="1600" dirty="0"/>
          </a:p>
        </p:txBody>
      </p:sp>
      <p:sp>
        <p:nvSpPr>
          <p:cNvPr id="1048752" name="Shape 14"/>
          <p:cNvSpPr/>
          <p:nvPr/>
        </p:nvSpPr>
        <p:spPr>
          <a:xfrm>
            <a:off x="8259618" y="2392218"/>
            <a:ext cx="7489536" cy="4657436"/>
          </a:xfrm>
          <a:custGeom>
            <a:avLst/>
            <a:gdLst/>
            <a:ahLst/>
            <a:cxnLst/>
            <a:rect l="l" t="t" r="r" b="b"/>
            <a:pathLst>
              <a:path w="7489536" h="4657436">
                <a:moveTo>
                  <a:pt x="152391" y="0"/>
                </a:moveTo>
                <a:lnTo>
                  <a:pt x="7337145" y="0"/>
                </a:lnTo>
                <a:cubicBezTo>
                  <a:pt x="7421308" y="0"/>
                  <a:pt x="7489536" y="68228"/>
                  <a:pt x="7489536" y="152391"/>
                </a:cubicBezTo>
                <a:lnTo>
                  <a:pt x="7489536" y="4505045"/>
                </a:lnTo>
                <a:cubicBezTo>
                  <a:pt x="7489536" y="4589208"/>
                  <a:pt x="7421308" y="4657436"/>
                  <a:pt x="7337145" y="4657436"/>
                </a:cubicBezTo>
                <a:lnTo>
                  <a:pt x="152391" y="4657436"/>
                </a:lnTo>
                <a:cubicBezTo>
                  <a:pt x="68228" y="4657436"/>
                  <a:pt x="0" y="4589208"/>
                  <a:pt x="0" y="4505045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50196"/>
              </a:srgbClr>
            </a:solidFill>
            <a:prstDash val="solid"/>
          </a:ln>
        </p:spPr>
      </p:sp>
      <p:sp>
        <p:nvSpPr>
          <p:cNvPr id="1048753" name="Shape 15"/>
          <p:cNvSpPr/>
          <p:nvPr/>
        </p:nvSpPr>
        <p:spPr>
          <a:xfrm>
            <a:off x="8518237" y="26762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754" name="Shape 16"/>
          <p:cNvSpPr/>
          <p:nvPr/>
        </p:nvSpPr>
        <p:spPr>
          <a:xfrm>
            <a:off x="8670637" y="28286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6145" y="5655"/>
                </a:moveTo>
                <a:cubicBezTo>
                  <a:pt x="117931" y="-3155"/>
                  <a:pt x="125730" y="-9525"/>
                  <a:pt x="134779" y="-9525"/>
                </a:cubicBezTo>
                <a:lnTo>
                  <a:pt x="170378" y="-9525"/>
                </a:lnTo>
                <a:cubicBezTo>
                  <a:pt x="179427" y="-9525"/>
                  <a:pt x="187226" y="-3155"/>
                  <a:pt x="189012" y="5655"/>
                </a:cubicBezTo>
                <a:lnTo>
                  <a:pt x="197644" y="47327"/>
                </a:lnTo>
                <a:cubicBezTo>
                  <a:pt x="206038" y="50899"/>
                  <a:pt x="213896" y="55483"/>
                  <a:pt x="221040" y="60900"/>
                </a:cubicBezTo>
                <a:lnTo>
                  <a:pt x="261402" y="47506"/>
                </a:lnTo>
                <a:cubicBezTo>
                  <a:pt x="269974" y="44648"/>
                  <a:pt x="279380" y="48220"/>
                  <a:pt x="283905" y="56078"/>
                </a:cubicBezTo>
                <a:lnTo>
                  <a:pt x="301704" y="86916"/>
                </a:lnTo>
                <a:cubicBezTo>
                  <a:pt x="306229" y="94774"/>
                  <a:pt x="304621" y="104656"/>
                  <a:pt x="297835" y="110669"/>
                </a:cubicBezTo>
                <a:lnTo>
                  <a:pt x="266105" y="138886"/>
                </a:lnTo>
                <a:cubicBezTo>
                  <a:pt x="266640" y="143292"/>
                  <a:pt x="266879" y="147816"/>
                  <a:pt x="266879" y="152400"/>
                </a:cubicBezTo>
                <a:cubicBezTo>
                  <a:pt x="266879" y="156984"/>
                  <a:pt x="266581" y="161508"/>
                  <a:pt x="266105" y="165914"/>
                </a:cubicBezTo>
                <a:lnTo>
                  <a:pt x="297894" y="194191"/>
                </a:lnTo>
                <a:cubicBezTo>
                  <a:pt x="304681" y="200204"/>
                  <a:pt x="306229" y="210145"/>
                  <a:pt x="301764" y="217944"/>
                </a:cubicBezTo>
                <a:lnTo>
                  <a:pt x="283964" y="248781"/>
                </a:lnTo>
                <a:cubicBezTo>
                  <a:pt x="279440" y="256580"/>
                  <a:pt x="270034" y="260211"/>
                  <a:pt x="261461" y="257354"/>
                </a:cubicBezTo>
                <a:lnTo>
                  <a:pt x="221099" y="243959"/>
                </a:lnTo>
                <a:cubicBezTo>
                  <a:pt x="213896" y="249376"/>
                  <a:pt x="206038" y="253901"/>
                  <a:pt x="197703" y="257532"/>
                </a:cubicBezTo>
                <a:lnTo>
                  <a:pt x="189131" y="299145"/>
                </a:lnTo>
                <a:cubicBezTo>
                  <a:pt x="187285" y="308015"/>
                  <a:pt x="179487" y="314325"/>
                  <a:pt x="170497" y="314325"/>
                </a:cubicBezTo>
                <a:lnTo>
                  <a:pt x="134898" y="314325"/>
                </a:lnTo>
                <a:cubicBezTo>
                  <a:pt x="125849" y="314325"/>
                  <a:pt x="118050" y="307955"/>
                  <a:pt x="116265" y="299145"/>
                </a:cubicBezTo>
                <a:lnTo>
                  <a:pt x="107692" y="257532"/>
                </a:lnTo>
                <a:cubicBezTo>
                  <a:pt x="99298" y="253960"/>
                  <a:pt x="91500" y="249376"/>
                  <a:pt x="84296" y="243959"/>
                </a:cubicBezTo>
                <a:lnTo>
                  <a:pt x="43755" y="257354"/>
                </a:lnTo>
                <a:cubicBezTo>
                  <a:pt x="35183" y="260211"/>
                  <a:pt x="25777" y="256639"/>
                  <a:pt x="21253" y="248781"/>
                </a:cubicBezTo>
                <a:lnTo>
                  <a:pt x="3453" y="217944"/>
                </a:lnTo>
                <a:cubicBezTo>
                  <a:pt x="-1072" y="210086"/>
                  <a:pt x="536" y="200204"/>
                  <a:pt x="7322" y="194191"/>
                </a:cubicBezTo>
                <a:lnTo>
                  <a:pt x="39112" y="165914"/>
                </a:lnTo>
                <a:cubicBezTo>
                  <a:pt x="38576" y="161508"/>
                  <a:pt x="38338" y="156984"/>
                  <a:pt x="38338" y="152400"/>
                </a:cubicBezTo>
                <a:cubicBezTo>
                  <a:pt x="38338" y="147816"/>
                  <a:pt x="38636" y="143292"/>
                  <a:pt x="39112" y="138886"/>
                </a:cubicBezTo>
                <a:lnTo>
                  <a:pt x="7322" y="110609"/>
                </a:lnTo>
                <a:cubicBezTo>
                  <a:pt x="536" y="104596"/>
                  <a:pt x="-1012" y="94655"/>
                  <a:pt x="3453" y="86856"/>
                </a:cubicBezTo>
                <a:lnTo>
                  <a:pt x="21253" y="56019"/>
                </a:lnTo>
                <a:cubicBezTo>
                  <a:pt x="25777" y="48161"/>
                  <a:pt x="35183" y="44589"/>
                  <a:pt x="43755" y="47446"/>
                </a:cubicBezTo>
                <a:lnTo>
                  <a:pt x="84118" y="60841"/>
                </a:lnTo>
                <a:cubicBezTo>
                  <a:pt x="91321" y="55424"/>
                  <a:pt x="99179" y="50899"/>
                  <a:pt x="107513" y="47268"/>
                </a:cubicBezTo>
                <a:lnTo>
                  <a:pt x="116145" y="5655"/>
                </a:lnTo>
                <a:close/>
                <a:moveTo>
                  <a:pt x="152579" y="200025"/>
                </a:moveTo>
                <a:cubicBezTo>
                  <a:pt x="169593" y="199961"/>
                  <a:pt x="185282" y="190825"/>
                  <a:pt x="193734" y="176058"/>
                </a:cubicBezTo>
                <a:cubicBezTo>
                  <a:pt x="202186" y="161291"/>
                  <a:pt x="202118" y="143136"/>
                  <a:pt x="193555" y="128433"/>
                </a:cubicBezTo>
                <a:cubicBezTo>
                  <a:pt x="184993" y="113730"/>
                  <a:pt x="169236" y="104711"/>
                  <a:pt x="152221" y="104775"/>
                </a:cubicBezTo>
                <a:cubicBezTo>
                  <a:pt x="135207" y="104839"/>
                  <a:pt x="119518" y="113975"/>
                  <a:pt x="111066" y="128742"/>
                </a:cubicBezTo>
                <a:cubicBezTo>
                  <a:pt x="102614" y="143509"/>
                  <a:pt x="102682" y="161664"/>
                  <a:pt x="111245" y="176367"/>
                </a:cubicBezTo>
                <a:cubicBezTo>
                  <a:pt x="119807" y="191070"/>
                  <a:pt x="135564" y="200089"/>
                  <a:pt x="152579" y="200025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755" name="Text 17"/>
          <p:cNvSpPr/>
          <p:nvPr/>
        </p:nvSpPr>
        <p:spPr>
          <a:xfrm>
            <a:off x="9280237" y="2650840"/>
            <a:ext cx="2387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SGD Optimizer</a:t>
            </a:r>
            <a:endParaRPr lang="en-US" sz="1600" dirty="0"/>
          </a:p>
        </p:txBody>
      </p:sp>
      <p:sp>
        <p:nvSpPr>
          <p:cNvPr id="1048756" name="Text 18"/>
          <p:cNvSpPr/>
          <p:nvPr/>
        </p:nvSpPr>
        <p:spPr>
          <a:xfrm>
            <a:off x="9280237" y="3057240"/>
            <a:ext cx="2324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Stochastic Gradient Descent</a:t>
            </a:r>
            <a:endParaRPr lang="en-US" sz="1600" dirty="0"/>
          </a:p>
        </p:txBody>
      </p:sp>
      <p:sp>
        <p:nvSpPr>
          <p:cNvPr id="1048757" name="Text 19"/>
          <p:cNvSpPr/>
          <p:nvPr/>
        </p:nvSpPr>
        <p:spPr>
          <a:xfrm>
            <a:off x="13931612" y="2727040"/>
            <a:ext cx="1549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36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90.0%</a:t>
            </a:r>
            <a:endParaRPr lang="en-US" sz="1600" dirty="0"/>
          </a:p>
        </p:txBody>
      </p:sp>
      <p:sp>
        <p:nvSpPr>
          <p:cNvPr id="1048758" name="Shape 20"/>
          <p:cNvSpPr/>
          <p:nvPr/>
        </p:nvSpPr>
        <p:spPr>
          <a:xfrm>
            <a:off x="8522855" y="3519058"/>
            <a:ext cx="6956136" cy="2155536"/>
          </a:xfrm>
          <a:custGeom>
            <a:avLst/>
            <a:gdLst/>
            <a:ahLst/>
            <a:cxnLst/>
            <a:rect l="l" t="t" r="r" b="b"/>
            <a:pathLst>
              <a:path w="6956136" h="2155536">
                <a:moveTo>
                  <a:pt x="101590" y="0"/>
                </a:moveTo>
                <a:lnTo>
                  <a:pt x="6854546" y="0"/>
                </a:lnTo>
                <a:cubicBezTo>
                  <a:pt x="6910653" y="0"/>
                  <a:pt x="6956136" y="45484"/>
                  <a:pt x="6956136" y="101590"/>
                </a:cubicBezTo>
                <a:lnTo>
                  <a:pt x="6956136" y="2053946"/>
                </a:lnTo>
                <a:cubicBezTo>
                  <a:pt x="6956136" y="2110053"/>
                  <a:pt x="6910653" y="2155536"/>
                  <a:pt x="6854546" y="2155536"/>
                </a:cubicBezTo>
                <a:lnTo>
                  <a:pt x="101590" y="2155536"/>
                </a:lnTo>
                <a:cubicBezTo>
                  <a:pt x="45484" y="2155536"/>
                  <a:pt x="0" y="2110053"/>
                  <a:pt x="0" y="2053946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graphicFrame>
        <p:nvGraphicFramePr>
          <p:cNvPr id="4194305" name="Table 1"/>
          <p:cNvGraphicFramePr>
            <a:graphicFrameLocks noGrp="1"/>
          </p:cNvGraphicFramePr>
          <p:nvPr/>
        </p:nvGraphicFramePr>
        <p:xfrm>
          <a:off x="8679873" y="3676073"/>
          <a:ext cx="6642100" cy="1841500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Metric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Sharp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Blur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Precision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3A5F7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0.90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3A5F7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0.90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23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Recall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3A5F7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0.79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3A5F7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0.96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0E2E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F1-Score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3A5F7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0.84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3A5F7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Microsoft YaHei" panose="020B0503020204020204" pitchFamily="34" charset="-120"/>
                        </a:rPr>
                        <a:t>0.93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Microsoft YaHei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759" name="Shape 21"/>
          <p:cNvSpPr/>
          <p:nvPr/>
        </p:nvSpPr>
        <p:spPr>
          <a:xfrm>
            <a:off x="8522855" y="5832765"/>
            <a:ext cx="6956136" cy="822036"/>
          </a:xfrm>
          <a:custGeom>
            <a:avLst/>
            <a:gdLst/>
            <a:ahLst/>
            <a:cxnLst/>
            <a:rect l="l" t="t" r="r" b="b"/>
            <a:pathLst>
              <a:path w="6956136" h="822036">
                <a:moveTo>
                  <a:pt x="101604" y="0"/>
                </a:moveTo>
                <a:lnTo>
                  <a:pt x="6854533" y="0"/>
                </a:lnTo>
                <a:cubicBezTo>
                  <a:pt x="6910647" y="0"/>
                  <a:pt x="6956136" y="45490"/>
                  <a:pt x="6956136" y="101604"/>
                </a:cubicBezTo>
                <a:lnTo>
                  <a:pt x="6956136" y="720433"/>
                </a:lnTo>
                <a:cubicBezTo>
                  <a:pt x="6956136" y="776547"/>
                  <a:pt x="6910647" y="822036"/>
                  <a:pt x="6854533" y="822036"/>
                </a:cubicBezTo>
                <a:lnTo>
                  <a:pt x="101604" y="822036"/>
                </a:lnTo>
                <a:cubicBezTo>
                  <a:pt x="45527" y="822036"/>
                  <a:pt x="0" y="776509"/>
                  <a:pt x="0" y="720433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760" name="Text 22"/>
          <p:cNvSpPr/>
          <p:nvPr/>
        </p:nvSpPr>
        <p:spPr>
          <a:xfrm>
            <a:off x="8679873" y="5989786"/>
            <a:ext cx="673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Observation: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SGD showed more misclassification in the sharp class (recall: 0.79 vs 0.92), indicating less stable convergence.</a:t>
            </a:r>
            <a:endParaRPr lang="en-US" sz="1600" dirty="0"/>
          </a:p>
        </p:txBody>
      </p:sp>
      <p:sp>
        <p:nvSpPr>
          <p:cNvPr id="1048761" name="Shape 23"/>
          <p:cNvSpPr/>
          <p:nvPr/>
        </p:nvSpPr>
        <p:spPr>
          <a:xfrm>
            <a:off x="512618" y="7259785"/>
            <a:ext cx="15236536" cy="720436"/>
          </a:xfrm>
          <a:custGeom>
            <a:avLst/>
            <a:gdLst/>
            <a:ahLst/>
            <a:cxnLst/>
            <a:rect l="l" t="t" r="r" b="b"/>
            <a:pathLst>
              <a:path w="15236536" h="720436">
                <a:moveTo>
                  <a:pt x="101603" y="0"/>
                </a:moveTo>
                <a:lnTo>
                  <a:pt x="15134933" y="0"/>
                </a:lnTo>
                <a:cubicBezTo>
                  <a:pt x="15191047" y="0"/>
                  <a:pt x="15236536" y="45489"/>
                  <a:pt x="15236536" y="101603"/>
                </a:cubicBezTo>
                <a:lnTo>
                  <a:pt x="15236536" y="618833"/>
                </a:lnTo>
                <a:cubicBezTo>
                  <a:pt x="15236536" y="674947"/>
                  <a:pt x="15191047" y="720436"/>
                  <a:pt x="15134933" y="720436"/>
                </a:cubicBezTo>
                <a:lnTo>
                  <a:pt x="101603" y="720436"/>
                </a:lnTo>
                <a:cubicBezTo>
                  <a:pt x="45489" y="720436"/>
                  <a:pt x="0" y="674947"/>
                  <a:pt x="0" y="618833"/>
                </a:cubicBezTo>
                <a:lnTo>
                  <a:pt x="0" y="101603"/>
                </a:lnTo>
                <a:cubicBezTo>
                  <a:pt x="0" y="45489"/>
                  <a:pt x="45489" y="0"/>
                  <a:pt x="101603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8762" name="Shape 24"/>
          <p:cNvSpPr/>
          <p:nvPr/>
        </p:nvSpPr>
        <p:spPr>
          <a:xfrm>
            <a:off x="1189038" y="7509166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763" name="Text 25"/>
          <p:cNvSpPr/>
          <p:nvPr/>
        </p:nvSpPr>
        <p:spPr>
          <a:xfrm>
            <a:off x="1025236" y="7467600"/>
            <a:ext cx="1456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Conclusion: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Adam optimizer was more effective for this problem, achieving higher accuracy (94.8% vs 90.0%) and better convergence compared to SGD.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Shape 0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78" name="Text 1"/>
          <p:cNvSpPr/>
          <p:nvPr/>
        </p:nvSpPr>
        <p:spPr>
          <a:xfrm>
            <a:off x="762000" y="508000"/>
            <a:ext cx="4191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 / Live Demo</a:t>
            </a:r>
            <a:endParaRPr lang="en-US" sz="1600" dirty="0"/>
          </a:p>
        </p:txBody>
      </p:sp>
      <p:sp>
        <p:nvSpPr>
          <p:cNvPr id="1048679" name="Text 2"/>
          <p:cNvSpPr/>
          <p:nvPr/>
        </p:nvSpPr>
        <p:spPr>
          <a:xfrm>
            <a:off x="762000" y="812800"/>
            <a:ext cx="4330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Testing New Images</a:t>
            </a:r>
            <a:endParaRPr lang="en-US" sz="1600" dirty="0"/>
          </a:p>
        </p:txBody>
      </p:sp>
      <p:sp>
        <p:nvSpPr>
          <p:cNvPr id="1048680" name="Text 3"/>
          <p:cNvSpPr/>
          <p:nvPr/>
        </p:nvSpPr>
        <p:spPr>
          <a:xfrm>
            <a:off x="508000" y="1574800"/>
            <a:ext cx="15341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 demonstrate the model performance, we implemented a prediction pipeline that processes new images through the same preprocessing and feature extraction steps used during training.</a:t>
            </a:r>
            <a:endParaRPr lang="en-US" sz="1600" dirty="0"/>
          </a:p>
        </p:txBody>
      </p:sp>
      <p:sp>
        <p:nvSpPr>
          <p:cNvPr id="1048681" name="Shape 4"/>
          <p:cNvSpPr/>
          <p:nvPr/>
        </p:nvSpPr>
        <p:spPr>
          <a:xfrm>
            <a:off x="512618" y="2392218"/>
            <a:ext cx="7489536" cy="6562436"/>
          </a:xfrm>
          <a:custGeom>
            <a:avLst/>
            <a:gdLst/>
            <a:ahLst/>
            <a:cxnLst/>
            <a:rect l="l" t="t" r="r" b="b"/>
            <a:pathLst>
              <a:path w="7489536" h="6562436">
                <a:moveTo>
                  <a:pt x="152380" y="0"/>
                </a:moveTo>
                <a:lnTo>
                  <a:pt x="7337157" y="0"/>
                </a:lnTo>
                <a:cubicBezTo>
                  <a:pt x="7421314" y="0"/>
                  <a:pt x="7489536" y="68223"/>
                  <a:pt x="7489536" y="152380"/>
                </a:cubicBezTo>
                <a:lnTo>
                  <a:pt x="7489536" y="6410057"/>
                </a:lnTo>
                <a:cubicBezTo>
                  <a:pt x="7489536" y="6494214"/>
                  <a:pt x="7421314" y="6562436"/>
                  <a:pt x="7337157" y="6562436"/>
                </a:cubicBezTo>
                <a:lnTo>
                  <a:pt x="152380" y="6562436"/>
                </a:lnTo>
                <a:cubicBezTo>
                  <a:pt x="68223" y="6562436"/>
                  <a:pt x="0" y="6494214"/>
                  <a:pt x="0" y="6410057"/>
                </a:cubicBezTo>
                <a:lnTo>
                  <a:pt x="0" y="152380"/>
                </a:lnTo>
                <a:cubicBezTo>
                  <a:pt x="0" y="68223"/>
                  <a:pt x="68223" y="0"/>
                  <a:pt x="152380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682" name="Text 5"/>
          <p:cNvSpPr/>
          <p:nvPr/>
        </p:nvSpPr>
        <p:spPr>
          <a:xfrm>
            <a:off x="771236" y="2650840"/>
            <a:ext cx="7099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Prediction Pipeline</a:t>
            </a:r>
            <a:endParaRPr lang="en-US" sz="1600" dirty="0"/>
          </a:p>
        </p:txBody>
      </p:sp>
      <p:sp>
        <p:nvSpPr>
          <p:cNvPr id="1048683" name="Shape 6"/>
          <p:cNvSpPr/>
          <p:nvPr/>
        </p:nvSpPr>
        <p:spPr>
          <a:xfrm>
            <a:off x="796636" y="3209640"/>
            <a:ext cx="6946900" cy="711200"/>
          </a:xfrm>
          <a:custGeom>
            <a:avLst/>
            <a:gdLst/>
            <a:ahLst/>
            <a:cxnLst/>
            <a:rect l="l" t="t" r="r" b="b"/>
            <a:pathLst>
              <a:path w="6946900" h="711200">
                <a:moveTo>
                  <a:pt x="50800" y="0"/>
                </a:moveTo>
                <a:lnTo>
                  <a:pt x="6845298" y="0"/>
                </a:lnTo>
                <a:cubicBezTo>
                  <a:pt x="6901411" y="0"/>
                  <a:pt x="6946900" y="45489"/>
                  <a:pt x="6946900" y="101602"/>
                </a:cubicBezTo>
                <a:lnTo>
                  <a:pt x="6946900" y="609598"/>
                </a:lnTo>
                <a:cubicBezTo>
                  <a:pt x="6946900" y="665711"/>
                  <a:pt x="6901411" y="711200"/>
                  <a:pt x="6845298" y="711200"/>
                </a:cubicBezTo>
                <a:lnTo>
                  <a:pt x="50800" y="711200"/>
                </a:lnTo>
                <a:cubicBezTo>
                  <a:pt x="22744" y="711200"/>
                  <a:pt x="0" y="688456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684" name="Shape 7"/>
          <p:cNvSpPr/>
          <p:nvPr/>
        </p:nvSpPr>
        <p:spPr>
          <a:xfrm>
            <a:off x="796636" y="320964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5080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50800" y="711200"/>
                </a:lnTo>
                <a:cubicBezTo>
                  <a:pt x="22763" y="711200"/>
                  <a:pt x="0" y="688437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85" name="Shape 8"/>
          <p:cNvSpPr/>
          <p:nvPr/>
        </p:nvSpPr>
        <p:spPr>
          <a:xfrm>
            <a:off x="974436" y="336204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686" name="Text 9"/>
          <p:cNvSpPr/>
          <p:nvPr/>
        </p:nvSpPr>
        <p:spPr>
          <a:xfrm>
            <a:off x="1142062" y="3438240"/>
            <a:ext cx="165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1048687" name="Text 10"/>
          <p:cNvSpPr/>
          <p:nvPr/>
        </p:nvSpPr>
        <p:spPr>
          <a:xfrm>
            <a:off x="1533236" y="3438240"/>
            <a:ext cx="2438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Load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new image from file path</a:t>
            </a:r>
            <a:endParaRPr lang="en-US" sz="1600" dirty="0"/>
          </a:p>
        </p:txBody>
      </p:sp>
      <p:sp>
        <p:nvSpPr>
          <p:cNvPr id="1048688" name="Shape 11"/>
          <p:cNvSpPr/>
          <p:nvPr/>
        </p:nvSpPr>
        <p:spPr>
          <a:xfrm>
            <a:off x="4191000" y="407324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58827" y="174536"/>
                </a:moveTo>
                <a:cubicBezTo>
                  <a:pt x="63168" y="178877"/>
                  <a:pt x="70217" y="178877"/>
                  <a:pt x="74558" y="174536"/>
                </a:cubicBezTo>
                <a:lnTo>
                  <a:pt x="130120" y="118973"/>
                </a:lnTo>
                <a:cubicBezTo>
                  <a:pt x="134461" y="114632"/>
                  <a:pt x="134461" y="107583"/>
                  <a:pt x="130120" y="103242"/>
                </a:cubicBezTo>
                <a:cubicBezTo>
                  <a:pt x="125780" y="98901"/>
                  <a:pt x="118730" y="98901"/>
                  <a:pt x="114389" y="103242"/>
                </a:cubicBezTo>
                <a:lnTo>
                  <a:pt x="77788" y="139844"/>
                </a:lnTo>
                <a:lnTo>
                  <a:pt x="77788" y="11112"/>
                </a:lnTo>
                <a:cubicBezTo>
                  <a:pt x="77788" y="4966"/>
                  <a:pt x="72822" y="0"/>
                  <a:pt x="66675" y="0"/>
                </a:cubicBezTo>
                <a:cubicBezTo>
                  <a:pt x="60528" y="0"/>
                  <a:pt x="55563" y="4966"/>
                  <a:pt x="55563" y="11112"/>
                </a:cubicBezTo>
                <a:lnTo>
                  <a:pt x="55563" y="139844"/>
                </a:lnTo>
                <a:lnTo>
                  <a:pt x="18961" y="103242"/>
                </a:lnTo>
                <a:cubicBezTo>
                  <a:pt x="14620" y="98901"/>
                  <a:pt x="7570" y="98901"/>
                  <a:pt x="3230" y="103242"/>
                </a:cubicBezTo>
                <a:cubicBezTo>
                  <a:pt x="-1111" y="107583"/>
                  <a:pt x="-1111" y="114632"/>
                  <a:pt x="3230" y="118973"/>
                </a:cubicBezTo>
                <a:lnTo>
                  <a:pt x="58792" y="174536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689" name="Shape 12"/>
          <p:cNvSpPr/>
          <p:nvPr/>
        </p:nvSpPr>
        <p:spPr>
          <a:xfrm>
            <a:off x="796636" y="4403440"/>
            <a:ext cx="6946900" cy="711200"/>
          </a:xfrm>
          <a:custGeom>
            <a:avLst/>
            <a:gdLst/>
            <a:ahLst/>
            <a:cxnLst/>
            <a:rect l="l" t="t" r="r" b="b"/>
            <a:pathLst>
              <a:path w="6946900" h="711200">
                <a:moveTo>
                  <a:pt x="50800" y="0"/>
                </a:moveTo>
                <a:lnTo>
                  <a:pt x="6845298" y="0"/>
                </a:lnTo>
                <a:cubicBezTo>
                  <a:pt x="6901411" y="0"/>
                  <a:pt x="6946900" y="45489"/>
                  <a:pt x="6946900" y="101602"/>
                </a:cubicBezTo>
                <a:lnTo>
                  <a:pt x="6946900" y="609598"/>
                </a:lnTo>
                <a:cubicBezTo>
                  <a:pt x="6946900" y="665711"/>
                  <a:pt x="6901411" y="711200"/>
                  <a:pt x="6845298" y="711200"/>
                </a:cubicBezTo>
                <a:lnTo>
                  <a:pt x="50800" y="711200"/>
                </a:lnTo>
                <a:cubicBezTo>
                  <a:pt x="22744" y="711200"/>
                  <a:pt x="0" y="688456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690" name="Shape 13"/>
          <p:cNvSpPr/>
          <p:nvPr/>
        </p:nvSpPr>
        <p:spPr>
          <a:xfrm>
            <a:off x="796636" y="440344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5080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50800" y="711200"/>
                </a:lnTo>
                <a:cubicBezTo>
                  <a:pt x="22763" y="711200"/>
                  <a:pt x="0" y="688437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691" name="Shape 14"/>
          <p:cNvSpPr/>
          <p:nvPr/>
        </p:nvSpPr>
        <p:spPr>
          <a:xfrm>
            <a:off x="974436" y="455584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692" name="Text 15"/>
          <p:cNvSpPr/>
          <p:nvPr/>
        </p:nvSpPr>
        <p:spPr>
          <a:xfrm>
            <a:off x="1125971" y="4632040"/>
            <a:ext cx="19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1048693" name="Text 16"/>
          <p:cNvSpPr/>
          <p:nvPr/>
        </p:nvSpPr>
        <p:spPr>
          <a:xfrm>
            <a:off x="1533236" y="463204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Apply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preprocessing (grayscale, resize)</a:t>
            </a:r>
            <a:endParaRPr lang="en-US" sz="1600" dirty="0"/>
          </a:p>
        </p:txBody>
      </p:sp>
      <p:sp>
        <p:nvSpPr>
          <p:cNvPr id="1048694" name="Shape 17"/>
          <p:cNvSpPr/>
          <p:nvPr/>
        </p:nvSpPr>
        <p:spPr>
          <a:xfrm>
            <a:off x="4191000" y="526704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58827" y="174536"/>
                </a:moveTo>
                <a:cubicBezTo>
                  <a:pt x="63168" y="178877"/>
                  <a:pt x="70217" y="178877"/>
                  <a:pt x="74558" y="174536"/>
                </a:cubicBezTo>
                <a:lnTo>
                  <a:pt x="130120" y="118973"/>
                </a:lnTo>
                <a:cubicBezTo>
                  <a:pt x="134461" y="114632"/>
                  <a:pt x="134461" y="107583"/>
                  <a:pt x="130120" y="103242"/>
                </a:cubicBezTo>
                <a:cubicBezTo>
                  <a:pt x="125780" y="98901"/>
                  <a:pt x="118730" y="98901"/>
                  <a:pt x="114389" y="103242"/>
                </a:cubicBezTo>
                <a:lnTo>
                  <a:pt x="77788" y="139844"/>
                </a:lnTo>
                <a:lnTo>
                  <a:pt x="77788" y="11112"/>
                </a:lnTo>
                <a:cubicBezTo>
                  <a:pt x="77788" y="4966"/>
                  <a:pt x="72822" y="0"/>
                  <a:pt x="66675" y="0"/>
                </a:cubicBezTo>
                <a:cubicBezTo>
                  <a:pt x="60528" y="0"/>
                  <a:pt x="55563" y="4966"/>
                  <a:pt x="55563" y="11112"/>
                </a:cubicBezTo>
                <a:lnTo>
                  <a:pt x="55563" y="139844"/>
                </a:lnTo>
                <a:lnTo>
                  <a:pt x="18961" y="103242"/>
                </a:lnTo>
                <a:cubicBezTo>
                  <a:pt x="14620" y="98901"/>
                  <a:pt x="7570" y="98901"/>
                  <a:pt x="3230" y="103242"/>
                </a:cubicBezTo>
                <a:cubicBezTo>
                  <a:pt x="-1111" y="107583"/>
                  <a:pt x="-1111" y="114632"/>
                  <a:pt x="3230" y="118973"/>
                </a:cubicBezTo>
                <a:lnTo>
                  <a:pt x="58792" y="174536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695" name="Shape 18"/>
          <p:cNvSpPr/>
          <p:nvPr/>
        </p:nvSpPr>
        <p:spPr>
          <a:xfrm>
            <a:off x="796636" y="5597240"/>
            <a:ext cx="6946900" cy="711200"/>
          </a:xfrm>
          <a:custGeom>
            <a:avLst/>
            <a:gdLst/>
            <a:ahLst/>
            <a:cxnLst/>
            <a:rect l="l" t="t" r="r" b="b"/>
            <a:pathLst>
              <a:path w="6946900" h="711200">
                <a:moveTo>
                  <a:pt x="50800" y="0"/>
                </a:moveTo>
                <a:lnTo>
                  <a:pt x="6845298" y="0"/>
                </a:lnTo>
                <a:cubicBezTo>
                  <a:pt x="6901411" y="0"/>
                  <a:pt x="6946900" y="45489"/>
                  <a:pt x="6946900" y="101602"/>
                </a:cubicBezTo>
                <a:lnTo>
                  <a:pt x="6946900" y="609598"/>
                </a:lnTo>
                <a:cubicBezTo>
                  <a:pt x="6946900" y="665711"/>
                  <a:pt x="6901411" y="711200"/>
                  <a:pt x="6845298" y="711200"/>
                </a:cubicBezTo>
                <a:lnTo>
                  <a:pt x="50800" y="711200"/>
                </a:lnTo>
                <a:cubicBezTo>
                  <a:pt x="22744" y="711200"/>
                  <a:pt x="0" y="688456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696" name="Shape 19"/>
          <p:cNvSpPr/>
          <p:nvPr/>
        </p:nvSpPr>
        <p:spPr>
          <a:xfrm>
            <a:off x="796636" y="559724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5080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50800" y="711200"/>
                </a:lnTo>
                <a:cubicBezTo>
                  <a:pt x="22763" y="711200"/>
                  <a:pt x="0" y="688437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697" name="Shape 20"/>
          <p:cNvSpPr/>
          <p:nvPr/>
        </p:nvSpPr>
        <p:spPr>
          <a:xfrm>
            <a:off x="974436" y="574964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E7C88">
              <a:alpha val="30196"/>
            </a:srgbClr>
          </a:solidFill>
        </p:spPr>
      </p:sp>
      <p:sp>
        <p:nvSpPr>
          <p:cNvPr id="1048698" name="Text 21"/>
          <p:cNvSpPr/>
          <p:nvPr/>
        </p:nvSpPr>
        <p:spPr>
          <a:xfrm>
            <a:off x="1125177" y="5825840"/>
            <a:ext cx="19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1048699" name="Text 22"/>
          <p:cNvSpPr/>
          <p:nvPr/>
        </p:nvSpPr>
        <p:spPr>
          <a:xfrm>
            <a:off x="1533236" y="5825840"/>
            <a:ext cx="3289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handcrafted features (4 features)</a:t>
            </a:r>
            <a:endParaRPr lang="en-US" sz="1600" dirty="0"/>
          </a:p>
        </p:txBody>
      </p:sp>
      <p:sp>
        <p:nvSpPr>
          <p:cNvPr id="1048700" name="Shape 23"/>
          <p:cNvSpPr/>
          <p:nvPr/>
        </p:nvSpPr>
        <p:spPr>
          <a:xfrm>
            <a:off x="4191000" y="646084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58827" y="174536"/>
                </a:moveTo>
                <a:cubicBezTo>
                  <a:pt x="63168" y="178877"/>
                  <a:pt x="70217" y="178877"/>
                  <a:pt x="74558" y="174536"/>
                </a:cubicBezTo>
                <a:lnTo>
                  <a:pt x="130120" y="118973"/>
                </a:lnTo>
                <a:cubicBezTo>
                  <a:pt x="134461" y="114632"/>
                  <a:pt x="134461" y="107583"/>
                  <a:pt x="130120" y="103242"/>
                </a:cubicBezTo>
                <a:cubicBezTo>
                  <a:pt x="125780" y="98901"/>
                  <a:pt x="118730" y="98901"/>
                  <a:pt x="114389" y="103242"/>
                </a:cubicBezTo>
                <a:lnTo>
                  <a:pt x="77788" y="139844"/>
                </a:lnTo>
                <a:lnTo>
                  <a:pt x="77788" y="11112"/>
                </a:lnTo>
                <a:cubicBezTo>
                  <a:pt x="77788" y="4966"/>
                  <a:pt x="72822" y="0"/>
                  <a:pt x="66675" y="0"/>
                </a:cubicBezTo>
                <a:cubicBezTo>
                  <a:pt x="60528" y="0"/>
                  <a:pt x="55563" y="4966"/>
                  <a:pt x="55563" y="11112"/>
                </a:cubicBezTo>
                <a:lnTo>
                  <a:pt x="55563" y="139844"/>
                </a:lnTo>
                <a:lnTo>
                  <a:pt x="18961" y="103242"/>
                </a:lnTo>
                <a:cubicBezTo>
                  <a:pt x="14620" y="98901"/>
                  <a:pt x="7570" y="98901"/>
                  <a:pt x="3230" y="103242"/>
                </a:cubicBezTo>
                <a:cubicBezTo>
                  <a:pt x="-1111" y="107583"/>
                  <a:pt x="-1111" y="114632"/>
                  <a:pt x="3230" y="118973"/>
                </a:cubicBezTo>
                <a:lnTo>
                  <a:pt x="58792" y="174536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701" name="Shape 24"/>
          <p:cNvSpPr/>
          <p:nvPr/>
        </p:nvSpPr>
        <p:spPr>
          <a:xfrm>
            <a:off x="796636" y="6791040"/>
            <a:ext cx="6946900" cy="711200"/>
          </a:xfrm>
          <a:custGeom>
            <a:avLst/>
            <a:gdLst/>
            <a:ahLst/>
            <a:cxnLst/>
            <a:rect l="l" t="t" r="r" b="b"/>
            <a:pathLst>
              <a:path w="6946900" h="711200">
                <a:moveTo>
                  <a:pt x="50800" y="0"/>
                </a:moveTo>
                <a:lnTo>
                  <a:pt x="6845298" y="0"/>
                </a:lnTo>
                <a:cubicBezTo>
                  <a:pt x="6901411" y="0"/>
                  <a:pt x="6946900" y="45489"/>
                  <a:pt x="6946900" y="101602"/>
                </a:cubicBezTo>
                <a:lnTo>
                  <a:pt x="6946900" y="609598"/>
                </a:lnTo>
                <a:cubicBezTo>
                  <a:pt x="6946900" y="665711"/>
                  <a:pt x="6901411" y="711200"/>
                  <a:pt x="6845298" y="711200"/>
                </a:cubicBezTo>
                <a:lnTo>
                  <a:pt x="50800" y="711200"/>
                </a:lnTo>
                <a:cubicBezTo>
                  <a:pt x="22744" y="711200"/>
                  <a:pt x="0" y="688456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702" name="Shape 25"/>
          <p:cNvSpPr/>
          <p:nvPr/>
        </p:nvSpPr>
        <p:spPr>
          <a:xfrm>
            <a:off x="796636" y="679104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5080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50800" y="711200"/>
                </a:lnTo>
                <a:cubicBezTo>
                  <a:pt x="22763" y="711200"/>
                  <a:pt x="0" y="688437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703" name="Shape 26"/>
          <p:cNvSpPr/>
          <p:nvPr/>
        </p:nvSpPr>
        <p:spPr>
          <a:xfrm>
            <a:off x="974436" y="694344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704" name="Text 27"/>
          <p:cNvSpPr/>
          <p:nvPr/>
        </p:nvSpPr>
        <p:spPr>
          <a:xfrm>
            <a:off x="1125249" y="7019640"/>
            <a:ext cx="19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1048705" name="Text 28"/>
          <p:cNvSpPr/>
          <p:nvPr/>
        </p:nvSpPr>
        <p:spPr>
          <a:xfrm>
            <a:off x="1533236" y="701964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using trained StandardScaler</a:t>
            </a:r>
            <a:endParaRPr lang="en-US" sz="1600" dirty="0"/>
          </a:p>
        </p:txBody>
      </p:sp>
      <p:sp>
        <p:nvSpPr>
          <p:cNvPr id="1048706" name="Shape 29"/>
          <p:cNvSpPr/>
          <p:nvPr/>
        </p:nvSpPr>
        <p:spPr>
          <a:xfrm>
            <a:off x="4191000" y="765464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58827" y="174536"/>
                </a:moveTo>
                <a:cubicBezTo>
                  <a:pt x="63168" y="178877"/>
                  <a:pt x="70217" y="178877"/>
                  <a:pt x="74558" y="174536"/>
                </a:cubicBezTo>
                <a:lnTo>
                  <a:pt x="130120" y="118973"/>
                </a:lnTo>
                <a:cubicBezTo>
                  <a:pt x="134461" y="114632"/>
                  <a:pt x="134461" y="107583"/>
                  <a:pt x="130120" y="103242"/>
                </a:cubicBezTo>
                <a:cubicBezTo>
                  <a:pt x="125780" y="98901"/>
                  <a:pt x="118730" y="98901"/>
                  <a:pt x="114389" y="103242"/>
                </a:cubicBezTo>
                <a:lnTo>
                  <a:pt x="77788" y="139844"/>
                </a:lnTo>
                <a:lnTo>
                  <a:pt x="77788" y="11112"/>
                </a:lnTo>
                <a:cubicBezTo>
                  <a:pt x="77788" y="4966"/>
                  <a:pt x="72822" y="0"/>
                  <a:pt x="66675" y="0"/>
                </a:cubicBezTo>
                <a:cubicBezTo>
                  <a:pt x="60528" y="0"/>
                  <a:pt x="55563" y="4966"/>
                  <a:pt x="55563" y="11112"/>
                </a:cubicBezTo>
                <a:lnTo>
                  <a:pt x="55563" y="139844"/>
                </a:lnTo>
                <a:lnTo>
                  <a:pt x="18961" y="103242"/>
                </a:lnTo>
                <a:cubicBezTo>
                  <a:pt x="14620" y="98901"/>
                  <a:pt x="7570" y="98901"/>
                  <a:pt x="3230" y="103242"/>
                </a:cubicBezTo>
                <a:cubicBezTo>
                  <a:pt x="-1111" y="107583"/>
                  <a:pt x="-1111" y="114632"/>
                  <a:pt x="3230" y="118973"/>
                </a:cubicBezTo>
                <a:lnTo>
                  <a:pt x="58792" y="174536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707" name="Shape 30"/>
          <p:cNvSpPr/>
          <p:nvPr/>
        </p:nvSpPr>
        <p:spPr>
          <a:xfrm>
            <a:off x="796636" y="7984840"/>
            <a:ext cx="6946900" cy="711200"/>
          </a:xfrm>
          <a:custGeom>
            <a:avLst/>
            <a:gdLst/>
            <a:ahLst/>
            <a:cxnLst/>
            <a:rect l="l" t="t" r="r" b="b"/>
            <a:pathLst>
              <a:path w="6946900" h="711200">
                <a:moveTo>
                  <a:pt x="50800" y="0"/>
                </a:moveTo>
                <a:lnTo>
                  <a:pt x="6845298" y="0"/>
                </a:lnTo>
                <a:cubicBezTo>
                  <a:pt x="6901411" y="0"/>
                  <a:pt x="6946900" y="45489"/>
                  <a:pt x="6946900" y="101602"/>
                </a:cubicBezTo>
                <a:lnTo>
                  <a:pt x="6946900" y="609598"/>
                </a:lnTo>
                <a:cubicBezTo>
                  <a:pt x="6946900" y="665711"/>
                  <a:pt x="6901411" y="711200"/>
                  <a:pt x="6845298" y="711200"/>
                </a:cubicBezTo>
                <a:lnTo>
                  <a:pt x="50800" y="711200"/>
                </a:lnTo>
                <a:cubicBezTo>
                  <a:pt x="22744" y="711200"/>
                  <a:pt x="0" y="688456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708" name="Shape 31"/>
          <p:cNvSpPr/>
          <p:nvPr/>
        </p:nvSpPr>
        <p:spPr>
          <a:xfrm>
            <a:off x="796636" y="798484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5080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50800" y="711200"/>
                </a:lnTo>
                <a:cubicBezTo>
                  <a:pt x="22763" y="711200"/>
                  <a:pt x="0" y="688437"/>
                  <a:pt x="0" y="660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709" name="Shape 32"/>
          <p:cNvSpPr/>
          <p:nvPr/>
        </p:nvSpPr>
        <p:spPr>
          <a:xfrm>
            <a:off x="974436" y="813724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710" name="Text 33"/>
          <p:cNvSpPr/>
          <p:nvPr/>
        </p:nvSpPr>
        <p:spPr>
          <a:xfrm>
            <a:off x="1126403" y="8213440"/>
            <a:ext cx="19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1048711" name="Text 34"/>
          <p:cNvSpPr/>
          <p:nvPr/>
        </p:nvSpPr>
        <p:spPr>
          <a:xfrm>
            <a:off x="1533236" y="8213440"/>
            <a:ext cx="3454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Predict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Sharp or Blur with confidence score</a:t>
            </a:r>
            <a:endParaRPr lang="en-US" sz="1600" dirty="0"/>
          </a:p>
        </p:txBody>
      </p:sp>
      <p:sp>
        <p:nvSpPr>
          <p:cNvPr id="1048712" name="Shape 35"/>
          <p:cNvSpPr/>
          <p:nvPr/>
        </p:nvSpPr>
        <p:spPr>
          <a:xfrm>
            <a:off x="8259618" y="2392218"/>
            <a:ext cx="7489536" cy="3654136"/>
          </a:xfrm>
          <a:custGeom>
            <a:avLst/>
            <a:gdLst/>
            <a:ahLst/>
            <a:cxnLst/>
            <a:rect l="l" t="t" r="r" b="b"/>
            <a:pathLst>
              <a:path w="7489536" h="3654136">
                <a:moveTo>
                  <a:pt x="152414" y="0"/>
                </a:moveTo>
                <a:lnTo>
                  <a:pt x="7337122" y="0"/>
                </a:lnTo>
                <a:cubicBezTo>
                  <a:pt x="7421242" y="0"/>
                  <a:pt x="7489536" y="68294"/>
                  <a:pt x="7489536" y="152414"/>
                </a:cubicBezTo>
                <a:lnTo>
                  <a:pt x="7489536" y="3501722"/>
                </a:lnTo>
                <a:cubicBezTo>
                  <a:pt x="7489536" y="3585898"/>
                  <a:pt x="7421298" y="3654136"/>
                  <a:pt x="7337122" y="3654136"/>
                </a:cubicBezTo>
                <a:lnTo>
                  <a:pt x="152414" y="3654136"/>
                </a:lnTo>
                <a:cubicBezTo>
                  <a:pt x="68238" y="3654136"/>
                  <a:pt x="0" y="3585898"/>
                  <a:pt x="0" y="3501722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713" name="Text 36"/>
          <p:cNvSpPr/>
          <p:nvPr/>
        </p:nvSpPr>
        <p:spPr>
          <a:xfrm>
            <a:off x="8518237" y="2650840"/>
            <a:ext cx="7099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Example Predictions</a:t>
            </a:r>
            <a:endParaRPr lang="en-US" sz="1600" dirty="0"/>
          </a:p>
        </p:txBody>
      </p:sp>
      <p:sp>
        <p:nvSpPr>
          <p:cNvPr id="1048714" name="Shape 37"/>
          <p:cNvSpPr/>
          <p:nvPr/>
        </p:nvSpPr>
        <p:spPr>
          <a:xfrm>
            <a:off x="8529782" y="3221185"/>
            <a:ext cx="6944591" cy="1191491"/>
          </a:xfrm>
          <a:custGeom>
            <a:avLst/>
            <a:gdLst/>
            <a:ahLst/>
            <a:cxnLst/>
            <a:rect l="l" t="t" r="r" b="b"/>
            <a:pathLst>
              <a:path w="6944591" h="1191491">
                <a:moveTo>
                  <a:pt x="101598" y="0"/>
                </a:moveTo>
                <a:lnTo>
                  <a:pt x="6842992" y="0"/>
                </a:lnTo>
                <a:cubicBezTo>
                  <a:pt x="6899104" y="0"/>
                  <a:pt x="6944591" y="45487"/>
                  <a:pt x="6944591" y="101598"/>
                </a:cubicBezTo>
                <a:lnTo>
                  <a:pt x="6944591" y="1089892"/>
                </a:lnTo>
                <a:cubicBezTo>
                  <a:pt x="6944591" y="1146004"/>
                  <a:pt x="6899104" y="1191491"/>
                  <a:pt x="6842992" y="1191491"/>
                </a:cubicBezTo>
                <a:lnTo>
                  <a:pt x="101598" y="1191491"/>
                </a:lnTo>
                <a:cubicBezTo>
                  <a:pt x="45487" y="1191491"/>
                  <a:pt x="0" y="1146004"/>
                  <a:pt x="0" y="108989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3091">
            <a:solidFill>
              <a:srgbClr val="C9A86A"/>
            </a:solidFill>
            <a:prstDash val="solid"/>
          </a:ln>
        </p:spPr>
      </p:sp>
      <p:sp>
        <p:nvSpPr>
          <p:cNvPr id="1048715" name="Shape 38"/>
          <p:cNvSpPr/>
          <p:nvPr/>
        </p:nvSpPr>
        <p:spPr>
          <a:xfrm>
            <a:off x="8792152" y="363913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63500" y="55563"/>
                </a:moveTo>
                <a:cubicBezTo>
                  <a:pt x="76642" y="55563"/>
                  <a:pt x="87313" y="66233"/>
                  <a:pt x="87313" y="79375"/>
                </a:cubicBezTo>
                <a:cubicBezTo>
                  <a:pt x="87313" y="92517"/>
                  <a:pt x="76642" y="103188"/>
                  <a:pt x="63500" y="103188"/>
                </a:cubicBezTo>
                <a:cubicBezTo>
                  <a:pt x="50358" y="103188"/>
                  <a:pt x="39688" y="92517"/>
                  <a:pt x="39688" y="79375"/>
                </a:cubicBezTo>
                <a:cubicBezTo>
                  <a:pt x="39688" y="66233"/>
                  <a:pt x="50358" y="55563"/>
                  <a:pt x="63500" y="55563"/>
                </a:cubicBezTo>
                <a:close/>
                <a:moveTo>
                  <a:pt x="134938" y="111125"/>
                </a:moveTo>
                <a:cubicBezTo>
                  <a:pt x="139105" y="111125"/>
                  <a:pt x="142925" y="113308"/>
                  <a:pt x="145107" y="116830"/>
                </a:cubicBezTo>
                <a:lnTo>
                  <a:pt x="188764" y="188268"/>
                </a:lnTo>
                <a:cubicBezTo>
                  <a:pt x="190996" y="191939"/>
                  <a:pt x="191095" y="196552"/>
                  <a:pt x="189012" y="200323"/>
                </a:cubicBezTo>
                <a:cubicBezTo>
                  <a:pt x="186928" y="204093"/>
                  <a:pt x="182910" y="206375"/>
                  <a:pt x="178594" y="206375"/>
                </a:cubicBezTo>
                <a:lnTo>
                  <a:pt x="43656" y="206375"/>
                </a:lnTo>
                <a:cubicBezTo>
                  <a:pt x="39241" y="206375"/>
                  <a:pt x="35123" y="203895"/>
                  <a:pt x="33089" y="199975"/>
                </a:cubicBezTo>
                <a:cubicBezTo>
                  <a:pt x="31055" y="196056"/>
                  <a:pt x="31353" y="191294"/>
                  <a:pt x="33883" y="187672"/>
                </a:cubicBezTo>
                <a:lnTo>
                  <a:pt x="61664" y="147985"/>
                </a:lnTo>
                <a:cubicBezTo>
                  <a:pt x="63897" y="144810"/>
                  <a:pt x="67518" y="142925"/>
                  <a:pt x="71438" y="142925"/>
                </a:cubicBezTo>
                <a:cubicBezTo>
                  <a:pt x="75357" y="142925"/>
                  <a:pt x="78978" y="144810"/>
                  <a:pt x="81211" y="147985"/>
                </a:cubicBezTo>
                <a:lnTo>
                  <a:pt x="94307" y="166737"/>
                </a:lnTo>
                <a:lnTo>
                  <a:pt x="124768" y="116880"/>
                </a:lnTo>
                <a:cubicBezTo>
                  <a:pt x="126950" y="113357"/>
                  <a:pt x="130770" y="111175"/>
                  <a:pt x="134938" y="111175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716" name="Text 39"/>
          <p:cNvSpPr/>
          <p:nvPr/>
        </p:nvSpPr>
        <p:spPr>
          <a:xfrm>
            <a:off x="9214427" y="3537533"/>
            <a:ext cx="181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110_IPHONE-7_S.jpeg</a:t>
            </a:r>
            <a:endParaRPr lang="en-US" sz="1600" dirty="0"/>
          </a:p>
        </p:txBody>
      </p:sp>
      <p:sp>
        <p:nvSpPr>
          <p:cNvPr id="1048717" name="Text 40"/>
          <p:cNvSpPr/>
          <p:nvPr/>
        </p:nvSpPr>
        <p:spPr>
          <a:xfrm>
            <a:off x="9214427" y="3791533"/>
            <a:ext cx="1803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 Test Image</a:t>
            </a:r>
            <a:endParaRPr lang="en-US" sz="1600" dirty="0"/>
          </a:p>
        </p:txBody>
      </p:sp>
      <p:sp>
        <p:nvSpPr>
          <p:cNvPr id="1048718" name="Text 41"/>
          <p:cNvSpPr/>
          <p:nvPr/>
        </p:nvSpPr>
        <p:spPr>
          <a:xfrm>
            <a:off x="13210381" y="3435933"/>
            <a:ext cx="20447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2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</a:t>
            </a:r>
            <a:endParaRPr lang="en-US" sz="1600" dirty="0"/>
          </a:p>
        </p:txBody>
      </p:sp>
      <p:sp>
        <p:nvSpPr>
          <p:cNvPr id="1048719" name="Shape 42"/>
          <p:cNvSpPr/>
          <p:nvPr/>
        </p:nvSpPr>
        <p:spPr>
          <a:xfrm>
            <a:off x="13362781" y="3918533"/>
            <a:ext cx="1219200" cy="101600"/>
          </a:xfrm>
          <a:custGeom>
            <a:avLst/>
            <a:gdLst/>
            <a:ahLst/>
            <a:cxnLst/>
            <a:rect l="l" t="t" r="r" b="b"/>
            <a:pathLst>
              <a:path w="1219200" h="101600">
                <a:moveTo>
                  <a:pt x="50800" y="0"/>
                </a:moveTo>
                <a:lnTo>
                  <a:pt x="1168400" y="0"/>
                </a:lnTo>
                <a:cubicBezTo>
                  <a:pt x="1196437" y="0"/>
                  <a:pt x="1219200" y="22763"/>
                  <a:pt x="1219200" y="50800"/>
                </a:cubicBezTo>
                <a:lnTo>
                  <a:pt x="1219200" y="50800"/>
                </a:lnTo>
                <a:cubicBezTo>
                  <a:pt x="1219200" y="78837"/>
                  <a:pt x="1196437" y="101600"/>
                  <a:pt x="1168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720" name="Shape 43"/>
          <p:cNvSpPr/>
          <p:nvPr/>
        </p:nvSpPr>
        <p:spPr>
          <a:xfrm>
            <a:off x="13362781" y="3918533"/>
            <a:ext cx="1193800" cy="101600"/>
          </a:xfrm>
          <a:custGeom>
            <a:avLst/>
            <a:gdLst/>
            <a:ahLst/>
            <a:cxnLst/>
            <a:rect l="l" t="t" r="r" b="b"/>
            <a:pathLst>
              <a:path w="1193800" h="101600">
                <a:moveTo>
                  <a:pt x="50800" y="0"/>
                </a:moveTo>
                <a:lnTo>
                  <a:pt x="1143000" y="0"/>
                </a:lnTo>
                <a:cubicBezTo>
                  <a:pt x="1171037" y="0"/>
                  <a:pt x="1193800" y="22763"/>
                  <a:pt x="1193800" y="50800"/>
                </a:cubicBezTo>
                <a:lnTo>
                  <a:pt x="1193800" y="50800"/>
                </a:lnTo>
                <a:cubicBezTo>
                  <a:pt x="1193800" y="78837"/>
                  <a:pt x="1171037" y="101600"/>
                  <a:pt x="1143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721" name="Text 44"/>
          <p:cNvSpPr/>
          <p:nvPr/>
        </p:nvSpPr>
        <p:spPr>
          <a:xfrm>
            <a:off x="14594681" y="3842333"/>
            <a:ext cx="660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98.19%</a:t>
            </a:r>
            <a:endParaRPr lang="en-US" sz="1600" dirty="0"/>
          </a:p>
        </p:txBody>
      </p:sp>
      <p:sp>
        <p:nvSpPr>
          <p:cNvPr id="1048722" name="Shape 45"/>
          <p:cNvSpPr/>
          <p:nvPr/>
        </p:nvSpPr>
        <p:spPr>
          <a:xfrm>
            <a:off x="8529782" y="4588165"/>
            <a:ext cx="6944591" cy="1191491"/>
          </a:xfrm>
          <a:custGeom>
            <a:avLst/>
            <a:gdLst/>
            <a:ahLst/>
            <a:cxnLst/>
            <a:rect l="l" t="t" r="r" b="b"/>
            <a:pathLst>
              <a:path w="6944591" h="1191491">
                <a:moveTo>
                  <a:pt x="101598" y="0"/>
                </a:moveTo>
                <a:lnTo>
                  <a:pt x="6842992" y="0"/>
                </a:lnTo>
                <a:cubicBezTo>
                  <a:pt x="6899104" y="0"/>
                  <a:pt x="6944591" y="45487"/>
                  <a:pt x="6944591" y="101598"/>
                </a:cubicBezTo>
                <a:lnTo>
                  <a:pt x="6944591" y="1089892"/>
                </a:lnTo>
                <a:cubicBezTo>
                  <a:pt x="6944591" y="1146004"/>
                  <a:pt x="6899104" y="1191491"/>
                  <a:pt x="6842992" y="1191491"/>
                </a:cubicBezTo>
                <a:lnTo>
                  <a:pt x="101598" y="1191491"/>
                </a:lnTo>
                <a:cubicBezTo>
                  <a:pt x="45487" y="1191491"/>
                  <a:pt x="0" y="1146004"/>
                  <a:pt x="0" y="108989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3091">
            <a:solidFill>
              <a:srgbClr val="3A5F7A"/>
            </a:solidFill>
            <a:prstDash val="solid"/>
          </a:ln>
        </p:spPr>
      </p:sp>
      <p:sp>
        <p:nvSpPr>
          <p:cNvPr id="1048723" name="Shape 46"/>
          <p:cNvSpPr/>
          <p:nvPr/>
        </p:nvSpPr>
        <p:spPr>
          <a:xfrm>
            <a:off x="8792152" y="500611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63500" y="55563"/>
                </a:moveTo>
                <a:cubicBezTo>
                  <a:pt x="76642" y="55563"/>
                  <a:pt x="87313" y="66233"/>
                  <a:pt x="87313" y="79375"/>
                </a:cubicBezTo>
                <a:cubicBezTo>
                  <a:pt x="87313" y="92517"/>
                  <a:pt x="76642" y="103188"/>
                  <a:pt x="63500" y="103188"/>
                </a:cubicBezTo>
                <a:cubicBezTo>
                  <a:pt x="50358" y="103188"/>
                  <a:pt x="39688" y="92517"/>
                  <a:pt x="39688" y="79375"/>
                </a:cubicBezTo>
                <a:cubicBezTo>
                  <a:pt x="39688" y="66233"/>
                  <a:pt x="50358" y="55563"/>
                  <a:pt x="63500" y="55563"/>
                </a:cubicBezTo>
                <a:close/>
                <a:moveTo>
                  <a:pt x="134938" y="111125"/>
                </a:moveTo>
                <a:cubicBezTo>
                  <a:pt x="139105" y="111125"/>
                  <a:pt x="142925" y="113308"/>
                  <a:pt x="145107" y="116830"/>
                </a:cubicBezTo>
                <a:lnTo>
                  <a:pt x="188764" y="188268"/>
                </a:lnTo>
                <a:cubicBezTo>
                  <a:pt x="190996" y="191939"/>
                  <a:pt x="191095" y="196552"/>
                  <a:pt x="189012" y="200323"/>
                </a:cubicBezTo>
                <a:cubicBezTo>
                  <a:pt x="186928" y="204093"/>
                  <a:pt x="182910" y="206375"/>
                  <a:pt x="178594" y="206375"/>
                </a:cubicBezTo>
                <a:lnTo>
                  <a:pt x="43656" y="206375"/>
                </a:lnTo>
                <a:cubicBezTo>
                  <a:pt x="39241" y="206375"/>
                  <a:pt x="35123" y="203895"/>
                  <a:pt x="33089" y="199975"/>
                </a:cubicBezTo>
                <a:cubicBezTo>
                  <a:pt x="31055" y="196056"/>
                  <a:pt x="31353" y="191294"/>
                  <a:pt x="33883" y="187672"/>
                </a:cubicBezTo>
                <a:lnTo>
                  <a:pt x="61664" y="147985"/>
                </a:lnTo>
                <a:cubicBezTo>
                  <a:pt x="63897" y="144810"/>
                  <a:pt x="67518" y="142925"/>
                  <a:pt x="71438" y="142925"/>
                </a:cubicBezTo>
                <a:cubicBezTo>
                  <a:pt x="75357" y="142925"/>
                  <a:pt x="78978" y="144810"/>
                  <a:pt x="81211" y="147985"/>
                </a:cubicBezTo>
                <a:lnTo>
                  <a:pt x="94307" y="166737"/>
                </a:lnTo>
                <a:lnTo>
                  <a:pt x="124768" y="116880"/>
                </a:lnTo>
                <a:cubicBezTo>
                  <a:pt x="126950" y="113357"/>
                  <a:pt x="130770" y="111175"/>
                  <a:pt x="134938" y="111175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724" name="Text 47"/>
          <p:cNvSpPr/>
          <p:nvPr/>
        </p:nvSpPr>
        <p:spPr>
          <a:xfrm>
            <a:off x="9214427" y="4904513"/>
            <a:ext cx="1930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105_IPHONE-SE_M.jpg</a:t>
            </a:r>
            <a:endParaRPr lang="en-US" sz="1600" dirty="0"/>
          </a:p>
        </p:txBody>
      </p:sp>
      <p:sp>
        <p:nvSpPr>
          <p:cNvPr id="1048725" name="Text 48"/>
          <p:cNvSpPr/>
          <p:nvPr/>
        </p:nvSpPr>
        <p:spPr>
          <a:xfrm>
            <a:off x="9214427" y="5158513"/>
            <a:ext cx="1917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Motion Blur Test Image</a:t>
            </a:r>
            <a:endParaRPr lang="en-US" sz="1600" dirty="0"/>
          </a:p>
        </p:txBody>
      </p:sp>
      <p:sp>
        <p:nvSpPr>
          <p:cNvPr id="1048726" name="Text 49"/>
          <p:cNvSpPr/>
          <p:nvPr/>
        </p:nvSpPr>
        <p:spPr>
          <a:xfrm>
            <a:off x="13225680" y="4802913"/>
            <a:ext cx="203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24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BLUR</a:t>
            </a:r>
            <a:endParaRPr lang="en-US" sz="1600" dirty="0"/>
          </a:p>
        </p:txBody>
      </p:sp>
      <p:sp>
        <p:nvSpPr>
          <p:cNvPr id="1048727" name="Shape 50"/>
          <p:cNvSpPr/>
          <p:nvPr/>
        </p:nvSpPr>
        <p:spPr>
          <a:xfrm>
            <a:off x="13378080" y="5285513"/>
            <a:ext cx="1219200" cy="101600"/>
          </a:xfrm>
          <a:custGeom>
            <a:avLst/>
            <a:gdLst/>
            <a:ahLst/>
            <a:cxnLst/>
            <a:rect l="l" t="t" r="r" b="b"/>
            <a:pathLst>
              <a:path w="1219200" h="101600">
                <a:moveTo>
                  <a:pt x="50800" y="0"/>
                </a:moveTo>
                <a:lnTo>
                  <a:pt x="1168400" y="0"/>
                </a:lnTo>
                <a:cubicBezTo>
                  <a:pt x="1196437" y="0"/>
                  <a:pt x="1219200" y="22763"/>
                  <a:pt x="1219200" y="50800"/>
                </a:cubicBezTo>
                <a:lnTo>
                  <a:pt x="1219200" y="50800"/>
                </a:lnTo>
                <a:cubicBezTo>
                  <a:pt x="1219200" y="78837"/>
                  <a:pt x="1196437" y="101600"/>
                  <a:pt x="1168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728" name="Shape 51"/>
          <p:cNvSpPr/>
          <p:nvPr/>
        </p:nvSpPr>
        <p:spPr>
          <a:xfrm>
            <a:off x="13378080" y="5285513"/>
            <a:ext cx="1193800" cy="101600"/>
          </a:xfrm>
          <a:custGeom>
            <a:avLst/>
            <a:gdLst/>
            <a:ahLst/>
            <a:cxnLst/>
            <a:rect l="l" t="t" r="r" b="b"/>
            <a:pathLst>
              <a:path w="1193800" h="101600">
                <a:moveTo>
                  <a:pt x="50800" y="0"/>
                </a:moveTo>
                <a:lnTo>
                  <a:pt x="1143000" y="0"/>
                </a:lnTo>
                <a:cubicBezTo>
                  <a:pt x="1171037" y="0"/>
                  <a:pt x="1193800" y="22763"/>
                  <a:pt x="1193800" y="50800"/>
                </a:cubicBezTo>
                <a:lnTo>
                  <a:pt x="1193800" y="50800"/>
                </a:lnTo>
                <a:cubicBezTo>
                  <a:pt x="1193800" y="78837"/>
                  <a:pt x="1171037" y="101600"/>
                  <a:pt x="1143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729" name="Text 52"/>
          <p:cNvSpPr/>
          <p:nvPr/>
        </p:nvSpPr>
        <p:spPr>
          <a:xfrm>
            <a:off x="14609980" y="5209313"/>
            <a:ext cx="64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98.17%</a:t>
            </a:r>
            <a:endParaRPr lang="en-US" sz="1600" dirty="0"/>
          </a:p>
        </p:txBody>
      </p:sp>
      <p:sp>
        <p:nvSpPr>
          <p:cNvPr id="1048730" name="Text 66"/>
          <p:cNvSpPr/>
          <p:nvPr/>
        </p:nvSpPr>
        <p:spPr>
          <a:xfrm>
            <a:off x="8823037" y="9264073"/>
            <a:ext cx="6642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probability = model.predict_proba(features_scaled)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577" name="Text 1"/>
          <p:cNvSpPr/>
          <p:nvPr/>
        </p:nvSpPr>
        <p:spPr>
          <a:xfrm>
            <a:off x="762000" y="508000"/>
            <a:ext cx="3898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 / Discussion</a:t>
            </a:r>
            <a:endParaRPr lang="en-US" sz="1600" dirty="0"/>
          </a:p>
        </p:txBody>
      </p:sp>
      <p:sp>
        <p:nvSpPr>
          <p:cNvPr id="1048578" name="Text 2"/>
          <p:cNvSpPr/>
          <p:nvPr/>
        </p:nvSpPr>
        <p:spPr>
          <a:xfrm>
            <a:off x="762000" y="812800"/>
            <a:ext cx="403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&amp; Insights</a:t>
            </a:r>
            <a:endParaRPr lang="en-US" sz="1600" dirty="0"/>
          </a:p>
        </p:txBody>
      </p:sp>
      <p:sp>
        <p:nvSpPr>
          <p:cNvPr id="1048579" name="Shape 3"/>
          <p:cNvSpPr/>
          <p:nvPr/>
        </p:nvSpPr>
        <p:spPr>
          <a:xfrm>
            <a:off x="507365" y="1557020"/>
            <a:ext cx="7224395" cy="4228465"/>
          </a:xfrm>
          <a:custGeom>
            <a:avLst/>
            <a:gdLst/>
            <a:ahLst/>
            <a:cxnLst/>
            <a:rect l="l" t="t" r="r" b="b"/>
            <a:pathLst>
              <a:path w="7489536" h="4289136">
                <a:moveTo>
                  <a:pt x="152393" y="0"/>
                </a:moveTo>
                <a:lnTo>
                  <a:pt x="7337143" y="0"/>
                </a:lnTo>
                <a:cubicBezTo>
                  <a:pt x="7421308" y="0"/>
                  <a:pt x="7489536" y="68229"/>
                  <a:pt x="7489536" y="152393"/>
                </a:cubicBezTo>
                <a:lnTo>
                  <a:pt x="7489536" y="4136743"/>
                </a:lnTo>
                <a:cubicBezTo>
                  <a:pt x="7489536" y="4220908"/>
                  <a:pt x="7421308" y="4289136"/>
                  <a:pt x="7337143" y="4289136"/>
                </a:cubicBezTo>
                <a:lnTo>
                  <a:pt x="152393" y="4289136"/>
                </a:lnTo>
                <a:cubicBezTo>
                  <a:pt x="68229" y="4289136"/>
                  <a:pt x="0" y="4220908"/>
                  <a:pt x="0" y="4136743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580" name="Shape 4"/>
          <p:cNvSpPr/>
          <p:nvPr/>
        </p:nvSpPr>
        <p:spPr>
          <a:xfrm>
            <a:off x="771236" y="1838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581" name="Shape 5"/>
          <p:cNvSpPr/>
          <p:nvPr/>
        </p:nvSpPr>
        <p:spPr>
          <a:xfrm>
            <a:off x="923636" y="19904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582" name="Text 6"/>
          <p:cNvSpPr/>
          <p:nvPr/>
        </p:nvSpPr>
        <p:spPr>
          <a:xfrm>
            <a:off x="1533236" y="1939640"/>
            <a:ext cx="1866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048583" name="Shape 7"/>
          <p:cNvSpPr/>
          <p:nvPr/>
        </p:nvSpPr>
        <p:spPr>
          <a:xfrm>
            <a:off x="796636" y="2650840"/>
            <a:ext cx="6946900" cy="889000"/>
          </a:xfrm>
          <a:custGeom>
            <a:avLst/>
            <a:gdLst/>
            <a:ahLst/>
            <a:cxnLst/>
            <a:rect l="l" t="t" r="r" b="b"/>
            <a:pathLst>
              <a:path w="6946900" h="889000">
                <a:moveTo>
                  <a:pt x="50800" y="0"/>
                </a:moveTo>
                <a:lnTo>
                  <a:pt x="6845296" y="0"/>
                </a:lnTo>
                <a:cubicBezTo>
                  <a:pt x="6901410" y="0"/>
                  <a:pt x="6946900" y="45490"/>
                  <a:pt x="6946900" y="101604"/>
                </a:cubicBezTo>
                <a:lnTo>
                  <a:pt x="6946900" y="787396"/>
                </a:lnTo>
                <a:cubicBezTo>
                  <a:pt x="6946900" y="843510"/>
                  <a:pt x="6901410" y="889000"/>
                  <a:pt x="6845296" y="889000"/>
                </a:cubicBezTo>
                <a:lnTo>
                  <a:pt x="50800" y="889000"/>
                </a:lnTo>
                <a:cubicBezTo>
                  <a:pt x="22744" y="889000"/>
                  <a:pt x="0" y="866256"/>
                  <a:pt x="0" y="838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584" name="Shape 8"/>
          <p:cNvSpPr/>
          <p:nvPr/>
        </p:nvSpPr>
        <p:spPr>
          <a:xfrm>
            <a:off x="796636" y="2650840"/>
            <a:ext cx="50800" cy="889000"/>
          </a:xfrm>
          <a:custGeom>
            <a:avLst/>
            <a:gdLst/>
            <a:ahLst/>
            <a:cxnLst/>
            <a:rect l="l" t="t" r="r" b="b"/>
            <a:pathLst>
              <a:path w="50800" h="889000">
                <a:moveTo>
                  <a:pt x="50800" y="0"/>
                </a:moveTo>
                <a:lnTo>
                  <a:pt x="50800" y="0"/>
                </a:lnTo>
                <a:lnTo>
                  <a:pt x="50800" y="889000"/>
                </a:lnTo>
                <a:lnTo>
                  <a:pt x="50800" y="889000"/>
                </a:lnTo>
                <a:cubicBezTo>
                  <a:pt x="22763" y="889000"/>
                  <a:pt x="0" y="866237"/>
                  <a:pt x="0" y="838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585" name="Text 9"/>
          <p:cNvSpPr/>
          <p:nvPr/>
        </p:nvSpPr>
        <p:spPr>
          <a:xfrm>
            <a:off x="974725" y="2803525"/>
            <a:ext cx="6620510" cy="780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Effective Classification: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The extracted features combined with an MLP model can effectively classify sharp and blurred images with high accuracy.</a:t>
            </a:r>
            <a:endParaRPr lang="en-US" sz="1600" dirty="0"/>
          </a:p>
        </p:txBody>
      </p:sp>
      <p:sp>
        <p:nvSpPr>
          <p:cNvPr id="1048586" name="Shape 10"/>
          <p:cNvSpPr/>
          <p:nvPr/>
        </p:nvSpPr>
        <p:spPr>
          <a:xfrm>
            <a:off x="796636" y="3685890"/>
            <a:ext cx="6946900" cy="889000"/>
          </a:xfrm>
          <a:custGeom>
            <a:avLst/>
            <a:gdLst/>
            <a:ahLst/>
            <a:cxnLst/>
            <a:rect l="l" t="t" r="r" b="b"/>
            <a:pathLst>
              <a:path w="6946900" h="889000">
                <a:moveTo>
                  <a:pt x="50800" y="0"/>
                </a:moveTo>
                <a:lnTo>
                  <a:pt x="6845296" y="0"/>
                </a:lnTo>
                <a:cubicBezTo>
                  <a:pt x="6901410" y="0"/>
                  <a:pt x="6946900" y="45490"/>
                  <a:pt x="6946900" y="101604"/>
                </a:cubicBezTo>
                <a:lnTo>
                  <a:pt x="6946900" y="787396"/>
                </a:lnTo>
                <a:cubicBezTo>
                  <a:pt x="6946900" y="843510"/>
                  <a:pt x="6901410" y="889000"/>
                  <a:pt x="6845296" y="889000"/>
                </a:cubicBezTo>
                <a:lnTo>
                  <a:pt x="50800" y="889000"/>
                </a:lnTo>
                <a:cubicBezTo>
                  <a:pt x="22744" y="889000"/>
                  <a:pt x="0" y="866256"/>
                  <a:pt x="0" y="838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587" name="Shape 11"/>
          <p:cNvSpPr/>
          <p:nvPr/>
        </p:nvSpPr>
        <p:spPr>
          <a:xfrm>
            <a:off x="796636" y="3685890"/>
            <a:ext cx="50800" cy="889000"/>
          </a:xfrm>
          <a:custGeom>
            <a:avLst/>
            <a:gdLst/>
            <a:ahLst/>
            <a:cxnLst/>
            <a:rect l="l" t="t" r="r" b="b"/>
            <a:pathLst>
              <a:path w="50800" h="889000">
                <a:moveTo>
                  <a:pt x="50800" y="0"/>
                </a:moveTo>
                <a:lnTo>
                  <a:pt x="50800" y="0"/>
                </a:lnTo>
                <a:lnTo>
                  <a:pt x="50800" y="889000"/>
                </a:lnTo>
                <a:lnTo>
                  <a:pt x="50800" y="889000"/>
                </a:lnTo>
                <a:cubicBezTo>
                  <a:pt x="22763" y="889000"/>
                  <a:pt x="0" y="866237"/>
                  <a:pt x="0" y="838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588" name="Text 12"/>
          <p:cNvSpPr/>
          <p:nvPr/>
        </p:nvSpPr>
        <p:spPr>
          <a:xfrm>
            <a:off x="974725" y="3838575"/>
            <a:ext cx="6643370" cy="594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Engineering Success: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Handcrafted features (Laplacian, Tenengrad, Contrast, FFT) capture essential blur characteristics without requiring raw pixel data.</a:t>
            </a:r>
            <a:endParaRPr lang="en-US" sz="1600" dirty="0"/>
          </a:p>
        </p:txBody>
      </p:sp>
      <p:sp>
        <p:nvSpPr>
          <p:cNvPr id="1048589" name="Shape 13"/>
          <p:cNvSpPr/>
          <p:nvPr/>
        </p:nvSpPr>
        <p:spPr>
          <a:xfrm>
            <a:off x="796925" y="4721225"/>
            <a:ext cx="6821805" cy="871220"/>
          </a:xfrm>
          <a:custGeom>
            <a:avLst/>
            <a:gdLst/>
            <a:ahLst/>
            <a:cxnLst/>
            <a:rect l="l" t="t" r="r" b="b"/>
            <a:pathLst>
              <a:path w="6946900" h="889000">
                <a:moveTo>
                  <a:pt x="50800" y="0"/>
                </a:moveTo>
                <a:lnTo>
                  <a:pt x="6845296" y="0"/>
                </a:lnTo>
                <a:cubicBezTo>
                  <a:pt x="6901410" y="0"/>
                  <a:pt x="6946900" y="45490"/>
                  <a:pt x="6946900" y="101604"/>
                </a:cubicBezTo>
                <a:lnTo>
                  <a:pt x="6946900" y="787396"/>
                </a:lnTo>
                <a:cubicBezTo>
                  <a:pt x="6946900" y="843510"/>
                  <a:pt x="6901410" y="889000"/>
                  <a:pt x="6845296" y="889000"/>
                </a:cubicBezTo>
                <a:lnTo>
                  <a:pt x="50800" y="889000"/>
                </a:lnTo>
                <a:cubicBezTo>
                  <a:pt x="22744" y="889000"/>
                  <a:pt x="0" y="866256"/>
                  <a:pt x="0" y="838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048590" name="Shape 14"/>
          <p:cNvSpPr/>
          <p:nvPr/>
        </p:nvSpPr>
        <p:spPr>
          <a:xfrm>
            <a:off x="796636" y="4720940"/>
            <a:ext cx="50800" cy="889000"/>
          </a:xfrm>
          <a:custGeom>
            <a:avLst/>
            <a:gdLst/>
            <a:ahLst/>
            <a:cxnLst/>
            <a:rect l="l" t="t" r="r" b="b"/>
            <a:pathLst>
              <a:path w="50800" h="889000">
                <a:moveTo>
                  <a:pt x="50800" y="0"/>
                </a:moveTo>
                <a:lnTo>
                  <a:pt x="50800" y="0"/>
                </a:lnTo>
                <a:lnTo>
                  <a:pt x="50800" y="889000"/>
                </a:lnTo>
                <a:lnTo>
                  <a:pt x="50800" y="889000"/>
                </a:lnTo>
                <a:cubicBezTo>
                  <a:pt x="22763" y="889000"/>
                  <a:pt x="0" y="866237"/>
                  <a:pt x="0" y="838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591" name="Text 15"/>
          <p:cNvSpPr/>
          <p:nvPr/>
        </p:nvSpPr>
        <p:spPr>
          <a:xfrm>
            <a:off x="974436" y="4873340"/>
            <a:ext cx="6705600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Adam Superiority:</a:t>
            </a: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Adam optimizer achieved better performance than SGD due to adaptive learning rates and moment estimates.</a:t>
            </a:r>
            <a:endParaRPr lang="en-US" sz="1600" dirty="0"/>
          </a:p>
        </p:txBody>
      </p:sp>
      <p:sp>
        <p:nvSpPr>
          <p:cNvPr id="1048592" name="Shape 16"/>
          <p:cNvSpPr/>
          <p:nvPr/>
        </p:nvSpPr>
        <p:spPr>
          <a:xfrm>
            <a:off x="545465" y="5806440"/>
            <a:ext cx="7273925" cy="3163570"/>
          </a:xfrm>
          <a:custGeom>
            <a:avLst/>
            <a:gdLst/>
            <a:ahLst/>
            <a:cxnLst/>
            <a:rect l="l" t="t" r="r" b="b"/>
            <a:pathLst>
              <a:path w="7489536" h="3857336">
                <a:moveTo>
                  <a:pt x="152403" y="0"/>
                </a:moveTo>
                <a:lnTo>
                  <a:pt x="7337133" y="0"/>
                </a:lnTo>
                <a:cubicBezTo>
                  <a:pt x="7421303" y="0"/>
                  <a:pt x="7489536" y="68233"/>
                  <a:pt x="7489536" y="152403"/>
                </a:cubicBezTo>
                <a:lnTo>
                  <a:pt x="7489536" y="3704933"/>
                </a:lnTo>
                <a:cubicBezTo>
                  <a:pt x="7489536" y="3789103"/>
                  <a:pt x="7421303" y="3857336"/>
                  <a:pt x="7337133" y="3857336"/>
                </a:cubicBezTo>
                <a:lnTo>
                  <a:pt x="152403" y="3857336"/>
                </a:lnTo>
                <a:cubicBezTo>
                  <a:pt x="68233" y="3857336"/>
                  <a:pt x="0" y="3789103"/>
                  <a:pt x="0" y="3704933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593" name="Shape 17"/>
          <p:cNvSpPr/>
          <p:nvPr/>
        </p:nvSpPr>
        <p:spPr>
          <a:xfrm>
            <a:off x="669636" y="590654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594" name="Shape 18"/>
          <p:cNvSpPr/>
          <p:nvPr/>
        </p:nvSpPr>
        <p:spPr>
          <a:xfrm>
            <a:off x="847436" y="59986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80962"/>
                </a:moveTo>
                <a:cubicBezTo>
                  <a:pt x="160318" y="80962"/>
                  <a:pt x="166688" y="87332"/>
                  <a:pt x="166688" y="95250"/>
                </a:cubicBezTo>
                <a:lnTo>
                  <a:pt x="166688" y="161925"/>
                </a:lnTo>
                <a:cubicBezTo>
                  <a:pt x="166688" y="169843"/>
                  <a:pt x="160318" y="176212"/>
                  <a:pt x="152400" y="176212"/>
                </a:cubicBezTo>
                <a:cubicBezTo>
                  <a:pt x="144482" y="176212"/>
                  <a:pt x="138113" y="169843"/>
                  <a:pt x="138113" y="161925"/>
                </a:cubicBezTo>
                <a:lnTo>
                  <a:pt x="138113" y="95250"/>
                </a:lnTo>
                <a:cubicBezTo>
                  <a:pt x="138113" y="87332"/>
                  <a:pt x="144482" y="80962"/>
                  <a:pt x="152400" y="80962"/>
                </a:cubicBezTo>
                <a:close/>
                <a:moveTo>
                  <a:pt x="136505" y="209550"/>
                </a:moveTo>
                <a:cubicBezTo>
                  <a:pt x="136144" y="203650"/>
                  <a:pt x="139086" y="198037"/>
                  <a:pt x="144144" y="194977"/>
                </a:cubicBezTo>
                <a:cubicBezTo>
                  <a:pt x="149201" y="191918"/>
                  <a:pt x="155539" y="191918"/>
                  <a:pt x="160597" y="194977"/>
                </a:cubicBezTo>
                <a:cubicBezTo>
                  <a:pt x="165655" y="198037"/>
                  <a:pt x="168597" y="203650"/>
                  <a:pt x="168235" y="209550"/>
                </a:cubicBezTo>
                <a:cubicBezTo>
                  <a:pt x="168597" y="215450"/>
                  <a:pt x="165655" y="221063"/>
                  <a:pt x="160597" y="224123"/>
                </a:cubicBezTo>
                <a:cubicBezTo>
                  <a:pt x="155539" y="227182"/>
                  <a:pt x="149201" y="227182"/>
                  <a:pt x="144144" y="224123"/>
                </a:cubicBezTo>
                <a:cubicBezTo>
                  <a:pt x="139086" y="221063"/>
                  <a:pt x="136144" y="215450"/>
                  <a:pt x="136505" y="20955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595" name="Text 19"/>
          <p:cNvSpPr/>
          <p:nvPr/>
        </p:nvSpPr>
        <p:spPr>
          <a:xfrm>
            <a:off x="1393536" y="5998618"/>
            <a:ext cx="2006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Error Analysis</a:t>
            </a:r>
            <a:endParaRPr lang="en-US" sz="1600" dirty="0"/>
          </a:p>
        </p:txBody>
      </p:sp>
      <p:sp>
        <p:nvSpPr>
          <p:cNvPr id="1048596" name="Shape 20"/>
          <p:cNvSpPr/>
          <p:nvPr/>
        </p:nvSpPr>
        <p:spPr>
          <a:xfrm>
            <a:off x="901065" y="6586220"/>
            <a:ext cx="6831965" cy="1125855"/>
          </a:xfrm>
          <a:custGeom>
            <a:avLst/>
            <a:gdLst/>
            <a:ahLst/>
            <a:cxnLst/>
            <a:rect l="l" t="t" r="r" b="b"/>
            <a:pathLst>
              <a:path w="6956136" h="1177636">
                <a:moveTo>
                  <a:pt x="101595" y="0"/>
                </a:moveTo>
                <a:lnTo>
                  <a:pt x="6854542" y="0"/>
                </a:lnTo>
                <a:cubicBezTo>
                  <a:pt x="6910651" y="0"/>
                  <a:pt x="6956136" y="45485"/>
                  <a:pt x="6956136" y="101595"/>
                </a:cubicBezTo>
                <a:lnTo>
                  <a:pt x="6956136" y="1076042"/>
                </a:lnTo>
                <a:cubicBezTo>
                  <a:pt x="6956136" y="1132151"/>
                  <a:pt x="6910651" y="1177636"/>
                  <a:pt x="6854542" y="1177636"/>
                </a:cubicBezTo>
                <a:lnTo>
                  <a:pt x="101595" y="1177636"/>
                </a:lnTo>
                <a:cubicBezTo>
                  <a:pt x="45485" y="1177636"/>
                  <a:pt x="0" y="1132151"/>
                  <a:pt x="0" y="1076042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597" name="Shape 21"/>
          <p:cNvSpPr/>
          <p:nvPr/>
        </p:nvSpPr>
        <p:spPr>
          <a:xfrm>
            <a:off x="901123" y="673365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65100" y="82550"/>
                </a:moveTo>
                <a:cubicBezTo>
                  <a:pt x="165100" y="100767"/>
                  <a:pt x="159187" y="117594"/>
                  <a:pt x="149225" y="131247"/>
                </a:cubicBezTo>
                <a:lnTo>
                  <a:pt x="199469" y="181531"/>
                </a:lnTo>
                <a:cubicBezTo>
                  <a:pt x="204430" y="186492"/>
                  <a:pt x="204430" y="194548"/>
                  <a:pt x="199469" y="199509"/>
                </a:cubicBezTo>
                <a:cubicBezTo>
                  <a:pt x="194508" y="204470"/>
                  <a:pt x="186452" y="204470"/>
                  <a:pt x="181491" y="199509"/>
                </a:cubicBezTo>
                <a:lnTo>
                  <a:pt x="131247" y="149225"/>
                </a:lnTo>
                <a:cubicBezTo>
                  <a:pt x="117594" y="159187"/>
                  <a:pt x="100767" y="165100"/>
                  <a:pt x="82550" y="165100"/>
                </a:cubicBezTo>
                <a:cubicBezTo>
                  <a:pt x="36949" y="165100"/>
                  <a:pt x="0" y="128151"/>
                  <a:pt x="0" y="82550"/>
                </a:cubicBezTo>
                <a:cubicBezTo>
                  <a:pt x="0" y="36949"/>
                  <a:pt x="36949" y="0"/>
                  <a:pt x="82550" y="0"/>
                </a:cubicBezTo>
                <a:cubicBezTo>
                  <a:pt x="128151" y="0"/>
                  <a:pt x="165100" y="36949"/>
                  <a:pt x="165100" y="82550"/>
                </a:cubicBezTo>
                <a:close/>
                <a:moveTo>
                  <a:pt x="82550" y="139700"/>
                </a:moveTo>
                <a:cubicBezTo>
                  <a:pt x="114092" y="139700"/>
                  <a:pt x="139700" y="114092"/>
                  <a:pt x="139700" y="82550"/>
                </a:cubicBezTo>
                <a:cubicBezTo>
                  <a:pt x="139700" y="51008"/>
                  <a:pt x="114092" y="25400"/>
                  <a:pt x="82550" y="25400"/>
                </a:cubicBezTo>
                <a:cubicBezTo>
                  <a:pt x="51008" y="25400"/>
                  <a:pt x="25400" y="51008"/>
                  <a:pt x="25400" y="82550"/>
                </a:cubicBezTo>
                <a:cubicBezTo>
                  <a:pt x="25400" y="114092"/>
                  <a:pt x="51008" y="139700"/>
                  <a:pt x="82550" y="139700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598" name="Text 22"/>
          <p:cNvSpPr/>
          <p:nvPr/>
        </p:nvSpPr>
        <p:spPr>
          <a:xfrm>
            <a:off x="1228826" y="6733657"/>
            <a:ext cx="640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 Image Misclassification</a:t>
            </a:r>
            <a:endParaRPr lang="en-US" sz="1600" dirty="0"/>
          </a:p>
        </p:txBody>
      </p:sp>
      <p:sp>
        <p:nvSpPr>
          <p:cNvPr id="1048599" name="Text 23"/>
          <p:cNvSpPr/>
          <p:nvPr/>
        </p:nvSpPr>
        <p:spPr>
          <a:xfrm>
            <a:off x="1104265" y="7204075"/>
            <a:ext cx="6317615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Most errors occurred in sharp images with </a:t>
            </a: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weaker edge information</a:t>
            </a:r>
            <a:r>
              <a:rPr lang="en-US" sz="1400" dirty="0">
                <a:solidFill>
                  <a:srgbClr val="E0E2E5">
                    <a:alpha val="7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causing them to be classified as blur.</a:t>
            </a:r>
            <a:endParaRPr lang="en-US" sz="1600" dirty="0"/>
          </a:p>
        </p:txBody>
      </p:sp>
      <p:sp>
        <p:nvSpPr>
          <p:cNvPr id="1048600" name="Shape 24"/>
          <p:cNvSpPr/>
          <p:nvPr/>
        </p:nvSpPr>
        <p:spPr>
          <a:xfrm>
            <a:off x="864235" y="7828280"/>
            <a:ext cx="6813550" cy="1101090"/>
          </a:xfrm>
          <a:custGeom>
            <a:avLst/>
            <a:gdLst/>
            <a:ahLst/>
            <a:cxnLst/>
            <a:rect l="l" t="t" r="r" b="b"/>
            <a:pathLst>
              <a:path w="6956136" h="1177636">
                <a:moveTo>
                  <a:pt x="101595" y="0"/>
                </a:moveTo>
                <a:lnTo>
                  <a:pt x="6854542" y="0"/>
                </a:lnTo>
                <a:cubicBezTo>
                  <a:pt x="6910651" y="0"/>
                  <a:pt x="6956136" y="45485"/>
                  <a:pt x="6956136" y="101595"/>
                </a:cubicBezTo>
                <a:lnTo>
                  <a:pt x="6956136" y="1076042"/>
                </a:lnTo>
                <a:cubicBezTo>
                  <a:pt x="6956136" y="1132151"/>
                  <a:pt x="6910651" y="1177636"/>
                  <a:pt x="6854542" y="1177636"/>
                </a:cubicBezTo>
                <a:lnTo>
                  <a:pt x="101595" y="1177636"/>
                </a:lnTo>
                <a:cubicBezTo>
                  <a:pt x="45485" y="1177636"/>
                  <a:pt x="0" y="1132151"/>
                  <a:pt x="0" y="1076042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601" name="Shape 25"/>
          <p:cNvSpPr/>
          <p:nvPr/>
        </p:nvSpPr>
        <p:spPr>
          <a:xfrm>
            <a:off x="901123" y="7966256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52400" y="12700"/>
                </a:moveTo>
                <a:lnTo>
                  <a:pt x="203200" y="12700"/>
                </a:lnTo>
                <a:cubicBezTo>
                  <a:pt x="210225" y="12700"/>
                  <a:pt x="215900" y="18375"/>
                  <a:pt x="215900" y="25400"/>
                </a:cubicBezTo>
                <a:cubicBezTo>
                  <a:pt x="215900" y="32425"/>
                  <a:pt x="210225" y="38100"/>
                  <a:pt x="203200" y="38100"/>
                </a:cubicBezTo>
                <a:lnTo>
                  <a:pt x="158115" y="38100"/>
                </a:lnTo>
                <a:cubicBezTo>
                  <a:pt x="156051" y="48339"/>
                  <a:pt x="149027" y="56793"/>
                  <a:pt x="139700" y="60841"/>
                </a:cubicBezTo>
                <a:lnTo>
                  <a:pt x="139700" y="177800"/>
                </a:lnTo>
                <a:lnTo>
                  <a:pt x="203200" y="177800"/>
                </a:lnTo>
                <a:cubicBezTo>
                  <a:pt x="210225" y="177800"/>
                  <a:pt x="215900" y="183475"/>
                  <a:pt x="215900" y="190500"/>
                </a:cubicBezTo>
                <a:cubicBezTo>
                  <a:pt x="215900" y="197525"/>
                  <a:pt x="210225" y="203200"/>
                  <a:pt x="203200" y="203200"/>
                </a:cubicBezTo>
                <a:lnTo>
                  <a:pt x="50800" y="203200"/>
                </a:lnTo>
                <a:cubicBezTo>
                  <a:pt x="43775" y="203200"/>
                  <a:pt x="38100" y="197525"/>
                  <a:pt x="38100" y="190500"/>
                </a:cubicBezTo>
                <a:cubicBezTo>
                  <a:pt x="38100" y="183475"/>
                  <a:pt x="43775" y="177800"/>
                  <a:pt x="50800" y="177800"/>
                </a:cubicBezTo>
                <a:lnTo>
                  <a:pt x="114300" y="177800"/>
                </a:lnTo>
                <a:lnTo>
                  <a:pt x="114300" y="60841"/>
                </a:lnTo>
                <a:cubicBezTo>
                  <a:pt x="104973" y="56753"/>
                  <a:pt x="97949" y="48300"/>
                  <a:pt x="95885" y="38100"/>
                </a:cubicBezTo>
                <a:lnTo>
                  <a:pt x="50800" y="38100"/>
                </a:lnTo>
                <a:cubicBezTo>
                  <a:pt x="43775" y="38100"/>
                  <a:pt x="38100" y="32425"/>
                  <a:pt x="38100" y="25400"/>
                </a:cubicBezTo>
                <a:cubicBezTo>
                  <a:pt x="38100" y="18375"/>
                  <a:pt x="43775" y="12700"/>
                  <a:pt x="50800" y="12700"/>
                </a:cubicBezTo>
                <a:lnTo>
                  <a:pt x="101600" y="12700"/>
                </a:lnTo>
                <a:cubicBezTo>
                  <a:pt x="107394" y="5001"/>
                  <a:pt x="116602" y="0"/>
                  <a:pt x="127000" y="0"/>
                </a:cubicBezTo>
                <a:cubicBezTo>
                  <a:pt x="137398" y="0"/>
                  <a:pt x="146606" y="5001"/>
                  <a:pt x="152400" y="12700"/>
                </a:cubicBezTo>
                <a:close/>
                <a:moveTo>
                  <a:pt x="174466" y="127000"/>
                </a:moveTo>
                <a:lnTo>
                  <a:pt x="231934" y="127000"/>
                </a:lnTo>
                <a:lnTo>
                  <a:pt x="203200" y="77708"/>
                </a:lnTo>
                <a:lnTo>
                  <a:pt x="174466" y="127000"/>
                </a:lnTo>
                <a:close/>
                <a:moveTo>
                  <a:pt x="203200" y="165100"/>
                </a:moveTo>
                <a:cubicBezTo>
                  <a:pt x="178237" y="165100"/>
                  <a:pt x="157480" y="151606"/>
                  <a:pt x="153194" y="133787"/>
                </a:cubicBezTo>
                <a:cubicBezTo>
                  <a:pt x="152162" y="129421"/>
                  <a:pt x="153591" y="124936"/>
                  <a:pt x="155853" y="121047"/>
                </a:cubicBezTo>
                <a:lnTo>
                  <a:pt x="193635" y="56277"/>
                </a:lnTo>
                <a:cubicBezTo>
                  <a:pt x="195620" y="52864"/>
                  <a:pt x="199271" y="50800"/>
                  <a:pt x="203200" y="50800"/>
                </a:cubicBezTo>
                <a:cubicBezTo>
                  <a:pt x="207129" y="50800"/>
                  <a:pt x="210780" y="52903"/>
                  <a:pt x="212765" y="56277"/>
                </a:cubicBezTo>
                <a:lnTo>
                  <a:pt x="250547" y="121047"/>
                </a:lnTo>
                <a:cubicBezTo>
                  <a:pt x="252809" y="124936"/>
                  <a:pt x="254238" y="129421"/>
                  <a:pt x="253206" y="133787"/>
                </a:cubicBezTo>
                <a:cubicBezTo>
                  <a:pt x="248920" y="151567"/>
                  <a:pt x="228163" y="165100"/>
                  <a:pt x="203200" y="165100"/>
                </a:cubicBezTo>
                <a:close/>
                <a:moveTo>
                  <a:pt x="50324" y="77708"/>
                </a:moveTo>
                <a:lnTo>
                  <a:pt x="21590" y="127000"/>
                </a:lnTo>
                <a:lnTo>
                  <a:pt x="79097" y="127000"/>
                </a:lnTo>
                <a:lnTo>
                  <a:pt x="50324" y="77708"/>
                </a:lnTo>
                <a:close/>
                <a:moveTo>
                  <a:pt x="357" y="133787"/>
                </a:moveTo>
                <a:cubicBezTo>
                  <a:pt x="-675" y="129421"/>
                  <a:pt x="754" y="124936"/>
                  <a:pt x="3016" y="121047"/>
                </a:cubicBezTo>
                <a:lnTo>
                  <a:pt x="40799" y="56277"/>
                </a:lnTo>
                <a:cubicBezTo>
                  <a:pt x="42783" y="52864"/>
                  <a:pt x="46434" y="50800"/>
                  <a:pt x="50363" y="50800"/>
                </a:cubicBezTo>
                <a:cubicBezTo>
                  <a:pt x="54293" y="50800"/>
                  <a:pt x="57944" y="52903"/>
                  <a:pt x="59928" y="56277"/>
                </a:cubicBezTo>
                <a:lnTo>
                  <a:pt x="97711" y="121047"/>
                </a:lnTo>
                <a:cubicBezTo>
                  <a:pt x="99973" y="124936"/>
                  <a:pt x="101402" y="129421"/>
                  <a:pt x="100370" y="133787"/>
                </a:cubicBezTo>
                <a:cubicBezTo>
                  <a:pt x="96083" y="151567"/>
                  <a:pt x="75327" y="165100"/>
                  <a:pt x="50363" y="165100"/>
                </a:cubicBezTo>
                <a:cubicBezTo>
                  <a:pt x="25400" y="165100"/>
                  <a:pt x="4643" y="151606"/>
                  <a:pt x="357" y="133787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602" name="Text 26"/>
          <p:cNvSpPr/>
          <p:nvPr/>
        </p:nvSpPr>
        <p:spPr>
          <a:xfrm>
            <a:off x="1155166" y="7954826"/>
            <a:ext cx="640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Imbalance</a:t>
            </a:r>
            <a:endParaRPr lang="en-US" sz="1600" dirty="0"/>
          </a:p>
        </p:txBody>
      </p:sp>
      <p:sp>
        <p:nvSpPr>
          <p:cNvPr id="1048603" name="Text 27"/>
          <p:cNvSpPr/>
          <p:nvPr/>
        </p:nvSpPr>
        <p:spPr>
          <a:xfrm>
            <a:off x="974826" y="8276136"/>
            <a:ext cx="6388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slight imbalance (300 sharp vs 600 blur) may have influenced predictions, though the impact was minimal.</a:t>
            </a:r>
            <a:endParaRPr lang="en-US" sz="1600" dirty="0"/>
          </a:p>
        </p:txBody>
      </p:sp>
      <p:sp>
        <p:nvSpPr>
          <p:cNvPr id="1048604" name="Shape 28"/>
          <p:cNvSpPr/>
          <p:nvPr/>
        </p:nvSpPr>
        <p:spPr>
          <a:xfrm>
            <a:off x="8128635" y="1579245"/>
            <a:ext cx="7620635" cy="4205605"/>
          </a:xfrm>
          <a:custGeom>
            <a:avLst/>
            <a:gdLst/>
            <a:ahLst/>
            <a:cxnLst/>
            <a:rect l="l" t="t" r="r" b="b"/>
            <a:pathLst>
              <a:path w="7489536" h="4936836">
                <a:moveTo>
                  <a:pt x="152400" y="0"/>
                </a:moveTo>
                <a:lnTo>
                  <a:pt x="7337136" y="0"/>
                </a:lnTo>
                <a:cubicBezTo>
                  <a:pt x="7421305" y="0"/>
                  <a:pt x="7489536" y="68232"/>
                  <a:pt x="7489536" y="152400"/>
                </a:cubicBezTo>
                <a:lnTo>
                  <a:pt x="7489536" y="4784436"/>
                </a:lnTo>
                <a:cubicBezTo>
                  <a:pt x="7489536" y="4868605"/>
                  <a:pt x="7421304" y="4936836"/>
                  <a:pt x="7337136" y="4936836"/>
                </a:cubicBezTo>
                <a:lnTo>
                  <a:pt x="152400" y="4936836"/>
                </a:lnTo>
                <a:cubicBezTo>
                  <a:pt x="68288" y="4936836"/>
                  <a:pt x="0" y="4868548"/>
                  <a:pt x="0" y="4784436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605" name="Shape 29"/>
          <p:cNvSpPr/>
          <p:nvPr/>
        </p:nvSpPr>
        <p:spPr>
          <a:xfrm>
            <a:off x="8518237" y="18380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E7C88">
              <a:alpha val="30196"/>
            </a:srgbClr>
          </a:solidFill>
        </p:spPr>
      </p:sp>
      <p:sp>
        <p:nvSpPr>
          <p:cNvPr id="1048606" name="Shape 30"/>
          <p:cNvSpPr/>
          <p:nvPr/>
        </p:nvSpPr>
        <p:spPr>
          <a:xfrm>
            <a:off x="8708737" y="199044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607" name="Text 31"/>
          <p:cNvSpPr/>
          <p:nvPr/>
        </p:nvSpPr>
        <p:spPr>
          <a:xfrm>
            <a:off x="9280237" y="1939640"/>
            <a:ext cx="4279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Why Adam Outperformed SGD</a:t>
            </a:r>
            <a:endParaRPr lang="en-US" sz="1600" dirty="0"/>
          </a:p>
        </p:txBody>
      </p:sp>
      <p:sp>
        <p:nvSpPr>
          <p:cNvPr id="1048608" name="Shape 32"/>
          <p:cNvSpPr/>
          <p:nvPr/>
        </p:nvSpPr>
        <p:spPr>
          <a:xfrm>
            <a:off x="8522970" y="2655570"/>
            <a:ext cx="6840855" cy="1075690"/>
          </a:xfrm>
          <a:custGeom>
            <a:avLst/>
            <a:gdLst/>
            <a:ahLst/>
            <a:cxnLst/>
            <a:rect l="l" t="t" r="r" b="b"/>
            <a:pathLst>
              <a:path w="6956136" h="1177636">
                <a:moveTo>
                  <a:pt x="101595" y="0"/>
                </a:moveTo>
                <a:lnTo>
                  <a:pt x="6854542" y="0"/>
                </a:lnTo>
                <a:cubicBezTo>
                  <a:pt x="6910651" y="0"/>
                  <a:pt x="6956136" y="45485"/>
                  <a:pt x="6956136" y="101595"/>
                </a:cubicBezTo>
                <a:lnTo>
                  <a:pt x="6956136" y="1076042"/>
                </a:lnTo>
                <a:cubicBezTo>
                  <a:pt x="6956136" y="1132151"/>
                  <a:pt x="6910651" y="1177636"/>
                  <a:pt x="6854542" y="1177636"/>
                </a:cubicBezTo>
                <a:lnTo>
                  <a:pt x="101595" y="1177636"/>
                </a:lnTo>
                <a:cubicBezTo>
                  <a:pt x="45485" y="1177636"/>
                  <a:pt x="0" y="1132151"/>
                  <a:pt x="0" y="1076042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8609" name="Shape 33"/>
          <p:cNvSpPr/>
          <p:nvPr/>
        </p:nvSpPr>
        <p:spPr>
          <a:xfrm>
            <a:off x="8717973" y="2863273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34461" y="-3929"/>
                </a:moveTo>
                <a:cubicBezTo>
                  <a:pt x="139184" y="-516"/>
                  <a:pt x="140930" y="5675"/>
                  <a:pt x="138787" y="11073"/>
                </a:cubicBezTo>
                <a:lnTo>
                  <a:pt x="107672" y="88900"/>
                </a:lnTo>
                <a:lnTo>
                  <a:pt x="165100" y="88900"/>
                </a:lnTo>
                <a:cubicBezTo>
                  <a:pt x="170458" y="88900"/>
                  <a:pt x="175220" y="92234"/>
                  <a:pt x="177046" y="97274"/>
                </a:cubicBezTo>
                <a:cubicBezTo>
                  <a:pt x="178872" y="102314"/>
                  <a:pt x="177324" y="107950"/>
                  <a:pt x="173236" y="111363"/>
                </a:cubicBezTo>
                <a:lnTo>
                  <a:pt x="58936" y="206613"/>
                </a:lnTo>
                <a:cubicBezTo>
                  <a:pt x="54451" y="210344"/>
                  <a:pt x="48062" y="210542"/>
                  <a:pt x="43339" y="207129"/>
                </a:cubicBezTo>
                <a:cubicBezTo>
                  <a:pt x="38616" y="203716"/>
                  <a:pt x="36870" y="197525"/>
                  <a:pt x="39013" y="192127"/>
                </a:cubicBezTo>
                <a:lnTo>
                  <a:pt x="70128" y="114300"/>
                </a:lnTo>
                <a:lnTo>
                  <a:pt x="12700" y="114300"/>
                </a:lnTo>
                <a:cubicBezTo>
                  <a:pt x="7342" y="114300"/>
                  <a:pt x="2580" y="110966"/>
                  <a:pt x="754" y="105926"/>
                </a:cubicBezTo>
                <a:cubicBezTo>
                  <a:pt x="-1072" y="100886"/>
                  <a:pt x="476" y="95250"/>
                  <a:pt x="4564" y="91837"/>
                </a:cubicBezTo>
                <a:lnTo>
                  <a:pt x="118864" y="-3413"/>
                </a:lnTo>
                <a:cubicBezTo>
                  <a:pt x="123349" y="-7144"/>
                  <a:pt x="129738" y="-7342"/>
                  <a:pt x="134461" y="-3929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10" name="Text 34"/>
          <p:cNvSpPr/>
          <p:nvPr/>
        </p:nvSpPr>
        <p:spPr>
          <a:xfrm>
            <a:off x="8933873" y="2812473"/>
            <a:ext cx="6489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Adaptive Learning Rate</a:t>
            </a:r>
            <a:endParaRPr lang="en-US" sz="1600" dirty="0"/>
          </a:p>
        </p:txBody>
      </p:sp>
      <p:sp>
        <p:nvSpPr>
          <p:cNvPr id="1048611" name="Text 35"/>
          <p:cNvSpPr/>
          <p:nvPr/>
        </p:nvSpPr>
        <p:spPr>
          <a:xfrm>
            <a:off x="8679873" y="3168073"/>
            <a:ext cx="673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Adam adapts the learning rate for each parameter individually, allowing faster convergence on sparse gradients.</a:t>
            </a:r>
            <a:endParaRPr lang="en-US" sz="1600" dirty="0"/>
          </a:p>
        </p:txBody>
      </p:sp>
      <p:sp>
        <p:nvSpPr>
          <p:cNvPr id="1048612" name="Shape 36"/>
          <p:cNvSpPr/>
          <p:nvPr/>
        </p:nvSpPr>
        <p:spPr>
          <a:xfrm>
            <a:off x="8598535" y="3853180"/>
            <a:ext cx="6880860" cy="1020445"/>
          </a:xfrm>
          <a:custGeom>
            <a:avLst/>
            <a:gdLst/>
            <a:ahLst/>
            <a:cxnLst/>
            <a:rect l="l" t="t" r="r" b="b"/>
            <a:pathLst>
              <a:path w="6956136" h="1177636">
                <a:moveTo>
                  <a:pt x="101595" y="0"/>
                </a:moveTo>
                <a:lnTo>
                  <a:pt x="6854542" y="0"/>
                </a:lnTo>
                <a:cubicBezTo>
                  <a:pt x="6910651" y="0"/>
                  <a:pt x="6956136" y="45485"/>
                  <a:pt x="6956136" y="101595"/>
                </a:cubicBezTo>
                <a:lnTo>
                  <a:pt x="6956136" y="1076042"/>
                </a:lnTo>
                <a:cubicBezTo>
                  <a:pt x="6956136" y="1132151"/>
                  <a:pt x="6910651" y="1177636"/>
                  <a:pt x="6854542" y="1177636"/>
                </a:cubicBezTo>
                <a:lnTo>
                  <a:pt x="101595" y="1177636"/>
                </a:lnTo>
                <a:cubicBezTo>
                  <a:pt x="45485" y="1177636"/>
                  <a:pt x="0" y="1132151"/>
                  <a:pt x="0" y="1076042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613" name="Shape 37"/>
          <p:cNvSpPr/>
          <p:nvPr/>
        </p:nvSpPr>
        <p:spPr>
          <a:xfrm>
            <a:off x="8679873" y="405014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614" name="Text 38"/>
          <p:cNvSpPr/>
          <p:nvPr/>
        </p:nvSpPr>
        <p:spPr>
          <a:xfrm>
            <a:off x="8933873" y="3948547"/>
            <a:ext cx="6489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Moment Estimates</a:t>
            </a:r>
            <a:endParaRPr lang="en-US" sz="1600" dirty="0"/>
          </a:p>
        </p:txBody>
      </p:sp>
      <p:sp>
        <p:nvSpPr>
          <p:cNvPr id="1048615" name="Text 39"/>
          <p:cNvSpPr/>
          <p:nvPr/>
        </p:nvSpPr>
        <p:spPr>
          <a:xfrm>
            <a:off x="8679873" y="4365742"/>
            <a:ext cx="673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Uses first and second moment estimates (mean and variance) of gradients to stabilize updates.</a:t>
            </a:r>
            <a:endParaRPr lang="en-US" sz="1600" dirty="0"/>
          </a:p>
        </p:txBody>
      </p:sp>
      <p:sp>
        <p:nvSpPr>
          <p:cNvPr id="1048616" name="Shape 40"/>
          <p:cNvSpPr/>
          <p:nvPr/>
        </p:nvSpPr>
        <p:spPr>
          <a:xfrm>
            <a:off x="8535670" y="4947920"/>
            <a:ext cx="6943725" cy="796925"/>
          </a:xfrm>
          <a:custGeom>
            <a:avLst/>
            <a:gdLst/>
            <a:ahLst/>
            <a:cxnLst/>
            <a:rect l="l" t="t" r="r" b="b"/>
            <a:pathLst>
              <a:path w="6956136" h="923636">
                <a:moveTo>
                  <a:pt x="101600" y="0"/>
                </a:moveTo>
                <a:lnTo>
                  <a:pt x="6854536" y="0"/>
                </a:lnTo>
                <a:cubicBezTo>
                  <a:pt x="6910648" y="0"/>
                  <a:pt x="6956136" y="45488"/>
                  <a:pt x="6956136" y="101600"/>
                </a:cubicBezTo>
                <a:lnTo>
                  <a:pt x="6956136" y="822036"/>
                </a:lnTo>
                <a:cubicBezTo>
                  <a:pt x="6956136" y="878148"/>
                  <a:pt x="6910648" y="923636"/>
                  <a:pt x="6854536" y="923636"/>
                </a:cubicBezTo>
                <a:lnTo>
                  <a:pt x="101600" y="923636"/>
                </a:lnTo>
                <a:cubicBezTo>
                  <a:pt x="45488" y="923636"/>
                  <a:pt x="0" y="878148"/>
                  <a:pt x="0" y="822036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617" name="Shape 41"/>
          <p:cNvSpPr/>
          <p:nvPr/>
        </p:nvSpPr>
        <p:spPr>
          <a:xfrm>
            <a:off x="8705273" y="513097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5E7C88"/>
          </a:solidFill>
        </p:spPr>
      </p:sp>
      <p:sp>
        <p:nvSpPr>
          <p:cNvPr id="1048618" name="Text 42"/>
          <p:cNvSpPr/>
          <p:nvPr/>
        </p:nvSpPr>
        <p:spPr>
          <a:xfrm>
            <a:off x="9128183" y="5029375"/>
            <a:ext cx="6489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Bias Correction</a:t>
            </a:r>
            <a:endParaRPr lang="en-US" sz="1600" dirty="0"/>
          </a:p>
        </p:txBody>
      </p:sp>
      <p:sp>
        <p:nvSpPr>
          <p:cNvPr id="1048619" name="Text 43"/>
          <p:cNvSpPr/>
          <p:nvPr/>
        </p:nvSpPr>
        <p:spPr>
          <a:xfrm>
            <a:off x="8679873" y="5356400"/>
            <a:ext cx="6731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Corrects bias in moment estimates during early training steps, improving stability.</a:t>
            </a:r>
            <a:endParaRPr lang="en-US" sz="1600" dirty="0"/>
          </a:p>
        </p:txBody>
      </p:sp>
      <p:sp>
        <p:nvSpPr>
          <p:cNvPr id="1048620" name="Shape 44"/>
          <p:cNvSpPr/>
          <p:nvPr/>
        </p:nvSpPr>
        <p:spPr>
          <a:xfrm>
            <a:off x="8324215" y="5939155"/>
            <a:ext cx="7589520" cy="3163570"/>
          </a:xfrm>
          <a:custGeom>
            <a:avLst/>
            <a:gdLst/>
            <a:ahLst/>
            <a:cxnLst/>
            <a:rect l="l" t="t" r="r" b="b"/>
            <a:pathLst>
              <a:path w="7489536" h="3704936">
                <a:moveTo>
                  <a:pt x="152384" y="0"/>
                </a:moveTo>
                <a:lnTo>
                  <a:pt x="7337152" y="0"/>
                </a:lnTo>
                <a:cubicBezTo>
                  <a:pt x="7421312" y="0"/>
                  <a:pt x="7489536" y="68225"/>
                  <a:pt x="7489536" y="152384"/>
                </a:cubicBezTo>
                <a:lnTo>
                  <a:pt x="7489536" y="3552552"/>
                </a:lnTo>
                <a:cubicBezTo>
                  <a:pt x="7489536" y="3636712"/>
                  <a:pt x="7421312" y="3704936"/>
                  <a:pt x="7337152" y="3704936"/>
                </a:cubicBezTo>
                <a:lnTo>
                  <a:pt x="152384" y="3704936"/>
                </a:lnTo>
                <a:cubicBezTo>
                  <a:pt x="68225" y="3704936"/>
                  <a:pt x="0" y="3636712"/>
                  <a:pt x="0" y="3552552"/>
                </a:cubicBezTo>
                <a:lnTo>
                  <a:pt x="0" y="152384"/>
                </a:lnTo>
                <a:cubicBezTo>
                  <a:pt x="0" y="68281"/>
                  <a:pt x="68281" y="0"/>
                  <a:pt x="152384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621" name="Text 45"/>
          <p:cNvSpPr/>
          <p:nvPr/>
        </p:nvSpPr>
        <p:spPr>
          <a:xfrm>
            <a:off x="8323927" y="5998793"/>
            <a:ext cx="7099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Summary</a:t>
            </a:r>
            <a:endParaRPr lang="en-US" sz="1600" dirty="0"/>
          </a:p>
        </p:txBody>
      </p:sp>
      <p:sp>
        <p:nvSpPr>
          <p:cNvPr id="1048622" name="Shape 46"/>
          <p:cNvSpPr/>
          <p:nvPr/>
        </p:nvSpPr>
        <p:spPr>
          <a:xfrm>
            <a:off x="8717915" y="6396355"/>
            <a:ext cx="3205480" cy="1110615"/>
          </a:xfrm>
          <a:custGeom>
            <a:avLst/>
            <a:gdLst/>
            <a:ahLst/>
            <a:cxnLst/>
            <a:rect l="l" t="t" r="r" b="b"/>
            <a:pathLst>
              <a:path w="3400136" h="1228436">
                <a:moveTo>
                  <a:pt x="101604" y="0"/>
                </a:moveTo>
                <a:lnTo>
                  <a:pt x="3298532" y="0"/>
                </a:lnTo>
                <a:cubicBezTo>
                  <a:pt x="3354647" y="0"/>
                  <a:pt x="3400136" y="45490"/>
                  <a:pt x="3400136" y="101604"/>
                </a:cubicBezTo>
                <a:lnTo>
                  <a:pt x="3400136" y="1126832"/>
                </a:lnTo>
                <a:cubicBezTo>
                  <a:pt x="3400136" y="1182947"/>
                  <a:pt x="3354647" y="1228436"/>
                  <a:pt x="3298532" y="1228436"/>
                </a:cubicBezTo>
                <a:lnTo>
                  <a:pt x="101604" y="1228436"/>
                </a:lnTo>
                <a:cubicBezTo>
                  <a:pt x="45490" y="1228436"/>
                  <a:pt x="0" y="1182947"/>
                  <a:pt x="0" y="1126832"/>
                </a:cubicBezTo>
                <a:lnTo>
                  <a:pt x="0" y="101604"/>
                </a:lnTo>
                <a:cubicBezTo>
                  <a:pt x="0" y="45490"/>
                  <a:pt x="45490" y="0"/>
                  <a:pt x="1016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8623" name="Text 47"/>
          <p:cNvSpPr/>
          <p:nvPr/>
        </p:nvSpPr>
        <p:spPr>
          <a:xfrm>
            <a:off x="8709083" y="6516668"/>
            <a:ext cx="3162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Best Accuracy</a:t>
            </a:r>
            <a:endParaRPr lang="en-US" sz="1600" dirty="0"/>
          </a:p>
        </p:txBody>
      </p:sp>
      <p:sp>
        <p:nvSpPr>
          <p:cNvPr id="1048624" name="Text 48"/>
          <p:cNvSpPr/>
          <p:nvPr/>
        </p:nvSpPr>
        <p:spPr>
          <a:xfrm>
            <a:off x="8641773" y="6733838"/>
            <a:ext cx="327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94.8%</a:t>
            </a:r>
            <a:endParaRPr lang="en-US" sz="1600" dirty="0"/>
          </a:p>
        </p:txBody>
      </p:sp>
      <p:sp>
        <p:nvSpPr>
          <p:cNvPr id="1048625" name="Text 49"/>
          <p:cNvSpPr/>
          <p:nvPr/>
        </p:nvSpPr>
        <p:spPr>
          <a:xfrm rot="10800000" flipV="1">
            <a:off x="8679815" y="7117080"/>
            <a:ext cx="316611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Adam Optimizer</a:t>
            </a:r>
            <a:endParaRPr lang="en-US" sz="1600" dirty="0"/>
          </a:p>
        </p:txBody>
      </p:sp>
      <p:sp>
        <p:nvSpPr>
          <p:cNvPr id="1048626" name="Shape 50"/>
          <p:cNvSpPr/>
          <p:nvPr/>
        </p:nvSpPr>
        <p:spPr>
          <a:xfrm>
            <a:off x="12537440" y="6303645"/>
            <a:ext cx="3079750" cy="1104265"/>
          </a:xfrm>
          <a:custGeom>
            <a:avLst/>
            <a:gdLst/>
            <a:ahLst/>
            <a:cxnLst/>
            <a:rect l="l" t="t" r="r" b="b"/>
            <a:pathLst>
              <a:path w="3400136" h="1228436">
                <a:moveTo>
                  <a:pt x="101604" y="0"/>
                </a:moveTo>
                <a:lnTo>
                  <a:pt x="3298532" y="0"/>
                </a:lnTo>
                <a:cubicBezTo>
                  <a:pt x="3354647" y="0"/>
                  <a:pt x="3400136" y="45490"/>
                  <a:pt x="3400136" y="101604"/>
                </a:cubicBezTo>
                <a:lnTo>
                  <a:pt x="3400136" y="1126832"/>
                </a:lnTo>
                <a:cubicBezTo>
                  <a:pt x="3400136" y="1182947"/>
                  <a:pt x="3354647" y="1228436"/>
                  <a:pt x="3298532" y="1228436"/>
                </a:cubicBezTo>
                <a:lnTo>
                  <a:pt x="101604" y="1228436"/>
                </a:lnTo>
                <a:cubicBezTo>
                  <a:pt x="45490" y="1228436"/>
                  <a:pt x="0" y="1182947"/>
                  <a:pt x="0" y="1126832"/>
                </a:cubicBezTo>
                <a:lnTo>
                  <a:pt x="0" y="101604"/>
                </a:lnTo>
                <a:cubicBezTo>
                  <a:pt x="0" y="45490"/>
                  <a:pt x="45490" y="0"/>
                  <a:pt x="1016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048627" name="Text 51"/>
          <p:cNvSpPr/>
          <p:nvPr/>
        </p:nvSpPr>
        <p:spPr>
          <a:xfrm>
            <a:off x="12643197" y="6405543"/>
            <a:ext cx="3162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Blur Precision</a:t>
            </a:r>
            <a:endParaRPr lang="en-US" sz="1600" dirty="0"/>
          </a:p>
        </p:txBody>
      </p:sp>
      <p:sp>
        <p:nvSpPr>
          <p:cNvPr id="1048628" name="Text 52"/>
          <p:cNvSpPr/>
          <p:nvPr/>
        </p:nvSpPr>
        <p:spPr>
          <a:xfrm>
            <a:off x="12472382" y="6608743"/>
            <a:ext cx="327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A5F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96%</a:t>
            </a:r>
            <a:endParaRPr lang="en-US" sz="1600" dirty="0"/>
          </a:p>
        </p:txBody>
      </p:sp>
      <p:sp>
        <p:nvSpPr>
          <p:cNvPr id="1048629" name="Text 53"/>
          <p:cNvSpPr/>
          <p:nvPr/>
        </p:nvSpPr>
        <p:spPr>
          <a:xfrm>
            <a:off x="12472382" y="7204373"/>
            <a:ext cx="3162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 False Positives</a:t>
            </a:r>
            <a:endParaRPr lang="en-US" sz="1600" dirty="0"/>
          </a:p>
        </p:txBody>
      </p:sp>
      <p:sp>
        <p:nvSpPr>
          <p:cNvPr id="1048630" name="Shape 54"/>
          <p:cNvSpPr/>
          <p:nvPr/>
        </p:nvSpPr>
        <p:spPr>
          <a:xfrm>
            <a:off x="8598420" y="7712248"/>
            <a:ext cx="3400136" cy="1228436"/>
          </a:xfrm>
          <a:custGeom>
            <a:avLst/>
            <a:gdLst/>
            <a:ahLst/>
            <a:cxnLst/>
            <a:rect l="l" t="t" r="r" b="b"/>
            <a:pathLst>
              <a:path w="3400136" h="1228436">
                <a:moveTo>
                  <a:pt x="101604" y="0"/>
                </a:moveTo>
                <a:lnTo>
                  <a:pt x="3298532" y="0"/>
                </a:lnTo>
                <a:cubicBezTo>
                  <a:pt x="3354647" y="0"/>
                  <a:pt x="3400136" y="45490"/>
                  <a:pt x="3400136" y="101604"/>
                </a:cubicBezTo>
                <a:lnTo>
                  <a:pt x="3400136" y="1126832"/>
                </a:lnTo>
                <a:cubicBezTo>
                  <a:pt x="3400136" y="1182947"/>
                  <a:pt x="3354647" y="1228436"/>
                  <a:pt x="3298532" y="1228436"/>
                </a:cubicBezTo>
                <a:lnTo>
                  <a:pt x="101604" y="1228436"/>
                </a:lnTo>
                <a:cubicBezTo>
                  <a:pt x="45490" y="1228436"/>
                  <a:pt x="0" y="1182947"/>
                  <a:pt x="0" y="1126832"/>
                </a:cubicBezTo>
                <a:lnTo>
                  <a:pt x="0" y="101604"/>
                </a:lnTo>
                <a:cubicBezTo>
                  <a:pt x="0" y="45490"/>
                  <a:pt x="45490" y="0"/>
                  <a:pt x="1016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048631" name="Text 55"/>
          <p:cNvSpPr/>
          <p:nvPr/>
        </p:nvSpPr>
        <p:spPr>
          <a:xfrm>
            <a:off x="8717973" y="7762590"/>
            <a:ext cx="3162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Sharp Recall</a:t>
            </a:r>
            <a:endParaRPr lang="en-US" sz="1600" dirty="0"/>
          </a:p>
        </p:txBody>
      </p:sp>
      <p:sp>
        <p:nvSpPr>
          <p:cNvPr id="1048632" name="Text 56"/>
          <p:cNvSpPr/>
          <p:nvPr/>
        </p:nvSpPr>
        <p:spPr>
          <a:xfrm>
            <a:off x="8679873" y="8259160"/>
            <a:ext cx="327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92%</a:t>
            </a:r>
            <a:endParaRPr lang="en-US" sz="1600" dirty="0"/>
          </a:p>
        </p:txBody>
      </p:sp>
      <p:sp>
        <p:nvSpPr>
          <p:cNvPr id="1048633" name="Text 57"/>
          <p:cNvSpPr/>
          <p:nvPr/>
        </p:nvSpPr>
        <p:spPr>
          <a:xfrm>
            <a:off x="8756073" y="8626190"/>
            <a:ext cx="3162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Good Detection</a:t>
            </a:r>
            <a:endParaRPr lang="en-US" sz="1600" dirty="0"/>
          </a:p>
        </p:txBody>
      </p:sp>
      <p:sp>
        <p:nvSpPr>
          <p:cNvPr id="1048634" name="Shape 58"/>
          <p:cNvSpPr/>
          <p:nvPr/>
        </p:nvSpPr>
        <p:spPr>
          <a:xfrm>
            <a:off x="12643485" y="7555230"/>
            <a:ext cx="3105785" cy="1220470"/>
          </a:xfrm>
          <a:custGeom>
            <a:avLst/>
            <a:gdLst/>
            <a:ahLst/>
            <a:cxnLst/>
            <a:rect l="l" t="t" r="r" b="b"/>
            <a:pathLst>
              <a:path w="3400136" h="1228436">
                <a:moveTo>
                  <a:pt x="101604" y="0"/>
                </a:moveTo>
                <a:lnTo>
                  <a:pt x="3298532" y="0"/>
                </a:lnTo>
                <a:cubicBezTo>
                  <a:pt x="3354647" y="0"/>
                  <a:pt x="3400136" y="45490"/>
                  <a:pt x="3400136" y="101604"/>
                </a:cubicBezTo>
                <a:lnTo>
                  <a:pt x="3400136" y="1126832"/>
                </a:lnTo>
                <a:cubicBezTo>
                  <a:pt x="3400136" y="1182947"/>
                  <a:pt x="3354647" y="1228436"/>
                  <a:pt x="3298532" y="1228436"/>
                </a:cubicBezTo>
                <a:lnTo>
                  <a:pt x="101604" y="1228436"/>
                </a:lnTo>
                <a:cubicBezTo>
                  <a:pt x="45490" y="1228436"/>
                  <a:pt x="0" y="1182947"/>
                  <a:pt x="0" y="1126832"/>
                </a:cubicBezTo>
                <a:lnTo>
                  <a:pt x="0" y="101604"/>
                </a:lnTo>
                <a:cubicBezTo>
                  <a:pt x="0" y="45490"/>
                  <a:pt x="45490" y="0"/>
                  <a:pt x="1016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9236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1048635" name="Text 59"/>
          <p:cNvSpPr/>
          <p:nvPr/>
        </p:nvSpPr>
        <p:spPr>
          <a:xfrm>
            <a:off x="12586682" y="7624795"/>
            <a:ext cx="3162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048636" name="Text 60"/>
          <p:cNvSpPr/>
          <p:nvPr/>
        </p:nvSpPr>
        <p:spPr>
          <a:xfrm>
            <a:off x="12340302" y="7965790"/>
            <a:ext cx="3276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0.95</a:t>
            </a:r>
            <a:endParaRPr lang="en-US" sz="1600" dirty="0"/>
          </a:p>
        </p:txBody>
      </p:sp>
      <p:sp>
        <p:nvSpPr>
          <p:cNvPr id="1048637" name="Text 61"/>
          <p:cNvSpPr/>
          <p:nvPr/>
        </p:nvSpPr>
        <p:spPr>
          <a:xfrm>
            <a:off x="12643197" y="8422990"/>
            <a:ext cx="3162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Balanced Metric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https://kimi-web-img.moonshot.cn/img/thumbs.dreamstime.com/1f1b349886dbf2ffbcb5c991cca9f170464f2e61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20333" r="20333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1048641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7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1048642" name="Shape 1"/>
          <p:cNvSpPr/>
          <p:nvPr/>
        </p:nvSpPr>
        <p:spPr>
          <a:xfrm>
            <a:off x="508000" y="558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43" name="Text 2"/>
          <p:cNvSpPr/>
          <p:nvPr/>
        </p:nvSpPr>
        <p:spPr>
          <a:xfrm>
            <a:off x="762000" y="508000"/>
            <a:ext cx="354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07 / Conclusion</a:t>
            </a:r>
            <a:endParaRPr lang="en-US" sz="1600" dirty="0"/>
          </a:p>
        </p:txBody>
      </p:sp>
      <p:sp>
        <p:nvSpPr>
          <p:cNvPr id="1048644" name="Text 3"/>
          <p:cNvSpPr/>
          <p:nvPr/>
        </p:nvSpPr>
        <p:spPr>
          <a:xfrm>
            <a:off x="762000" y="812800"/>
            <a:ext cx="3683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1048645" name="Shape 4"/>
          <p:cNvSpPr/>
          <p:nvPr/>
        </p:nvSpPr>
        <p:spPr>
          <a:xfrm>
            <a:off x="512618" y="1904422"/>
            <a:ext cx="7464136" cy="3235036"/>
          </a:xfrm>
          <a:custGeom>
            <a:avLst/>
            <a:gdLst/>
            <a:ahLst/>
            <a:cxnLst/>
            <a:rect l="l" t="t" r="r" b="b"/>
            <a:pathLst>
              <a:path w="7464136" h="3235036">
                <a:moveTo>
                  <a:pt x="152403" y="0"/>
                </a:moveTo>
                <a:lnTo>
                  <a:pt x="7311734" y="0"/>
                </a:lnTo>
                <a:cubicBezTo>
                  <a:pt x="7395903" y="0"/>
                  <a:pt x="7464136" y="68233"/>
                  <a:pt x="7464136" y="152403"/>
                </a:cubicBezTo>
                <a:lnTo>
                  <a:pt x="7464136" y="3082634"/>
                </a:lnTo>
                <a:cubicBezTo>
                  <a:pt x="7464136" y="3166803"/>
                  <a:pt x="7395903" y="3235036"/>
                  <a:pt x="7311734" y="3235036"/>
                </a:cubicBezTo>
                <a:lnTo>
                  <a:pt x="152403" y="3235036"/>
                </a:lnTo>
                <a:cubicBezTo>
                  <a:pt x="68233" y="3235036"/>
                  <a:pt x="0" y="3166803"/>
                  <a:pt x="0" y="3082634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048646" name="Shape 5"/>
          <p:cNvSpPr/>
          <p:nvPr/>
        </p:nvSpPr>
        <p:spPr>
          <a:xfrm>
            <a:off x="822036" y="221384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</p:spPr>
      </p:sp>
      <p:sp>
        <p:nvSpPr>
          <p:cNvPr id="1048647" name="Shape 6"/>
          <p:cNvSpPr/>
          <p:nvPr/>
        </p:nvSpPr>
        <p:spPr>
          <a:xfrm>
            <a:off x="974436" y="236624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48" name="Text 7"/>
          <p:cNvSpPr/>
          <p:nvPr/>
        </p:nvSpPr>
        <p:spPr>
          <a:xfrm>
            <a:off x="1584036" y="2315443"/>
            <a:ext cx="2082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1048649" name="Text 8"/>
          <p:cNvSpPr/>
          <p:nvPr/>
        </p:nvSpPr>
        <p:spPr>
          <a:xfrm>
            <a:off x="822036" y="3026643"/>
            <a:ext cx="69469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Successfully developed a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neural network model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that classifies images as sharp or blurred using handcrafted spatial and frequency features.</a:t>
            </a:r>
            <a:endParaRPr lang="en-US" sz="1600" dirty="0"/>
          </a:p>
        </p:txBody>
      </p:sp>
      <p:sp>
        <p:nvSpPr>
          <p:cNvPr id="1048650" name="Text 9"/>
          <p:cNvSpPr/>
          <p:nvPr/>
        </p:nvSpPr>
        <p:spPr>
          <a:xfrm>
            <a:off x="822036" y="3839443"/>
            <a:ext cx="69469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Achieved </a:t>
            </a:r>
            <a:r>
              <a:rPr lang="en-US" sz="16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94.8% accuracy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with the Adam optimizer, demonstrating the effectiveness of feature engineering combined with traditional neural networks.</a:t>
            </a:r>
            <a:endParaRPr lang="en-US" sz="1600" dirty="0"/>
          </a:p>
        </p:txBody>
      </p:sp>
      <p:sp>
        <p:nvSpPr>
          <p:cNvPr id="1048651" name="Shape 10"/>
          <p:cNvSpPr/>
          <p:nvPr/>
        </p:nvSpPr>
        <p:spPr>
          <a:xfrm>
            <a:off x="8285018" y="1904422"/>
            <a:ext cx="7464136" cy="3235036"/>
          </a:xfrm>
          <a:custGeom>
            <a:avLst/>
            <a:gdLst/>
            <a:ahLst/>
            <a:cxnLst/>
            <a:rect l="l" t="t" r="r" b="b"/>
            <a:pathLst>
              <a:path w="7464136" h="3235036">
                <a:moveTo>
                  <a:pt x="152403" y="0"/>
                </a:moveTo>
                <a:lnTo>
                  <a:pt x="7311734" y="0"/>
                </a:lnTo>
                <a:cubicBezTo>
                  <a:pt x="7395903" y="0"/>
                  <a:pt x="7464136" y="68233"/>
                  <a:pt x="7464136" y="152403"/>
                </a:cubicBezTo>
                <a:lnTo>
                  <a:pt x="7464136" y="3082634"/>
                </a:lnTo>
                <a:cubicBezTo>
                  <a:pt x="7464136" y="3166803"/>
                  <a:pt x="7395903" y="3235036"/>
                  <a:pt x="7311734" y="3235036"/>
                </a:cubicBezTo>
                <a:lnTo>
                  <a:pt x="152403" y="3235036"/>
                </a:lnTo>
                <a:cubicBezTo>
                  <a:pt x="68233" y="3235036"/>
                  <a:pt x="0" y="3166803"/>
                  <a:pt x="0" y="3082634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236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048652" name="Shape 11"/>
          <p:cNvSpPr/>
          <p:nvPr/>
        </p:nvSpPr>
        <p:spPr>
          <a:xfrm>
            <a:off x="8594437" y="221384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048653" name="Shape 12"/>
          <p:cNvSpPr/>
          <p:nvPr/>
        </p:nvSpPr>
        <p:spPr>
          <a:xfrm>
            <a:off x="8727787" y="2366243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3A5F7A"/>
          </a:solidFill>
        </p:spPr>
      </p:sp>
      <p:sp>
        <p:nvSpPr>
          <p:cNvPr id="1048654" name="Text 13"/>
          <p:cNvSpPr/>
          <p:nvPr/>
        </p:nvSpPr>
        <p:spPr>
          <a:xfrm>
            <a:off x="9356437" y="2315443"/>
            <a:ext cx="2222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048655" name="Shape 14"/>
          <p:cNvSpPr/>
          <p:nvPr/>
        </p:nvSpPr>
        <p:spPr>
          <a:xfrm>
            <a:off x="8670637" y="3077443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98068" y="92631"/>
                </a:move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29607" y="179070"/>
                  <a:pt x="21550" y="179070"/>
                  <a:pt x="16589" y="174109"/>
                </a:cubicBezTo>
                <a:cubicBezTo>
                  <a:pt x="11628" y="169148"/>
                  <a:pt x="11628" y="161092"/>
                  <a:pt x="16589" y="156131"/>
                </a:cubicBezTo>
                <a:lnTo>
                  <a:pt x="71120" y="101600"/>
                </a:lnTo>
                <a:lnTo>
                  <a:pt x="16629" y="47069"/>
                </a:lnTo>
                <a:cubicBezTo>
                  <a:pt x="11668" y="42108"/>
                  <a:pt x="11668" y="34052"/>
                  <a:pt x="16629" y="29091"/>
                </a:cubicBezTo>
                <a:cubicBezTo>
                  <a:pt x="21590" y="24130"/>
                  <a:pt x="29647" y="24130"/>
                  <a:pt x="34608" y="29091"/>
                </a:cubicBezTo>
                <a:lnTo>
                  <a:pt x="98108" y="92591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56" name="Text 15"/>
          <p:cNvSpPr/>
          <p:nvPr/>
        </p:nvSpPr>
        <p:spPr>
          <a:xfrm>
            <a:off x="9000837" y="3026643"/>
            <a:ext cx="6489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Engineering:</a:t>
            </a:r>
            <a:r>
              <a:rPr lang="en-US" sz="14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Handcrafted features effectively capture blur characteristics.</a:t>
            </a:r>
            <a:endParaRPr lang="en-US" sz="1600" dirty="0"/>
          </a:p>
        </p:txBody>
      </p:sp>
      <p:sp>
        <p:nvSpPr>
          <p:cNvPr id="1048657" name="Shape 16"/>
          <p:cNvSpPr/>
          <p:nvPr/>
        </p:nvSpPr>
        <p:spPr>
          <a:xfrm>
            <a:off x="8670637" y="3433043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98068" y="92631"/>
                </a:move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29607" y="179070"/>
                  <a:pt x="21550" y="179070"/>
                  <a:pt x="16589" y="174109"/>
                </a:cubicBezTo>
                <a:cubicBezTo>
                  <a:pt x="11628" y="169148"/>
                  <a:pt x="11628" y="161092"/>
                  <a:pt x="16589" y="156131"/>
                </a:cubicBezTo>
                <a:lnTo>
                  <a:pt x="71120" y="101600"/>
                </a:lnTo>
                <a:lnTo>
                  <a:pt x="16629" y="47069"/>
                </a:lnTo>
                <a:cubicBezTo>
                  <a:pt x="11668" y="42108"/>
                  <a:pt x="11668" y="34052"/>
                  <a:pt x="16629" y="29091"/>
                </a:cubicBezTo>
                <a:cubicBezTo>
                  <a:pt x="21590" y="24130"/>
                  <a:pt x="29647" y="24130"/>
                  <a:pt x="34608" y="29091"/>
                </a:cubicBezTo>
                <a:lnTo>
                  <a:pt x="98108" y="92591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58" name="Text 17"/>
          <p:cNvSpPr/>
          <p:nvPr/>
        </p:nvSpPr>
        <p:spPr>
          <a:xfrm>
            <a:off x="9000837" y="3382243"/>
            <a:ext cx="6286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MLP Suitability:</a:t>
            </a:r>
            <a:r>
              <a:rPr lang="en-US" sz="14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Traditional neural networks work well for this classification task.</a:t>
            </a:r>
            <a:endParaRPr lang="en-US" sz="1600" dirty="0"/>
          </a:p>
        </p:txBody>
      </p:sp>
      <p:sp>
        <p:nvSpPr>
          <p:cNvPr id="1048659" name="Shape 18"/>
          <p:cNvSpPr/>
          <p:nvPr/>
        </p:nvSpPr>
        <p:spPr>
          <a:xfrm>
            <a:off x="8670637" y="3788643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98068" y="92631"/>
                </a:move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29607" y="179070"/>
                  <a:pt x="21550" y="179070"/>
                  <a:pt x="16589" y="174109"/>
                </a:cubicBezTo>
                <a:cubicBezTo>
                  <a:pt x="11628" y="169148"/>
                  <a:pt x="11628" y="161092"/>
                  <a:pt x="16589" y="156131"/>
                </a:cubicBezTo>
                <a:lnTo>
                  <a:pt x="71120" y="101600"/>
                </a:lnTo>
                <a:lnTo>
                  <a:pt x="16629" y="47069"/>
                </a:lnTo>
                <a:cubicBezTo>
                  <a:pt x="11668" y="42108"/>
                  <a:pt x="11668" y="34052"/>
                  <a:pt x="16629" y="29091"/>
                </a:cubicBezTo>
                <a:cubicBezTo>
                  <a:pt x="21590" y="24130"/>
                  <a:pt x="29647" y="24130"/>
                  <a:pt x="34608" y="29091"/>
                </a:cubicBezTo>
                <a:lnTo>
                  <a:pt x="98108" y="92591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60" name="Text 19"/>
          <p:cNvSpPr/>
          <p:nvPr/>
        </p:nvSpPr>
        <p:spPr>
          <a:xfrm>
            <a:off x="9000837" y="3737843"/>
            <a:ext cx="4699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Optimizer Choice:</a:t>
            </a:r>
            <a:r>
              <a:rPr lang="en-US" sz="14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Adam outperforms SGD for this problem.</a:t>
            </a:r>
            <a:endParaRPr lang="en-US" sz="1600" dirty="0"/>
          </a:p>
        </p:txBody>
      </p:sp>
      <p:sp>
        <p:nvSpPr>
          <p:cNvPr id="1048661" name="Shape 20"/>
          <p:cNvSpPr/>
          <p:nvPr/>
        </p:nvSpPr>
        <p:spPr>
          <a:xfrm>
            <a:off x="8670637" y="4144243"/>
            <a:ext cx="101600" cy="203200"/>
          </a:xfrm>
          <a:custGeom>
            <a:avLst/>
            <a:gdLst/>
            <a:ahLst/>
            <a:cxnLst/>
            <a:rect l="l" t="t" r="r" b="b"/>
            <a:pathLst>
              <a:path w="101600" h="203200">
                <a:moveTo>
                  <a:pt x="98068" y="92631"/>
                </a:moveTo>
                <a:cubicBezTo>
                  <a:pt x="103029" y="97592"/>
                  <a:pt x="103029" y="105648"/>
                  <a:pt x="98068" y="110609"/>
                </a:cubicBezTo>
                <a:lnTo>
                  <a:pt x="34568" y="174109"/>
                </a:lnTo>
                <a:cubicBezTo>
                  <a:pt x="29607" y="179070"/>
                  <a:pt x="21550" y="179070"/>
                  <a:pt x="16589" y="174109"/>
                </a:cubicBezTo>
                <a:cubicBezTo>
                  <a:pt x="11628" y="169148"/>
                  <a:pt x="11628" y="161092"/>
                  <a:pt x="16589" y="156131"/>
                </a:cubicBezTo>
                <a:lnTo>
                  <a:pt x="71120" y="101600"/>
                </a:lnTo>
                <a:lnTo>
                  <a:pt x="16629" y="47069"/>
                </a:lnTo>
                <a:cubicBezTo>
                  <a:pt x="11668" y="42108"/>
                  <a:pt x="11668" y="34052"/>
                  <a:pt x="16629" y="29091"/>
                </a:cubicBezTo>
                <a:cubicBezTo>
                  <a:pt x="21590" y="24130"/>
                  <a:pt x="29647" y="24130"/>
                  <a:pt x="34608" y="29091"/>
                </a:cubicBezTo>
                <a:lnTo>
                  <a:pt x="98108" y="92591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62" name="Text 21"/>
          <p:cNvSpPr/>
          <p:nvPr/>
        </p:nvSpPr>
        <p:spPr>
          <a:xfrm>
            <a:off x="9000837" y="4093443"/>
            <a:ext cx="5753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Practical Application:</a:t>
            </a:r>
            <a:r>
              <a:rPr lang="en-US" sz="1400" dirty="0">
                <a:solidFill>
                  <a:srgbClr val="E0E2E5">
                    <a:alpha val="8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Model can be deployed for real-time blur detection.</a:t>
            </a:r>
            <a:endParaRPr lang="en-US" sz="1600" dirty="0"/>
          </a:p>
        </p:txBody>
      </p:sp>
      <p:sp>
        <p:nvSpPr>
          <p:cNvPr id="1048663" name="Shape 22"/>
          <p:cNvSpPr/>
          <p:nvPr/>
        </p:nvSpPr>
        <p:spPr>
          <a:xfrm>
            <a:off x="519545" y="5460428"/>
            <a:ext cx="15212291" cy="1458191"/>
          </a:xfrm>
          <a:custGeom>
            <a:avLst/>
            <a:gdLst/>
            <a:ahLst/>
            <a:cxnLst/>
            <a:rect l="l" t="t" r="r" b="b"/>
            <a:pathLst>
              <a:path w="15212291" h="1458191">
                <a:moveTo>
                  <a:pt x="152396" y="0"/>
                </a:moveTo>
                <a:lnTo>
                  <a:pt x="15059895" y="0"/>
                </a:lnTo>
                <a:cubicBezTo>
                  <a:pt x="15144061" y="0"/>
                  <a:pt x="15212291" y="68230"/>
                  <a:pt x="15212291" y="152396"/>
                </a:cubicBezTo>
                <a:lnTo>
                  <a:pt x="15212291" y="1305795"/>
                </a:lnTo>
                <a:cubicBezTo>
                  <a:pt x="15212291" y="1389961"/>
                  <a:pt x="15144061" y="1458191"/>
                  <a:pt x="15059895" y="1458191"/>
                </a:cubicBezTo>
                <a:lnTo>
                  <a:pt x="152396" y="1458191"/>
                </a:lnTo>
                <a:cubicBezTo>
                  <a:pt x="68230" y="1458191"/>
                  <a:pt x="0" y="1389961"/>
                  <a:pt x="0" y="1305795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w="23091">
            <a:solidFill>
              <a:srgbClr val="C9A86A"/>
            </a:solidFill>
            <a:prstDash val="solid"/>
          </a:ln>
        </p:spPr>
      </p:sp>
      <p:sp>
        <p:nvSpPr>
          <p:cNvPr id="1048664" name="Shape 23"/>
          <p:cNvSpPr/>
          <p:nvPr/>
        </p:nvSpPr>
        <p:spPr>
          <a:xfrm>
            <a:off x="1217685" y="585528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0" y="107156"/>
                </a:moveTo>
                <a:cubicBezTo>
                  <a:pt x="0" y="74265"/>
                  <a:pt x="26640" y="47625"/>
                  <a:pt x="59531" y="47625"/>
                </a:cubicBezTo>
                <a:lnTo>
                  <a:pt x="63500" y="47625"/>
                </a:lnTo>
                <a:cubicBezTo>
                  <a:pt x="72281" y="47625"/>
                  <a:pt x="79375" y="54719"/>
                  <a:pt x="79375" y="63500"/>
                </a:cubicBezTo>
                <a:cubicBezTo>
                  <a:pt x="79375" y="72281"/>
                  <a:pt x="72281" y="79375"/>
                  <a:pt x="63500" y="79375"/>
                </a:cubicBezTo>
                <a:lnTo>
                  <a:pt x="59531" y="79375"/>
                </a:lnTo>
                <a:cubicBezTo>
                  <a:pt x="44202" y="79375"/>
                  <a:pt x="31750" y="91827"/>
                  <a:pt x="31750" y="107156"/>
                </a:cubicBezTo>
                <a:lnTo>
                  <a:pt x="31750" y="111125"/>
                </a:lnTo>
                <a:lnTo>
                  <a:pt x="63500" y="111125"/>
                </a:lnTo>
                <a:cubicBezTo>
                  <a:pt x="81012" y="111125"/>
                  <a:pt x="95250" y="125363"/>
                  <a:pt x="95250" y="142875"/>
                </a:cubicBezTo>
                <a:lnTo>
                  <a:pt x="95250" y="174625"/>
                </a:lnTo>
                <a:cubicBezTo>
                  <a:pt x="95250" y="192137"/>
                  <a:pt x="81012" y="206375"/>
                  <a:pt x="63500" y="206375"/>
                </a:cubicBezTo>
                <a:lnTo>
                  <a:pt x="31750" y="206375"/>
                </a:lnTo>
                <a:cubicBezTo>
                  <a:pt x="14238" y="206375"/>
                  <a:pt x="0" y="192137"/>
                  <a:pt x="0" y="174625"/>
                </a:cubicBezTo>
                <a:lnTo>
                  <a:pt x="0" y="107156"/>
                </a:lnTo>
                <a:close/>
                <a:moveTo>
                  <a:pt x="127000" y="107156"/>
                </a:moveTo>
                <a:cubicBezTo>
                  <a:pt x="127000" y="74265"/>
                  <a:pt x="153640" y="47625"/>
                  <a:pt x="186531" y="47625"/>
                </a:cubicBezTo>
                <a:lnTo>
                  <a:pt x="190500" y="47625"/>
                </a:lnTo>
                <a:cubicBezTo>
                  <a:pt x="199281" y="47625"/>
                  <a:pt x="206375" y="54719"/>
                  <a:pt x="206375" y="63500"/>
                </a:cubicBezTo>
                <a:cubicBezTo>
                  <a:pt x="206375" y="72281"/>
                  <a:pt x="199281" y="79375"/>
                  <a:pt x="190500" y="79375"/>
                </a:cubicBezTo>
                <a:lnTo>
                  <a:pt x="186531" y="79375"/>
                </a:lnTo>
                <a:cubicBezTo>
                  <a:pt x="171202" y="79375"/>
                  <a:pt x="158750" y="91827"/>
                  <a:pt x="158750" y="107156"/>
                </a:cubicBezTo>
                <a:lnTo>
                  <a:pt x="158750" y="111125"/>
                </a:lnTo>
                <a:lnTo>
                  <a:pt x="190500" y="111125"/>
                </a:lnTo>
                <a:cubicBezTo>
                  <a:pt x="208012" y="111125"/>
                  <a:pt x="222250" y="125363"/>
                  <a:pt x="222250" y="142875"/>
                </a:cubicBezTo>
                <a:lnTo>
                  <a:pt x="222250" y="174625"/>
                </a:lnTo>
                <a:cubicBezTo>
                  <a:pt x="222250" y="192137"/>
                  <a:pt x="208012" y="206375"/>
                  <a:pt x="190500" y="206375"/>
                </a:cubicBezTo>
                <a:lnTo>
                  <a:pt x="158750" y="206375"/>
                </a:lnTo>
                <a:cubicBezTo>
                  <a:pt x="141238" y="206375"/>
                  <a:pt x="127000" y="192137"/>
                  <a:pt x="127000" y="174625"/>
                </a:cubicBezTo>
                <a:lnTo>
                  <a:pt x="127000" y="107156"/>
                </a:lnTo>
                <a:close/>
              </a:path>
            </a:pathLst>
          </a:custGeom>
          <a:solidFill>
            <a:srgbClr val="C9A86A"/>
          </a:solidFill>
        </p:spPr>
      </p:sp>
      <p:sp>
        <p:nvSpPr>
          <p:cNvPr id="1048665" name="Text 24"/>
          <p:cNvSpPr/>
          <p:nvPr/>
        </p:nvSpPr>
        <p:spPr>
          <a:xfrm>
            <a:off x="1242291" y="5776776"/>
            <a:ext cx="14236700" cy="825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C9A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engineering combined with neural networks is an effective approach for blur detection</a:t>
            </a:r>
            <a:r>
              <a:rPr lang="en-US" sz="2000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offering a lightweight and interpretable solution compared to deep learning methods.</a:t>
            </a:r>
            <a:endParaRPr lang="en-US" sz="1600" dirty="0"/>
          </a:p>
        </p:txBody>
      </p:sp>
      <p:sp>
        <p:nvSpPr>
          <p:cNvPr id="1048666" name="Shape 25"/>
          <p:cNvSpPr/>
          <p:nvPr/>
        </p:nvSpPr>
        <p:spPr>
          <a:xfrm>
            <a:off x="508000" y="7513791"/>
            <a:ext cx="15240000" cy="9236"/>
          </a:xfrm>
          <a:custGeom>
            <a:avLst/>
            <a:gdLst/>
            <a:ahLst/>
            <a:cxnLst/>
            <a:rect l="l" t="t" r="r" b="b"/>
            <a:pathLst>
              <a:path w="15240000" h="9236">
                <a:moveTo>
                  <a:pt x="0" y="0"/>
                </a:moveTo>
                <a:lnTo>
                  <a:pt x="15240000" y="0"/>
                </a:lnTo>
                <a:lnTo>
                  <a:pt x="15240000" y="9236"/>
                </a:lnTo>
                <a:lnTo>
                  <a:pt x="0" y="9236"/>
                </a:lnTo>
                <a:lnTo>
                  <a:pt x="0" y="0"/>
                </a:lnTo>
                <a:close/>
              </a:path>
            </a:pathLst>
          </a:custGeom>
          <a:solidFill>
            <a:srgbClr val="5E7C88">
              <a:alpha val="30196"/>
            </a:srgbClr>
          </a:solidFill>
        </p:spPr>
      </p:sp>
      <p:sp>
        <p:nvSpPr>
          <p:cNvPr id="1048667" name="Text 26"/>
          <p:cNvSpPr/>
          <p:nvPr/>
        </p:nvSpPr>
        <p:spPr>
          <a:xfrm>
            <a:off x="463550" y="7721600"/>
            <a:ext cx="496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70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048668" name="Text 27"/>
          <p:cNvSpPr/>
          <p:nvPr/>
        </p:nvSpPr>
        <p:spPr>
          <a:xfrm>
            <a:off x="457200" y="80264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Nagham Zidiah (220221787)</a:t>
            </a:r>
            <a:endParaRPr lang="en-US" sz="1600" dirty="0"/>
          </a:p>
        </p:txBody>
      </p:sp>
      <p:sp>
        <p:nvSpPr>
          <p:cNvPr id="1048670" name="Text 29"/>
          <p:cNvSpPr/>
          <p:nvPr/>
        </p:nvSpPr>
        <p:spPr>
          <a:xfrm>
            <a:off x="5645150" y="7721600"/>
            <a:ext cx="496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70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048671" name="Text 30"/>
          <p:cNvSpPr/>
          <p:nvPr/>
        </p:nvSpPr>
        <p:spPr>
          <a:xfrm>
            <a:off x="5638800" y="80264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Dr. Mohamed Alsheakhali</a:t>
            </a:r>
            <a:endParaRPr lang="en-US" sz="1600" dirty="0"/>
          </a:p>
        </p:txBody>
      </p:sp>
      <p:sp>
        <p:nvSpPr>
          <p:cNvPr id="1048672" name="Text 31"/>
          <p:cNvSpPr/>
          <p:nvPr/>
        </p:nvSpPr>
        <p:spPr>
          <a:xfrm>
            <a:off x="10826750" y="7721600"/>
            <a:ext cx="496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70" dirty="0">
                <a:solidFill>
                  <a:srgbClr val="5E7C8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048673" name="Text 32"/>
          <p:cNvSpPr/>
          <p:nvPr/>
        </p:nvSpPr>
        <p:spPr>
          <a:xfrm>
            <a:off x="10820400" y="80264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University College of Applied Sciences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1674</Words>
  <Application>Microsoft Office PowerPoint</Application>
  <PresentationFormat>مخصص</PresentationFormat>
  <Paragraphs>322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8" baseType="lpstr">
      <vt:lpstr>Calibri</vt:lpstr>
      <vt:lpstr>Arial</vt:lpstr>
      <vt:lpstr>Microsoft YaHei</vt:lpstr>
      <vt:lpstr>Liter</vt:lpstr>
      <vt:lpstr>MiSans</vt:lpstr>
      <vt:lpstr>Custom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Blur vs. Sharp Classification Using Traditional Neural Networks</dc:title>
  <dc:creator>Kimi</dc:creator>
  <cp:lastModifiedBy>Nagham Zidiah</cp:lastModifiedBy>
  <cp:revision>8</cp:revision>
  <dcterms:created xsi:type="dcterms:W3CDTF">2026-03-01T17:55:00Z</dcterms:created>
  <dcterms:modified xsi:type="dcterms:W3CDTF">2026-06-17T20:54:55Z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{"Label":"Image Blur vs. Sharp Classification Using Traditional Neural Networks","ContentProducer":"001191110108MACG2KBH8F10000","ProduceID":"","ReservedCode1":"","ContentPropagator":"001191110108MACG2KBH8F20000","PropagateID":"","ReservedCode2":""}</vt:lpwstr>
  </property>
  <property fmtid="{D5CDD505-2E9C-101B-9397-08002B2CF9AE}" pid="3" name="ICV">
    <vt:lpwstr>B8CB5D2D0110400DA7FDAE597BDBE7B3_12</vt:lpwstr>
  </property>
  <property fmtid="{D5CDD505-2E9C-101B-9397-08002B2CF9AE}" pid="4" name="KSOProductBuildVer">
    <vt:lpwstr>1033-12.2.0.23196</vt:lpwstr>
  </property>
</Properties>
</file>